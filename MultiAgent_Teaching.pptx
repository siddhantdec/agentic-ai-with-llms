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097280"/>
            <a:ext cx="4572000" cy="4572000"/>
          </a:xfrm>
          <a:prstGeom prst="ellipse">
            <a:avLst/>
          </a:prstGeom>
          <a:solidFill>
            <a:srgbClr val="00D4AA">
              <a:alpha val="7000"/>
            </a:srgbClr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926080"/>
            <a:ext cx="3200400" cy="3200400"/>
          </a:xfrm>
          <a:prstGeom prst="ellipse">
            <a:avLst/>
          </a:prstGeom>
          <a:solidFill>
            <a:srgbClr val="BC8CFF">
              <a:alpha val="8000"/>
            </a:srgbClr>
          </a:solidFill>
          <a:ln w="12700">
            <a:solidFill>
              <a:srgbClr val="BC8C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2926080" cy="347472"/>
          </a:xfrm>
          <a:prstGeom prst="rect">
            <a:avLst/>
          </a:prstGeom>
          <a:solidFill>
            <a:srgbClr val="00D4AA">
              <a:alpha val="18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AGENTIC AI  ·  INDUSTRY USE CASE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Research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Assistant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real-world workflow: Research → Analyse → Summarise → Email Draft — all automated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4462272"/>
            <a:ext cx="8229600" cy="274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085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Web Search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46085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SQL / CRM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0" y="46085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 Calculator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46085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Email Draft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89520" y="46085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Guardrails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sales professional has to do manually today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3931920" cy="3767328"/>
          </a:xfrm>
          <a:prstGeom prst="rect">
            <a:avLst/>
          </a:prstGeom>
          <a:solidFill>
            <a:srgbClr val="161B22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393192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338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😩  Manual Process (Today)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5361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Open browser → search company name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8912" y="19202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Read 10+ articles → take notes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8912" y="23042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Open CRM (Salesforce) → find account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8912" y="26883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Check deal history → copy figures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8912" y="30723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Open Excel → calculate metrics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8912" y="34564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Open Gmail → type email from scratch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38912" y="38404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Ask manager to review → wait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8912" y="42245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Time taken: 45–90 minutes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15968" y="2651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B949E"/>
                </a:solidFill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4937760" y="1024128"/>
            <a:ext cx="3931920" cy="3767328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1024128"/>
            <a:ext cx="393192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11338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Multi-Agent System (Our Solution)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02352" y="15361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Type company name → press Enter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102352" y="19202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Agent 1 searches web automatically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102352" y="23042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Agent 2 queries CRM database (SQL)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02352" y="26883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Agent 3 calculates deal metrics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102352" y="30723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Agent 4 drafts professional email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102352" y="34564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Guardrails ensure safety &amp; compliance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102352" y="38404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Manager reviews final output only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102352" y="42245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Time taken: 30–60 seconds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of the Company Research Assistant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474720" y="804672"/>
            <a:ext cx="2194560" cy="512064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84124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User: 'Research Tesla'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53128" y="13533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0" y="1627632"/>
            <a:ext cx="3291840" cy="566928"/>
          </a:xfrm>
          <a:prstGeom prst="rect">
            <a:avLst/>
          </a:prstGeom>
          <a:solidFill>
            <a:srgbClr val="161B22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0" y="16824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Guardrails Layer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19385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· Rate Limit · Audit Log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53128" y="2231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0" y="2505456"/>
            <a:ext cx="3657600" cy="640080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ReAct Agent (LangChain)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28346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→ Action → Observation loop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87552" y="3145536"/>
            <a:ext cx="36576" cy="347472"/>
          </a:xfrm>
          <a:prstGeom prst="rect">
            <a:avLst/>
          </a:prstGeom>
          <a:solidFill>
            <a:srgbClr val="00D4AA">
              <a:alpha val="5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4015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AA"/>
                </a:solidFill>
              </a:rPr>
              <a:t>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" y="3621024"/>
            <a:ext cx="2011680" cy="512064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6032" y="3694176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search_company_news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27832" y="3145536"/>
            <a:ext cx="36576" cy="347472"/>
          </a:xfrm>
          <a:prstGeom prst="rect">
            <a:avLst/>
          </a:prstGeom>
          <a:solidFill>
            <a:srgbClr val="F0A500">
              <a:alpha val="5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36392" y="34015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A500"/>
                </a:solidFill>
              </a:rPr>
              <a:t>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23160" y="3621024"/>
            <a:ext cx="2011680" cy="512064"/>
          </a:xfrm>
          <a:prstGeom prst="rect">
            <a:avLst/>
          </a:prstGeom>
          <a:solidFill>
            <a:srgbClr val="161B22"/>
          </a:solidFill>
          <a:ln w="1905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496312" y="3694176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query_internal_crm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68112" y="3145536"/>
            <a:ext cx="36576" cy="347472"/>
          </a:xfrm>
          <a:prstGeom prst="rect">
            <a:avLst/>
          </a:prstGeom>
          <a:solidFill>
            <a:srgbClr val="58A6FF">
              <a:alpha val="5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34015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A6FF"/>
                </a:solidFill>
              </a:rPr>
              <a:t>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3621024"/>
            <a:ext cx="2011680" cy="512064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36592" y="3694176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calculate_metrics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08392" y="3145536"/>
            <a:ext cx="36576" cy="347472"/>
          </a:xfrm>
          <a:prstGeom prst="rect">
            <a:avLst/>
          </a:prstGeom>
          <a:solidFill>
            <a:srgbClr val="BC8CFF">
              <a:alpha val="50000"/>
            </a:srgbClr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16952" y="34015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C8CFF"/>
                </a:solidFill>
              </a:rPr>
              <a:t>▼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03720" y="3621024"/>
            <a:ext cx="2011680" cy="512064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76872" y="3694176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draft_email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53128" y="41696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▼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560320" y="4443984"/>
            <a:ext cx="4023360" cy="512064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560320" y="453542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Final Report + Email Draft  →  Audit Log saved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Tools — Agent's Superpowers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@tool is a Python function the agent can call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06240" cy="192024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20624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338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41832" y="115214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search_company_news()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74904" y="1536192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Searches DuckDuckGo for real-time company news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74904" y="177393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LLMs have a training cutoff — tools give them TODAY's data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6616" y="2121408"/>
            <a:ext cx="3950208" cy="658368"/>
          </a:xfrm>
          <a:prstGeom prst="rect">
            <a:avLst/>
          </a:prstGeom>
          <a:solidFill>
            <a:srgbClr val="070D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212848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DDGS() as ddgs: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 = ddgs.text(company+' news 2025')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formatted_results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4206240" cy="1920240"/>
          </a:xfrm>
          <a:prstGeom prst="rect">
            <a:avLst/>
          </a:prstGeom>
          <a:solidFill>
            <a:srgbClr val="161B22"/>
          </a:solidFill>
          <a:ln w="1905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005840"/>
            <a:ext cx="420624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1338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22392" y="115214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query_internal_crm()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55464" y="1536192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Runs SQL on company's internal database (CRM)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55464" y="177393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Real companies have years of customer data — agent must access 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37176" y="2121408"/>
            <a:ext cx="3950208" cy="658368"/>
          </a:xfrm>
          <a:prstGeom prst="rect">
            <a:avLst/>
          </a:prstGeom>
          <a:solidFill>
            <a:srgbClr val="070D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2212848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cursor.execute('SELECT * FROM companies\nWHERE name LIKE ?', [name])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deal_history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3072384"/>
            <a:ext cx="4206240" cy="192024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072384"/>
            <a:ext cx="420624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🧮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41832" y="32186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calculate_business_metrics()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74904" y="3602736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Evaluates math expressions for metrics &amp; projections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74904" y="384048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Deal totals, growth rates, ROI — agents need to compute numbers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56616" y="4187952"/>
            <a:ext cx="3950208" cy="658368"/>
          </a:xfrm>
          <a:prstGeom prst="rect">
            <a:avLst/>
          </a:prstGeom>
          <a:solidFill>
            <a:srgbClr val="070D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4279392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eval(expression,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{'__builtins__': {}}, {})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f'Result: {result:,.2f}'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3072384"/>
            <a:ext cx="4206240" cy="192024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072384"/>
            <a:ext cx="4206240" cy="5486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✉️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22392" y="32186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draft_professional_email()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855464" y="3602736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Calls LLM internally to write a tailored business email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55464" y="384048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Final deliverable — personalised email based on all research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37176" y="4187952"/>
            <a:ext cx="3950208" cy="658368"/>
          </a:xfrm>
          <a:prstGeom prst="rect">
            <a:avLst/>
          </a:prstGeom>
          <a:solidFill>
            <a:srgbClr val="070D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65192" y="4279392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llm.invoke([HumanMessage(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content=email_prompt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email_draft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Pattern — How the Agent Thinks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+ Act: the engine inside every modern AI agent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347472"/>
          </a:xfrm>
          <a:prstGeom prst="rect">
            <a:avLst/>
          </a:prstGeom>
          <a:solidFill>
            <a:srgbClr val="BC8CFF">
              <a:alpha val="12000"/>
            </a:srgbClr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3268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= Reasoning + Acting  |  The agent THINKS before acting, then OBSERVES the result, then thinks again — like a human analyst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408176"/>
            <a:ext cx="2011680" cy="1645920"/>
          </a:xfrm>
          <a:prstGeom prst="rect">
            <a:avLst/>
          </a:prstGeom>
          <a:solidFill>
            <a:srgbClr val="161B22"/>
          </a:solidFill>
          <a:ln w="1905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08176"/>
            <a:ext cx="201168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813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💭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199339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2340864"/>
            <a:ext cx="1792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to research Tesla. Let me start with web search.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8600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359152" y="1408176"/>
            <a:ext cx="2011680" cy="16459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59152" y="1408176"/>
            <a:ext cx="20116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9152" y="14813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468880" y="199339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68880" y="2340864"/>
            <a:ext cx="1792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search_company_news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70832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443984" y="1408176"/>
            <a:ext cx="2011680" cy="164592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43984" y="1408176"/>
            <a:ext cx="201168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43984" y="14813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📥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53712" y="199339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Input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53712" y="2340864"/>
            <a:ext cx="1792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"Tesla company news 2025"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55664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528816" y="1408176"/>
            <a:ext cx="2011680" cy="16459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28816" y="1408176"/>
            <a:ext cx="201168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28816" y="14813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👁️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638544" y="199339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38544" y="2340864"/>
            <a:ext cx="1792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Q3 revenue $25.2B...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3090672"/>
            <a:ext cx="8092440" cy="36576"/>
          </a:xfrm>
          <a:prstGeom prst="rect">
            <a:avLst/>
          </a:prstGeom>
          <a:solidFill>
            <a:srgbClr val="F0A500">
              <a:alpha val="5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16382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Loop repeats (up to 8 times) until LLM outputs 'Final Answer:'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74320" y="351129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 from the code (verbose=True):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785616"/>
            <a:ext cx="8595360" cy="1188720"/>
          </a:xfrm>
          <a:prstGeom prst="rect">
            <a:avLst/>
          </a:prstGeom>
          <a:solidFill>
            <a:srgbClr val="070D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" y="3877056"/>
            <a:ext cx="8339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 I need to search for Tesla news first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 search_company_news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Input: Tesla company news 2025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Observation: Tesla reports Q3 revenue of $25.18B...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 Now I should check our CRM for Tesla's deal history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 query_internal_crm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Input: Tesla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CRM Database — SQL Tool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 queries real company data using SQL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74320" y="9326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(2 tables)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225296"/>
            <a:ext cx="4160520" cy="1828800"/>
          </a:xfrm>
          <a:prstGeom prst="rect">
            <a:avLst/>
          </a:prstGeom>
          <a:solidFill>
            <a:srgbClr val="070D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316736"/>
            <a:ext cx="39044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companies table: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id, name, industry,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revenue_usd, employees,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status, last_contact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deals table: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id, company_id,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deal_value, stage,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product, close_date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314553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CRM data: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3419856"/>
            <a:ext cx="4160520" cy="292608"/>
          </a:xfrm>
          <a:prstGeom prst="rect">
            <a:avLst/>
          </a:prstGeom>
          <a:solidFill>
            <a:srgbClr val="F0A500">
              <a:alpha val="8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4381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34381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0" y="34381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34381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730752"/>
            <a:ext cx="4160520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74904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371600" y="374904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$81.5B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77440" y="374904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83280" y="374904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4005072"/>
            <a:ext cx="4160520" cy="256032"/>
          </a:xfrm>
          <a:prstGeom prst="rect">
            <a:avLst/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02336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371600" y="402336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$211.9B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377440" y="402336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83280" y="402336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279392"/>
            <a:ext cx="4160520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9768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371600" y="429768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$383B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377440" y="429768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83280" y="429768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553712"/>
            <a:ext cx="4160520" cy="256032"/>
          </a:xfrm>
          <a:prstGeom prst="rect">
            <a:avLst/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57200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371600" y="457200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$33.7B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377440" y="457200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83280" y="457200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63440" y="93268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the agent generates: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663440" y="1225296"/>
            <a:ext cx="4160520" cy="1024128"/>
          </a:xfrm>
          <a:prstGeom prst="rect">
            <a:avLst/>
          </a:prstGeom>
          <a:solidFill>
            <a:srgbClr val="070D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91456" y="1316736"/>
            <a:ext cx="3904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revenue_usd,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employees, status, last_contact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companies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LOWER(name) LIKE 'tesla%'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63440" y="234086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retrieves deal history: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663440" y="2633472"/>
            <a:ext cx="4160520" cy="786384"/>
          </a:xfrm>
          <a:prstGeom prst="rect">
            <a:avLst/>
          </a:prstGeom>
          <a:solidFill>
            <a:srgbClr val="070D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91456" y="2724912"/>
            <a:ext cx="3904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deal_value, stage, product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deals WHERE company_id=1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deal_value DESC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663440" y="351129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sees this output: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663440" y="3803904"/>
            <a:ext cx="4160520" cy="1152144"/>
          </a:xfrm>
          <a:prstGeom prst="rect">
            <a:avLst/>
          </a:prstGeom>
          <a:solidFill>
            <a:srgbClr val="070D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91456" y="3895344"/>
            <a:ext cx="39044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CRM DATA FOR: Tesla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Industry:    Electric Vehicles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Revenue:     $81,500,000,000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     Active Customer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DEALS: $250,000 | Closed Won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$180,000 | Negotiation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— Why Every Production Agent Needs Them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· Rate Limiting · Human-in-the-Loop · Audit Logging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4206240" cy="1975104"/>
          </a:xfrm>
          <a:prstGeom prst="rect">
            <a:avLst/>
          </a:prstGeom>
          <a:solidFill>
            <a:srgbClr val="161B22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87552"/>
            <a:ext cx="420624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" y="11155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11338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Filter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86968" y="1408176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Guardrails.safety_check()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6616" y="1700784"/>
            <a:ext cx="2157984" cy="804672"/>
          </a:xfrm>
          <a:prstGeom prst="rect">
            <a:avLst/>
          </a:prstGeom>
          <a:solidFill>
            <a:srgbClr val="070D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792224"/>
            <a:ext cx="1901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 = ['hack','password','delete all']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term in BLOCKED: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term in user_input: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False, 'BLOCKED'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24328" y="170078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dangerous or inappropriate requests before the LLM ever sees them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24328" y="2231136"/>
            <a:ext cx="1682496" cy="274320"/>
          </a:xfrm>
          <a:prstGeom prst="rect">
            <a:avLst/>
          </a:prstGeom>
          <a:solidFill>
            <a:srgbClr val="FF6B6B">
              <a:alpha val="12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15768" y="224942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'How do I hack Tesla?' 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0" y="987552"/>
            <a:ext cx="4206240" cy="1975104"/>
          </a:xfrm>
          <a:prstGeom prst="rect">
            <a:avLst/>
          </a:prstGeom>
          <a:solidFill>
            <a:srgbClr val="161B22"/>
          </a:solidFill>
          <a:ln w="1905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987552"/>
            <a:ext cx="420624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37176" y="11155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67528" y="11338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367528" y="1408176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Guardrails.rate_limit_check()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37176" y="1700784"/>
            <a:ext cx="2157984" cy="804672"/>
          </a:xfrm>
          <a:prstGeom prst="rect">
            <a:avLst/>
          </a:prstGeom>
          <a:solidFill>
            <a:srgbClr val="070D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1792224"/>
            <a:ext cx="1901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len(calls_in_window) &gt;= MAX: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wait = 60 - (now - oldest_call)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False, f'Wait {wait}s'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104888" y="170078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agent from making too many API calls — controls cost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04888" y="2231136"/>
            <a:ext cx="1682496" cy="274320"/>
          </a:xfrm>
          <a:prstGeom prst="rect">
            <a:avLst/>
          </a:prstGeom>
          <a:solidFill>
            <a:srgbClr val="F0A500">
              <a:alpha val="12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96328" y="224942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Max 10 requests/min 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3072384"/>
            <a:ext cx="4206240" cy="1975104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072384"/>
            <a:ext cx="420624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" y="32004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86968" y="3218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86968" y="349300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Guardrails.human_in_the_loop()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56616" y="3785616"/>
            <a:ext cx="2157984" cy="804672"/>
          </a:xfrm>
          <a:prstGeom prst="rect">
            <a:avLst/>
          </a:prstGeom>
          <a:solidFill>
            <a:srgbClr val="070D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877056"/>
            <a:ext cx="1901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RISKY = ['send_email','delete','post']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is_risky(action):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approval = input('Approve? y/n')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624328" y="3785616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for human approval before irreversible actions (email, delete)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24328" y="4315968"/>
            <a:ext cx="1682496" cy="274320"/>
          </a:xfrm>
          <a:prstGeom prst="rect">
            <a:avLst/>
          </a:prstGeom>
          <a:solidFill>
            <a:srgbClr val="58A6FF">
              <a:alpha val="12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15768" y="433425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'Draft email' 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3072384"/>
            <a:ext cx="4206240" cy="1975104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072384"/>
            <a:ext cx="420624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37176" y="32004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367528" y="3218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Logger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367528" y="349300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Guardrails.audit_log()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37176" y="3785616"/>
            <a:ext cx="2157984" cy="804672"/>
          </a:xfrm>
          <a:prstGeom prst="rect">
            <a:avLst/>
          </a:prstGeom>
          <a:solidFill>
            <a:srgbClr val="070D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65192" y="3877056"/>
            <a:ext cx="1901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 = {'timestamp':now, 'event':e,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'input':inp, 'status':s}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file.write(json.dumps(entry))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104888" y="3785616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every single action with timestamp, input, output, status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104888" y="4315968"/>
            <a:ext cx="1682496" cy="274320"/>
          </a:xfrm>
          <a:prstGeom prst="rect">
            <a:avLst/>
          </a:prstGeom>
          <a:solidFill>
            <a:srgbClr val="3FB950">
              <a:alpha val="12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96328" y="433425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Creates full trail for debugging, compliance, GDPR, security audits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28600" y="4791456"/>
            <a:ext cx="8686800" cy="274320"/>
          </a:xfrm>
          <a:prstGeom prst="rect">
            <a:avLst/>
          </a:prstGeom>
          <a:solidFill>
            <a:srgbClr val="070D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6616" y="4882896"/>
            <a:ext cx="8430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→ SafetyFilter → RateLimiter → HumanInTheLoop → ReAct Agent → AuditLogger → Response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— 7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code is organized in multi_agent_workflow.py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54864" cy="49377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" y="1042416"/>
            <a:ext cx="384048" cy="384048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" y="1042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0424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— Configuration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261872"/>
            <a:ext cx="7818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API key from .env, set MODEL_NAME = "llama-3.1-8b-instant"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554480"/>
            <a:ext cx="859536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554480"/>
            <a:ext cx="54864" cy="4937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" y="1609344"/>
            <a:ext cx="384048" cy="38404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16093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Create Database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1828800"/>
            <a:ext cx="7818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in-memory CRM with companies + deals tables, sample data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121408"/>
            <a:ext cx="859536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121408"/>
            <a:ext cx="54864" cy="4937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" y="2176272"/>
            <a:ext cx="384048" cy="38404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21762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Define 4 Tools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2395728"/>
            <a:ext cx="7818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decorators: web_search, SQL, calculator, email draft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688336"/>
            <a:ext cx="859536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688336"/>
            <a:ext cx="54864" cy="4937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" y="2743200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6" name="Text 24"/>
          <p:cNvSpPr/>
          <p:nvPr/>
        </p:nvSpPr>
        <p:spPr>
          <a:xfrm>
            <a:off x="402336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2743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Build Guardrails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2962656"/>
            <a:ext cx="7818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check → rate limit → human-in-loop → audit log class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255264"/>
            <a:ext cx="859536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255264"/>
            <a:ext cx="54864" cy="493776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2336" y="3310128"/>
            <a:ext cx="384048" cy="384048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32" name="Text 30"/>
          <p:cNvSpPr/>
          <p:nvPr/>
        </p:nvSpPr>
        <p:spPr>
          <a:xfrm>
            <a:off x="402336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" y="33101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Create LLM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3529584"/>
            <a:ext cx="7818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ChatGroq(model="llama-3.1-8b-instant", streaming=False)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3822192"/>
            <a:ext cx="859536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822192"/>
            <a:ext cx="54864" cy="4937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2336" y="3877056"/>
            <a:ext cx="384048" cy="38404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38" name="Text 36"/>
          <p:cNvSpPr/>
          <p:nvPr/>
        </p:nvSpPr>
        <p:spPr>
          <a:xfrm>
            <a:off x="402336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14400" y="38770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Create ReAct Agent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" y="4096512"/>
            <a:ext cx="7818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create_react_agent(llm, tools, prompt) → wrap in AgentExecutor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4389120"/>
            <a:ext cx="859536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4389120"/>
            <a:ext cx="54864" cy="49377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2336" y="4443984"/>
            <a:ext cx="384048" cy="38404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44" name="Text 42"/>
          <p:cNvSpPr/>
          <p:nvPr/>
        </p:nvSpPr>
        <p:spPr>
          <a:xfrm>
            <a:off x="402336" y="4443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14400" y="44439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Orchestrator Class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14400" y="4663440"/>
            <a:ext cx="7818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CompanyResearchWorkflow.run() — ties all 6 steps together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74320" y="4974336"/>
            <a:ext cx="8595360" cy="237744"/>
          </a:xfrm>
          <a:prstGeom prst="rect">
            <a:avLst/>
          </a:prstGeom>
          <a:solidFill>
            <a:srgbClr val="070D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2336" y="5065776"/>
            <a:ext cx="833932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 = CompanyResearchWorkflow()  |  workflow.run('Tesla')  → that's all you call!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 When You Run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workflow.run("Tesla") — real terminal output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329184"/>
          </a:xfrm>
          <a:prstGeom prst="rect">
            <a:avLst/>
          </a:prstGeom>
          <a:solidFill>
            <a:srgbClr val="1A1A2E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 Terminal — python multi_agent_workflow.py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22529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Internal database created (CRM simulation)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424635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Multi-Agent Workflow initialized  |  Model: llama-3.1-8b-instant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62397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2331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█████  Starting Research Workflow for: Tesla  █████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022653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[1/4] Running safety checks...  ✅ Passed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22199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[2/4] Checking rate limits...   ✅ Passed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421331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[3/4] Running research agents...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262067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82001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Entering new AgentExecutor chain...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019349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 I need to find latest news about Tesla first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321868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🔍 [Web Search] Searching for: Tesla company news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3418027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Observation: Tesla Q3 revenue $25.18B, Cybertruck production...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361736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 Now I should check our internal CRM for Tesla data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381670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🗄️  [SQL Tool] Querying CRM for: Tesla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4016045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Observation: Status: Active Customer | Deals: $250K (Closed Won)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421538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🧮 [Calculator] Deal total: 250000 + 180000 → 430,000.00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4414723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✉️  [Email Tool] Drafting email...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461406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Answer: [Complete business briefing + email draft]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481340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Finished chain.  ⚡  Time: 18.3 seconds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Industry Applications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building exactly this type of system today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2816352" cy="1993392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87552"/>
            <a:ext cx="2816352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1155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0392" y="115214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CRM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" y="149961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Einstein  ·  HubSpot AI  ·  Outreach.io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56616" y="175564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Auto-research leads, draft emails, update CRM fields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" y="2249424"/>
            <a:ext cx="2578608" cy="585216"/>
          </a:xfrm>
          <a:prstGeom prst="rect">
            <a:avLst/>
          </a:prstGeom>
          <a:solidFill>
            <a:srgbClr val="00D4AA">
              <a:alpha val="1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30428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Our workflow = scaled-down Salesforce Einstein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987552"/>
            <a:ext cx="2816352" cy="1993392"/>
          </a:xfrm>
          <a:prstGeom prst="rect">
            <a:avLst/>
          </a:prstGeom>
          <a:solidFill>
            <a:srgbClr val="161B22"/>
          </a:solidFill>
          <a:ln w="1905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987552"/>
            <a:ext cx="2816352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1155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22192" y="115214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28416" y="149961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Terminal  ·  Morgan Stanley AI  ·  Goldman Sachs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28416" y="175564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research, earnings analysis, risk reports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28416" y="2249424"/>
            <a:ext cx="2578608" cy="585216"/>
          </a:xfrm>
          <a:prstGeom prst="rect">
            <a:avLst/>
          </a:prstGeom>
          <a:solidFill>
            <a:srgbClr val="F0A500">
              <a:alpha val="1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230428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Our SQL tool = Bloomberg data API connection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72200" y="987552"/>
            <a:ext cx="2816352" cy="1993392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987552"/>
            <a:ext cx="2816352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1928" y="11155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793992" y="115214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0216" y="149961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Lilli  ·  BCG ChatBot  ·  Deloitte AI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00216" y="175564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knowledge + web research for client briefings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0216" y="2249424"/>
            <a:ext cx="2578608" cy="585216"/>
          </a:xfrm>
          <a:prstGeom prst="rect">
            <a:avLst/>
          </a:prstGeom>
          <a:solidFill>
            <a:srgbClr val="58A6FF">
              <a:alpha val="1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3368" y="230428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Our multi-agent = consulting research analyst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3090672"/>
            <a:ext cx="2816352" cy="1993392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090672"/>
            <a:ext cx="2816352" cy="5486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" y="32186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50392" y="325526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6616" y="360273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Recruiter AI  ·  Greenhouse  ·  Lever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56616" y="385876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candidates, draft outreach, update ATS database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6616" y="4352544"/>
            <a:ext cx="2578608" cy="585216"/>
          </a:xfrm>
          <a:prstGeom prst="rect">
            <a:avLst/>
          </a:prstGeom>
          <a:solidFill>
            <a:srgbClr val="BC8CFF">
              <a:alpha val="10000"/>
            </a:srgbClr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" y="440740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Same architecture — different domain &amp; tools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0" y="3090672"/>
            <a:ext cx="2816352" cy="1993392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0" y="3090672"/>
            <a:ext cx="2816352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10128" y="32186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🎧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3822192" y="325526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328416" y="360273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Intercom Fin  ·  Zendesk AI  ·  ServiceNow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328416" y="385876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knowledge base (SQL), draft replies, escalate to human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328416" y="4352544"/>
            <a:ext cx="2578608" cy="585216"/>
          </a:xfrm>
          <a:prstGeom prst="rect">
            <a:avLst/>
          </a:prstGeom>
          <a:solidFill>
            <a:srgbClr val="3FB950">
              <a:alpha val="1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1568" y="440740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HITL guardrail = escalation to human agent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72200" y="3090672"/>
            <a:ext cx="2816352" cy="1993392"/>
          </a:xfrm>
          <a:prstGeom prst="rect">
            <a:avLst/>
          </a:prstGeom>
          <a:solidFill>
            <a:srgbClr val="161B22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72200" y="3090672"/>
            <a:ext cx="2816352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81928" y="32186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6793992" y="325526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300216" y="360273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Harvey AI  ·  Clio  ·  LexisNexis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300216" y="385876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case law, draft documents, check compliance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0216" y="4352544"/>
            <a:ext cx="2578608" cy="585216"/>
          </a:xfrm>
          <a:prstGeom prst="rect">
            <a:avLst/>
          </a:prstGeom>
          <a:solidFill>
            <a:srgbClr val="FF6B6B">
              <a:alpha val="1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73368" y="440740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Audit log = legal compliance trail requirement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Exercises for Students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the code — build on top of what you have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54864" cy="58521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" y="1078992"/>
            <a:ext cx="402336" cy="40233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" y="1078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32688" y="1115568"/>
            <a:ext cx="914400" cy="201168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1155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938528" y="107899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company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50976" y="133502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Edit main(): workflow.run("Apple")  or  workflow.run("Netflix")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45920"/>
            <a:ext cx="8595360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645920"/>
            <a:ext cx="54864" cy="58521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" y="1737360"/>
            <a:ext cx="402336" cy="40233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32688" y="1773936"/>
            <a:ext cx="914400" cy="201168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1773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938528" y="173736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safety rule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50976" y="19933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Add "competitor" to BLOCKED_TERMS list in Guardrails class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304288"/>
            <a:ext cx="8595360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304288"/>
            <a:ext cx="54864" cy="58521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2336" y="2395728"/>
            <a:ext cx="402336" cy="402336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32688" y="2432304"/>
            <a:ext cx="914400" cy="201168"/>
          </a:xfrm>
          <a:prstGeom prst="rect">
            <a:avLst/>
          </a:prstGeom>
          <a:solidFill>
            <a:srgbClr val="F0A500">
              <a:alpha val="2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24323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938528" y="239572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get_stock_price() tool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50976" y="26517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Add @tool def get_stock_price(ticker: str) using requests to Yahoo Finance API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962656"/>
            <a:ext cx="8595360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962656"/>
            <a:ext cx="54864" cy="58521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2336" y="3054096"/>
            <a:ext cx="402336" cy="402336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32" name="Text 30"/>
          <p:cNvSpPr/>
          <p:nvPr/>
        </p:nvSpPr>
        <p:spPr>
          <a:xfrm>
            <a:off x="402336" y="3054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32688" y="3090672"/>
            <a:ext cx="914400" cy="201168"/>
          </a:xfrm>
          <a:prstGeom prst="rect">
            <a:avLst/>
          </a:prstGeom>
          <a:solidFill>
            <a:srgbClr val="F0A500">
              <a:alpha val="2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3090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938528" y="305409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contacts table to database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50976" y="33101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CREATE TABLE contacts(id, name, email, role, company_id) → add 3 rows for Tesla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621024"/>
            <a:ext cx="8595360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3621024"/>
            <a:ext cx="54864" cy="58521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2336" y="3712464"/>
            <a:ext cx="402336" cy="40233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40" name="Text 38"/>
          <p:cNvSpPr/>
          <p:nvPr/>
        </p:nvSpPr>
        <p:spPr>
          <a:xfrm>
            <a:off x="402336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932688" y="3749040"/>
            <a:ext cx="914400" cy="201168"/>
          </a:xfrm>
          <a:prstGeom prst="rect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2688" y="3749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938528" y="371246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real human approval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50976" y="396849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Change auto_approve=True to auto_approve=False in workflow.run()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279392"/>
            <a:ext cx="8595360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74320" y="4279392"/>
            <a:ext cx="54864" cy="585216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02336" y="4370832"/>
            <a:ext cx="402336" cy="402336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48" name="Text 46"/>
          <p:cNvSpPr/>
          <p:nvPr/>
        </p:nvSpPr>
        <p:spPr>
          <a:xfrm>
            <a:off x="402336" y="4370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932688" y="4407408"/>
            <a:ext cx="914400" cy="201168"/>
          </a:xfrm>
          <a:prstGeom prst="rect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32688" y="44074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938528" y="437083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agent for competitor research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950976" y="462686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Create CompetitorAgent that researches 3 competitors and compares them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00D4AA">
              <a:alpha val="7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3657600" cy="3657600"/>
          </a:xfrm>
          <a:prstGeom prst="ellipse">
            <a:avLst/>
          </a:prstGeom>
          <a:solidFill>
            <a:srgbClr val="BC8CFF">
              <a:alpha val="9000"/>
            </a:srgbClr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657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7315200" cy="640080"/>
          </a:xfrm>
          <a:prstGeom prst="rect">
            <a:avLst/>
          </a:prstGeom>
          <a:solidFill>
            <a:srgbClr val="161B22">
              <a:alpha val="85000"/>
            </a:srgbClr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097280"/>
            <a:ext cx="54864" cy="6400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1161288"/>
            <a:ext cx="493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9344" y="1216152"/>
            <a:ext cx="6510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decorator = the bridge between Python functions and AI agents. Any function can become a tool.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1865376"/>
            <a:ext cx="7315200" cy="640080"/>
          </a:xfrm>
          <a:prstGeom prst="rect">
            <a:avLst/>
          </a:prstGeom>
          <a:solidFill>
            <a:srgbClr val="161B22">
              <a:alpha val="85000"/>
            </a:srgbClr>
          </a:solidFill>
          <a:ln w="12700">
            <a:solidFill>
              <a:srgbClr val="BC8C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865376"/>
            <a:ext cx="54864" cy="64008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1929384"/>
            <a:ext cx="493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9344" y="1984248"/>
            <a:ext cx="6510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loop: Thought → Action → Observation repeats until 'Final Answer'. This IS how GPT, Claude, and Gemini agents work.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2633472"/>
            <a:ext cx="7315200" cy="640080"/>
          </a:xfrm>
          <a:prstGeom prst="rect">
            <a:avLst/>
          </a:prstGeom>
          <a:solidFill>
            <a:srgbClr val="161B22">
              <a:alpha val="85000"/>
            </a:srgbClr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2633472"/>
            <a:ext cx="54864" cy="6400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2697480"/>
            <a:ext cx="493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09344" y="2752344"/>
            <a:ext cx="6510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tool = the most common enterprise integration. Every company has a database — agents must talk to it.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3401568"/>
            <a:ext cx="7315200" cy="640080"/>
          </a:xfrm>
          <a:prstGeom prst="rect">
            <a:avLst/>
          </a:prstGeom>
          <a:solidFill>
            <a:srgbClr val="161B22">
              <a:alpha val="85000"/>
            </a:srgbClr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3401568"/>
            <a:ext cx="54864" cy="6400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465576"/>
            <a:ext cx="493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09344" y="3520440"/>
            <a:ext cx="6510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guardrails: Safety + Rate Limit + Human-in-Loop + Audit. Skip any one and you have a dangerous production system.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4169664"/>
            <a:ext cx="7315200" cy="640080"/>
          </a:xfrm>
          <a:prstGeom prst="rect">
            <a:avLst/>
          </a:prstGeom>
          <a:solidFill>
            <a:srgbClr val="161B22">
              <a:alpha val="85000"/>
            </a:srgbClr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" y="4169664"/>
            <a:ext cx="54864" cy="6400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4233672"/>
            <a:ext cx="493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🏭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09344" y="4288536"/>
            <a:ext cx="6510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pattern (research → analyse → draft → approve) is used by Salesforce, Bloomberg, McKinsey, and thousands of others.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9103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multi_agent_workflow.py  ·  Groq + LangChain  ·  SQLite  ·  DuckDuckGo  ·  console.groq.com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Workflow: Company Research Assistant</dc:title>
  <dc:subject>PptxGenJS Presentation</dc:subject>
  <dc:creator>PptxGenJS</dc:creator>
  <cp:lastModifiedBy>PptxGenJS</cp:lastModifiedBy>
  <cp:revision>1</cp:revision>
  <dcterms:created xsi:type="dcterms:W3CDTF">2026-03-14T16:21:36Z</dcterms:created>
  <dcterms:modified xsi:type="dcterms:W3CDTF">2026-03-14T16:21:36Z</dcterms:modified>
</cp:coreProperties>
</file>