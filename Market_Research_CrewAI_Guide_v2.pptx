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583680" y="-731520"/>
            <a:ext cx="3200400" cy="3200400"/>
          </a:xfrm>
          <a:prstGeom prst="ellipse">
            <a:avLst/>
          </a:prstGeom>
          <a:solidFill>
            <a:srgbClr val="4F46E5">
              <a:alpha val="30000"/>
            </a:srgbClr>
          </a:solidFill>
          <a:ln w="12700">
            <a:solidFill>
              <a:srgbClr val="4F46E5">
                <a:alpha val="30000"/>
              </a:srgbClr>
            </a:solidFill>
            <a:prstDash val="solid"/>
          </a:ln>
        </p:spPr>
      </p:sp>
      <p:sp>
        <p:nvSpPr>
          <p:cNvPr id="3" name="Shape 1"/>
          <p:cNvSpPr/>
          <p:nvPr/>
        </p:nvSpPr>
        <p:spPr>
          <a:xfrm>
            <a:off x="7498080" y="2926080"/>
            <a:ext cx="2286000" cy="2286000"/>
          </a:xfrm>
          <a:prstGeom prst="ellipse">
            <a:avLst/>
          </a:prstGeom>
          <a:solidFill>
            <a:srgbClr val="7C3AED">
              <a:alpha val="25000"/>
            </a:srgbClr>
          </a:solidFill>
          <a:ln w="12700">
            <a:solidFill>
              <a:srgbClr val="7C3AED">
                <a:alpha val="25000"/>
              </a:srgbClr>
            </a:solidFill>
            <a:prstDash val="solid"/>
          </a:ln>
        </p:spPr>
      </p:sp>
      <p:sp>
        <p:nvSpPr>
          <p:cNvPr id="4" name="Shape 2"/>
          <p:cNvSpPr/>
          <p:nvPr/>
        </p:nvSpPr>
        <p:spPr>
          <a:xfrm>
            <a:off x="0" y="4389120"/>
            <a:ext cx="9144000" cy="754380"/>
          </a:xfrm>
          <a:prstGeom prst="rect">
            <a:avLst/>
          </a:prstGeom>
          <a:solidFill>
            <a:srgbClr val="4F46E5"/>
          </a:solidFill>
          <a:ln w="12700">
            <a:solidFill>
              <a:srgbClr val="4F46E5"/>
            </a:solidFill>
            <a:prstDash val="solid"/>
          </a:ln>
        </p:spPr>
      </p:sp>
      <p:sp>
        <p:nvSpPr>
          <p:cNvPr id="5" name="Text 3"/>
          <p:cNvSpPr/>
          <p:nvPr/>
        </p:nvSpPr>
        <p:spPr>
          <a:xfrm>
            <a:off x="457200" y="411480"/>
            <a:ext cx="731520" cy="7315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6" name="Text 4"/>
          <p:cNvSpPr/>
          <p:nvPr/>
        </p:nvSpPr>
        <p:spPr>
          <a:xfrm>
            <a:off x="1188720" y="457200"/>
            <a:ext cx="731520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Building a Market Research</a:t>
            </a:r>
            <a:endParaRPr lang="en-US" sz="3000" dirty="0"/>
          </a:p>
        </p:txBody>
      </p:sp>
      <p:sp>
        <p:nvSpPr>
          <p:cNvPr id="7" name="Text 5"/>
          <p:cNvSpPr/>
          <p:nvPr/>
        </p:nvSpPr>
        <p:spPr>
          <a:xfrm>
            <a:off x="1188720" y="1051560"/>
            <a:ext cx="7315200" cy="640080"/>
          </a:xfrm>
          <a:prstGeom prst="rect">
            <a:avLst/>
          </a:prstGeom>
          <a:noFill/>
          <a:ln/>
        </p:spPr>
        <p:txBody>
          <a:bodyPr wrap="square" lIns="0" tIns="0" rIns="0" bIns="0" rtlCol="0" anchor="ctr"/>
          <a:lstStyle/>
          <a:p>
            <a:pPr indent="0" marL="0">
              <a:buNone/>
            </a:pPr>
            <a:r>
              <a:rPr lang="en-US" sz="3800" b="1" dirty="0">
                <a:solidFill>
                  <a:srgbClr val="A5B4FC"/>
                </a:solidFill>
                <a:latin typeface="Calibri" pitchFamily="34" charset="0"/>
                <a:ea typeface="Calibri" pitchFamily="34" charset="-122"/>
                <a:cs typeface="Calibri" pitchFamily="34" charset="-120"/>
              </a:rPr>
              <a:t>AI Crew Agent</a:t>
            </a:r>
            <a:endParaRPr lang="en-US" sz="3800" dirty="0"/>
          </a:p>
        </p:txBody>
      </p:sp>
      <p:sp>
        <p:nvSpPr>
          <p:cNvPr id="8" name="Text 6"/>
          <p:cNvSpPr/>
          <p:nvPr/>
        </p:nvSpPr>
        <p:spPr>
          <a:xfrm>
            <a:off x="1188720" y="1828800"/>
            <a:ext cx="64008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A Step-by-Step Tutorial Using CrewAI + Python</a:t>
            </a:r>
            <a:endParaRPr lang="en-US" sz="1400" dirty="0"/>
          </a:p>
        </p:txBody>
      </p:sp>
      <p:sp>
        <p:nvSpPr>
          <p:cNvPr id="9" name="Shape 7"/>
          <p:cNvSpPr/>
          <p:nvPr/>
        </p:nvSpPr>
        <p:spPr>
          <a:xfrm>
            <a:off x="457200" y="2926080"/>
            <a:ext cx="2011680" cy="347472"/>
          </a:xfrm>
          <a:prstGeom prst="roundRect">
            <a:avLst>
              <a:gd name="adj" fmla="val 26316"/>
            </a:avLst>
          </a:prstGeom>
          <a:solidFill>
            <a:srgbClr val="1E293B"/>
          </a:solidFill>
          <a:ln w="12700">
            <a:solidFill>
              <a:srgbClr val="334155"/>
            </a:solidFill>
            <a:prstDash val="solid"/>
          </a:ln>
        </p:spPr>
      </p:sp>
      <p:sp>
        <p:nvSpPr>
          <p:cNvPr id="10" name="Text 8"/>
          <p:cNvSpPr/>
          <p:nvPr/>
        </p:nvSpPr>
        <p:spPr>
          <a:xfrm>
            <a:off x="530352" y="2953512"/>
            <a:ext cx="1920240" cy="292608"/>
          </a:xfrm>
          <a:prstGeom prst="rect">
            <a:avLst/>
          </a:prstGeom>
          <a:noFill/>
          <a:ln/>
        </p:spPr>
        <p:txBody>
          <a:bodyPr wrap="square" lIns="0" tIns="0" rIns="0" bIns="0" rtlCol="0" anchor="ctr"/>
          <a:lstStyle/>
          <a:p>
            <a:pPr indent="0" marL="0">
              <a:buNone/>
            </a:pPr>
            <a:r>
              <a:rPr lang="en-US" sz="950" dirty="0">
                <a:solidFill>
                  <a:srgbClr val="A5B4FC"/>
                </a:solidFill>
                <a:latin typeface="Calibri" pitchFamily="34" charset="0"/>
                <a:ea typeface="Calibri" pitchFamily="34" charset="-122"/>
                <a:cs typeface="Calibri" pitchFamily="34" charset="-120"/>
              </a:rPr>
              <a:t>🛠 CrewAI Framework</a:t>
            </a:r>
            <a:endParaRPr lang="en-US" sz="950" dirty="0"/>
          </a:p>
        </p:txBody>
      </p:sp>
      <p:sp>
        <p:nvSpPr>
          <p:cNvPr id="11" name="Shape 9"/>
          <p:cNvSpPr/>
          <p:nvPr/>
        </p:nvSpPr>
        <p:spPr>
          <a:xfrm>
            <a:off x="2606040" y="2926080"/>
            <a:ext cx="2011680" cy="347472"/>
          </a:xfrm>
          <a:prstGeom prst="roundRect">
            <a:avLst>
              <a:gd name="adj" fmla="val 26316"/>
            </a:avLst>
          </a:prstGeom>
          <a:solidFill>
            <a:srgbClr val="1E293B"/>
          </a:solidFill>
          <a:ln w="12700">
            <a:solidFill>
              <a:srgbClr val="334155"/>
            </a:solidFill>
            <a:prstDash val="solid"/>
          </a:ln>
        </p:spPr>
      </p:sp>
      <p:sp>
        <p:nvSpPr>
          <p:cNvPr id="12" name="Text 10"/>
          <p:cNvSpPr/>
          <p:nvPr/>
        </p:nvSpPr>
        <p:spPr>
          <a:xfrm>
            <a:off x="2679192" y="2953512"/>
            <a:ext cx="1920240" cy="292608"/>
          </a:xfrm>
          <a:prstGeom prst="rect">
            <a:avLst/>
          </a:prstGeom>
          <a:noFill/>
          <a:ln/>
        </p:spPr>
        <p:txBody>
          <a:bodyPr wrap="square" lIns="0" tIns="0" rIns="0" bIns="0" rtlCol="0" anchor="ctr"/>
          <a:lstStyle/>
          <a:p>
            <a:pPr indent="0" marL="0">
              <a:buNone/>
            </a:pPr>
            <a:r>
              <a:rPr lang="en-US" sz="950" dirty="0">
                <a:solidFill>
                  <a:srgbClr val="A5B4FC"/>
                </a:solidFill>
                <a:latin typeface="Calibri" pitchFamily="34" charset="0"/>
                <a:ea typeface="Calibri" pitchFamily="34" charset="-122"/>
                <a:cs typeface="Calibri" pitchFamily="34" charset="-120"/>
              </a:rPr>
              <a:t>🔍 Web Search Tools</a:t>
            </a:r>
            <a:endParaRPr lang="en-US" sz="950" dirty="0"/>
          </a:p>
        </p:txBody>
      </p:sp>
      <p:sp>
        <p:nvSpPr>
          <p:cNvPr id="13" name="Shape 11"/>
          <p:cNvSpPr/>
          <p:nvPr/>
        </p:nvSpPr>
        <p:spPr>
          <a:xfrm>
            <a:off x="4754880" y="2926080"/>
            <a:ext cx="2011680" cy="347472"/>
          </a:xfrm>
          <a:prstGeom prst="roundRect">
            <a:avLst>
              <a:gd name="adj" fmla="val 26316"/>
            </a:avLst>
          </a:prstGeom>
          <a:solidFill>
            <a:srgbClr val="1E293B"/>
          </a:solidFill>
          <a:ln w="12700">
            <a:solidFill>
              <a:srgbClr val="334155"/>
            </a:solidFill>
            <a:prstDash val="solid"/>
          </a:ln>
        </p:spPr>
      </p:sp>
      <p:sp>
        <p:nvSpPr>
          <p:cNvPr id="14" name="Text 12"/>
          <p:cNvSpPr/>
          <p:nvPr/>
        </p:nvSpPr>
        <p:spPr>
          <a:xfrm>
            <a:off x="4828032" y="2953512"/>
            <a:ext cx="1920240" cy="292608"/>
          </a:xfrm>
          <a:prstGeom prst="rect">
            <a:avLst/>
          </a:prstGeom>
          <a:noFill/>
          <a:ln/>
        </p:spPr>
        <p:txBody>
          <a:bodyPr wrap="square" lIns="0" tIns="0" rIns="0" bIns="0" rtlCol="0" anchor="ctr"/>
          <a:lstStyle/>
          <a:p>
            <a:pPr indent="0" marL="0">
              <a:buNone/>
            </a:pPr>
            <a:r>
              <a:rPr lang="en-US" sz="950" dirty="0">
                <a:solidFill>
                  <a:srgbClr val="A5B4FC"/>
                </a:solidFill>
                <a:latin typeface="Calibri" pitchFamily="34" charset="0"/>
                <a:ea typeface="Calibri" pitchFamily="34" charset="-122"/>
                <a:cs typeface="Calibri" pitchFamily="34" charset="-120"/>
              </a:rPr>
              <a:t>🤝 5 AI Agents</a:t>
            </a:r>
            <a:endParaRPr lang="en-US" sz="950" dirty="0"/>
          </a:p>
        </p:txBody>
      </p:sp>
      <p:sp>
        <p:nvSpPr>
          <p:cNvPr id="15" name="Shape 13"/>
          <p:cNvSpPr/>
          <p:nvPr/>
        </p:nvSpPr>
        <p:spPr>
          <a:xfrm>
            <a:off x="6903720" y="2926080"/>
            <a:ext cx="2011680" cy="347472"/>
          </a:xfrm>
          <a:prstGeom prst="roundRect">
            <a:avLst>
              <a:gd name="adj" fmla="val 26316"/>
            </a:avLst>
          </a:prstGeom>
          <a:solidFill>
            <a:srgbClr val="1E293B"/>
          </a:solidFill>
          <a:ln w="12700">
            <a:solidFill>
              <a:srgbClr val="334155"/>
            </a:solidFill>
            <a:prstDash val="solid"/>
          </a:ln>
        </p:spPr>
      </p:sp>
      <p:sp>
        <p:nvSpPr>
          <p:cNvPr id="16" name="Text 14"/>
          <p:cNvSpPr/>
          <p:nvPr/>
        </p:nvSpPr>
        <p:spPr>
          <a:xfrm>
            <a:off x="6976872" y="2953512"/>
            <a:ext cx="1920240" cy="292608"/>
          </a:xfrm>
          <a:prstGeom prst="rect">
            <a:avLst/>
          </a:prstGeom>
          <a:noFill/>
          <a:ln/>
        </p:spPr>
        <p:txBody>
          <a:bodyPr wrap="square" lIns="0" tIns="0" rIns="0" bIns="0" rtlCol="0" anchor="ctr"/>
          <a:lstStyle/>
          <a:p>
            <a:pPr indent="0" marL="0">
              <a:buNone/>
            </a:pPr>
            <a:r>
              <a:rPr lang="en-US" sz="950" dirty="0">
                <a:solidFill>
                  <a:srgbClr val="A5B4FC"/>
                </a:solidFill>
                <a:latin typeface="Calibri" pitchFamily="34" charset="0"/>
                <a:ea typeface="Calibri" pitchFamily="34" charset="-122"/>
                <a:cs typeface="Calibri" pitchFamily="34" charset="-120"/>
              </a:rPr>
              <a:t>📊 Full Report Output</a:t>
            </a:r>
            <a:endParaRPr lang="en-US" sz="950" dirty="0"/>
          </a:p>
        </p:txBody>
      </p:sp>
      <p:sp>
        <p:nvSpPr>
          <p:cNvPr id="17" name="Text 15"/>
          <p:cNvSpPr/>
          <p:nvPr/>
        </p:nvSpPr>
        <p:spPr>
          <a:xfrm>
            <a:off x="457200" y="4462272"/>
            <a:ext cx="8229600" cy="3200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From zero to a fully functional multi-agent AI system in one session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Project Overview — What the System Does</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As explained by the instructor: Input = Startup Idea → Market Research Crew → Detailed Report</a:t>
            </a:r>
            <a:endParaRPr lang="en-US" sz="1100" dirty="0"/>
          </a:p>
        </p:txBody>
      </p:sp>
      <p:sp>
        <p:nvSpPr>
          <p:cNvPr id="6" name="Shape 4"/>
          <p:cNvSpPr/>
          <p:nvPr/>
        </p:nvSpPr>
        <p:spPr>
          <a:xfrm>
            <a:off x="365760" y="1143000"/>
            <a:ext cx="8412480" cy="914400"/>
          </a:xfrm>
          <a:prstGeom prst="rect">
            <a:avLst/>
          </a:prstGeom>
          <a:solidFill>
            <a:srgbClr val="F1F5F9"/>
          </a:solidFill>
          <a:ln w="12700">
            <a:solidFill>
              <a:srgbClr val="CBD5E1"/>
            </a:solidFill>
            <a:prstDash val="solid"/>
          </a:ln>
        </p:spPr>
      </p:sp>
      <p:sp>
        <p:nvSpPr>
          <p:cNvPr id="7" name="Shape 5"/>
          <p:cNvSpPr/>
          <p:nvPr/>
        </p:nvSpPr>
        <p:spPr>
          <a:xfrm>
            <a:off x="502920" y="1261872"/>
            <a:ext cx="1645920" cy="658368"/>
          </a:xfrm>
          <a:prstGeom prst="rect">
            <a:avLst/>
          </a:prstGeom>
          <a:solidFill>
            <a:srgbClr val="E0F2FE"/>
          </a:solidFill>
          <a:ln w="12700">
            <a:solidFill>
              <a:srgbClr val="0EA5E9"/>
            </a:solidFill>
            <a:prstDash val="solid"/>
          </a:ln>
        </p:spPr>
      </p:sp>
      <p:sp>
        <p:nvSpPr>
          <p:cNvPr id="8" name="Text 6"/>
          <p:cNvSpPr/>
          <p:nvPr/>
        </p:nvSpPr>
        <p:spPr>
          <a:xfrm>
            <a:off x="502920" y="1261872"/>
            <a:ext cx="1645920" cy="256032"/>
          </a:xfrm>
          <a:prstGeom prst="rect">
            <a:avLst/>
          </a:prstGeom>
          <a:noFill/>
          <a:ln/>
        </p:spPr>
        <p:txBody>
          <a:bodyPr wrap="square" lIns="0" tIns="0" rIns="0" bIns="0" rtlCol="0" anchor="ctr"/>
          <a:lstStyle/>
          <a:p>
            <a:pPr algn="ctr" indent="0" marL="0">
              <a:buNone/>
            </a:pPr>
            <a:r>
              <a:rPr lang="en-US" sz="800" b="1" dirty="0">
                <a:solidFill>
                  <a:srgbClr val="0EA5E9"/>
                </a:solidFill>
                <a:latin typeface="Calibri" pitchFamily="34" charset="0"/>
                <a:ea typeface="Calibri" pitchFamily="34" charset="-122"/>
                <a:cs typeface="Calibri" pitchFamily="34" charset="-120"/>
              </a:rPr>
              <a:t>INPUT</a:t>
            </a:r>
            <a:endParaRPr lang="en-US" sz="800" dirty="0"/>
          </a:p>
        </p:txBody>
      </p:sp>
      <p:sp>
        <p:nvSpPr>
          <p:cNvPr id="9" name="Text 7"/>
          <p:cNvSpPr/>
          <p:nvPr/>
        </p:nvSpPr>
        <p:spPr>
          <a:xfrm>
            <a:off x="502920" y="1517904"/>
            <a:ext cx="1645920" cy="256032"/>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Startup / Product Idea</a:t>
            </a:r>
            <a:endParaRPr lang="en-US" sz="900" dirty="0"/>
          </a:p>
        </p:txBody>
      </p:sp>
      <p:sp>
        <p:nvSpPr>
          <p:cNvPr id="10" name="Text 8"/>
          <p:cNvSpPr/>
          <p:nvPr/>
        </p:nvSpPr>
        <p:spPr>
          <a:xfrm>
            <a:off x="2212848" y="1463040"/>
            <a:ext cx="365760" cy="274320"/>
          </a:xfrm>
          <a:prstGeom prst="rect">
            <a:avLst/>
          </a:prstGeom>
          <a:noFill/>
          <a:ln/>
        </p:spPr>
        <p:txBody>
          <a:bodyPr wrap="square" lIns="0" tIns="0" rIns="0" bIns="0" rtlCol="0" anchor="ctr"/>
          <a:lstStyle/>
          <a:p>
            <a:pPr algn="ctr" indent="0" marL="0">
              <a:buNone/>
            </a:pPr>
            <a:r>
              <a:rPr lang="en-US" sz="1600" b="1" dirty="0">
                <a:solidFill>
                  <a:srgbClr val="4F46E5"/>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633472" y="1261872"/>
            <a:ext cx="2286000" cy="658368"/>
          </a:xfrm>
          <a:prstGeom prst="rect">
            <a:avLst/>
          </a:prstGeom>
          <a:solidFill>
            <a:srgbClr val="EDE9FE"/>
          </a:solidFill>
          <a:ln w="12700">
            <a:solidFill>
              <a:srgbClr val="4F46E5"/>
            </a:solidFill>
            <a:prstDash val="solid"/>
          </a:ln>
        </p:spPr>
      </p:sp>
      <p:sp>
        <p:nvSpPr>
          <p:cNvPr id="12" name="Text 10"/>
          <p:cNvSpPr/>
          <p:nvPr/>
        </p:nvSpPr>
        <p:spPr>
          <a:xfrm>
            <a:off x="2633472" y="1261872"/>
            <a:ext cx="2286000" cy="256032"/>
          </a:xfrm>
          <a:prstGeom prst="rect">
            <a:avLst/>
          </a:prstGeom>
          <a:noFill/>
          <a:ln/>
        </p:spPr>
        <p:txBody>
          <a:bodyPr wrap="square" lIns="0" tIns="0" rIns="0" bIns="0" rtlCol="0" anchor="ctr"/>
          <a:lstStyle/>
          <a:p>
            <a:pPr algn="ctr" indent="0" marL="0">
              <a:buNone/>
            </a:pPr>
            <a:r>
              <a:rPr lang="en-US" sz="800" b="1" dirty="0">
                <a:solidFill>
                  <a:srgbClr val="4F46E5"/>
                </a:solidFill>
                <a:latin typeface="Calibri" pitchFamily="34" charset="0"/>
                <a:ea typeface="Calibri" pitchFamily="34" charset="-122"/>
                <a:cs typeface="Calibri" pitchFamily="34" charset="-120"/>
              </a:rPr>
              <a:t>CREW</a:t>
            </a:r>
            <a:endParaRPr lang="en-US" sz="800" dirty="0"/>
          </a:p>
        </p:txBody>
      </p:sp>
      <p:sp>
        <p:nvSpPr>
          <p:cNvPr id="13" name="Text 11"/>
          <p:cNvSpPr/>
          <p:nvPr/>
        </p:nvSpPr>
        <p:spPr>
          <a:xfrm>
            <a:off x="2633472" y="1517904"/>
            <a:ext cx="2286000" cy="34747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Market Research Crew</a:t>
            </a:r>
            <a:endParaRPr lang="en-US" sz="850" dirty="0"/>
          </a:p>
          <a:p>
            <a:pPr algn="ctr" indent="0" marL="0">
              <a:buNone/>
            </a:pPr>
            <a:r>
              <a:rPr lang="en-US" sz="850" dirty="0">
                <a:solidFill>
                  <a:srgbClr val="1E293B"/>
                </a:solidFill>
                <a:latin typeface="Calibri" pitchFamily="34" charset="0"/>
                <a:ea typeface="Calibri" pitchFamily="34" charset="-122"/>
                <a:cs typeface="Calibri" pitchFamily="34" charset="-120"/>
              </a:rPr>
              <a:t>(5 Agents + 5 Tasks)</a:t>
            </a:r>
            <a:endParaRPr lang="en-US" sz="850" dirty="0"/>
          </a:p>
        </p:txBody>
      </p:sp>
      <p:sp>
        <p:nvSpPr>
          <p:cNvPr id="14" name="Text 12"/>
          <p:cNvSpPr/>
          <p:nvPr/>
        </p:nvSpPr>
        <p:spPr>
          <a:xfrm>
            <a:off x="4983480" y="1463040"/>
            <a:ext cx="365760" cy="274320"/>
          </a:xfrm>
          <a:prstGeom prst="rect">
            <a:avLst/>
          </a:prstGeom>
          <a:noFill/>
          <a:ln/>
        </p:spPr>
        <p:txBody>
          <a:bodyPr wrap="square" lIns="0" tIns="0" rIns="0" bIns="0" rtlCol="0" anchor="ctr"/>
          <a:lstStyle/>
          <a:p>
            <a:pPr algn="ctr" indent="0" marL="0">
              <a:buNone/>
            </a:pPr>
            <a:r>
              <a:rPr lang="en-US" sz="1600" b="1" dirty="0">
                <a:solidFill>
                  <a:srgbClr val="4F46E5"/>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5413248" y="1261872"/>
            <a:ext cx="1737360" cy="658368"/>
          </a:xfrm>
          <a:prstGeom prst="rect">
            <a:avLst/>
          </a:prstGeom>
          <a:solidFill>
            <a:srgbClr val="DCFCE7"/>
          </a:solidFill>
          <a:ln w="12700">
            <a:solidFill>
              <a:srgbClr val="22C55E"/>
            </a:solidFill>
            <a:prstDash val="solid"/>
          </a:ln>
        </p:spPr>
      </p:sp>
      <p:sp>
        <p:nvSpPr>
          <p:cNvPr id="16" name="Text 14"/>
          <p:cNvSpPr/>
          <p:nvPr/>
        </p:nvSpPr>
        <p:spPr>
          <a:xfrm>
            <a:off x="5413248" y="1261872"/>
            <a:ext cx="1737360" cy="256032"/>
          </a:xfrm>
          <a:prstGeom prst="rect">
            <a:avLst/>
          </a:prstGeom>
          <a:noFill/>
          <a:ln/>
        </p:spPr>
        <p:txBody>
          <a:bodyPr wrap="square" lIns="0" tIns="0" rIns="0" bIns="0" rtlCol="0" anchor="ctr"/>
          <a:lstStyle/>
          <a:p>
            <a:pPr algn="ctr" indent="0" marL="0">
              <a:buNone/>
            </a:pPr>
            <a:r>
              <a:rPr lang="en-US" sz="800" b="1" dirty="0">
                <a:solidFill>
                  <a:srgbClr val="16A34A"/>
                </a:solidFill>
                <a:latin typeface="Calibri" pitchFamily="34" charset="0"/>
                <a:ea typeface="Calibri" pitchFamily="34" charset="-122"/>
                <a:cs typeface="Calibri" pitchFamily="34" charset="-120"/>
              </a:rPr>
              <a:t>OUTPUT</a:t>
            </a:r>
            <a:endParaRPr lang="en-US" sz="800" dirty="0"/>
          </a:p>
        </p:txBody>
      </p:sp>
      <p:sp>
        <p:nvSpPr>
          <p:cNvPr id="17" name="Text 15"/>
          <p:cNvSpPr/>
          <p:nvPr/>
        </p:nvSpPr>
        <p:spPr>
          <a:xfrm>
            <a:off x="5413248" y="1517904"/>
            <a:ext cx="1737360" cy="347472"/>
          </a:xfrm>
          <a:prstGeom prst="rect">
            <a:avLst/>
          </a:prstGeom>
          <a:noFill/>
          <a:ln/>
        </p:spPr>
        <p:txBody>
          <a:bodyPr wrap="square" lIns="0" tIns="0" rIns="0" bIns="0"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Detailed Report</a:t>
            </a:r>
            <a:endParaRPr lang="en-US" sz="850" dirty="0"/>
          </a:p>
          <a:p>
            <a:pPr algn="ctr" indent="0" marL="0">
              <a:buNone/>
            </a:pPr>
            <a:r>
              <a:rPr lang="en-US" sz="850" dirty="0">
                <a:solidFill>
                  <a:srgbClr val="1E293B"/>
                </a:solidFill>
                <a:latin typeface="Calibri" pitchFamily="34" charset="0"/>
                <a:ea typeface="Calibri" pitchFamily="34" charset="-122"/>
                <a:cs typeface="Calibri" pitchFamily="34" charset="-120"/>
              </a:rPr>
              <a:t>(reports/report.md)</a:t>
            </a:r>
            <a:endParaRPr lang="en-US" sz="850" dirty="0"/>
          </a:p>
        </p:txBody>
      </p:sp>
      <p:sp>
        <p:nvSpPr>
          <p:cNvPr id="18" name="Text 16"/>
          <p:cNvSpPr/>
          <p:nvPr/>
        </p:nvSpPr>
        <p:spPr>
          <a:xfrm>
            <a:off x="7223760" y="1463040"/>
            <a:ext cx="365760" cy="274320"/>
          </a:xfrm>
          <a:prstGeom prst="rect">
            <a:avLst/>
          </a:prstGeom>
          <a:noFill/>
          <a:ln/>
        </p:spPr>
        <p:txBody>
          <a:bodyPr wrap="square" lIns="0" tIns="0" rIns="0" bIns="0" rtlCol="0" anchor="ctr"/>
          <a:lstStyle/>
          <a:p>
            <a:pPr algn="ctr" indent="0" marL="0">
              <a:buNone/>
            </a:pPr>
            <a:r>
              <a:rPr lang="en-US" sz="1600" b="1" dirty="0">
                <a:solidFill>
                  <a:srgbClr val="4F46E5"/>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7635240" y="1261872"/>
            <a:ext cx="1051560" cy="658368"/>
          </a:xfrm>
          <a:prstGeom prst="rect">
            <a:avLst/>
          </a:prstGeom>
          <a:solidFill>
            <a:srgbClr val="FEF3C7"/>
          </a:solidFill>
          <a:ln w="12700">
            <a:solidFill>
              <a:srgbClr val="F59E0B"/>
            </a:solidFill>
            <a:prstDash val="solid"/>
          </a:ln>
        </p:spPr>
      </p:sp>
      <p:sp>
        <p:nvSpPr>
          <p:cNvPr id="20" name="Text 18"/>
          <p:cNvSpPr/>
          <p:nvPr/>
        </p:nvSpPr>
        <p:spPr>
          <a:xfrm>
            <a:off x="7635240" y="1371600"/>
            <a:ext cx="1051560" cy="438912"/>
          </a:xfrm>
          <a:prstGeom prst="rect">
            <a:avLst/>
          </a:prstGeom>
          <a:noFill/>
          <a:ln/>
        </p:spPr>
        <p:txBody>
          <a:bodyPr wrap="square" lIns="0" tIns="0" rIns="0" bIns="0" rtlCol="0" anchor="ctr"/>
          <a:lstStyle/>
          <a:p>
            <a:pPr algn="ctr" indent="0" marL="0">
              <a:buNone/>
            </a:pPr>
            <a:r>
              <a:rPr lang="en-US" sz="900" dirty="0">
                <a:solidFill>
                  <a:srgbClr val="92400E"/>
                </a:solidFill>
                <a:latin typeface="Calibri" pitchFamily="34" charset="0"/>
                <a:ea typeface="Calibri" pitchFamily="34" charset="-122"/>
                <a:cs typeface="Calibri" pitchFamily="34" charset="-120"/>
              </a:rPr>
              <a:t>Save</a:t>
            </a:r>
            <a:endParaRPr lang="en-US" sz="900" dirty="0"/>
          </a:p>
          <a:p>
            <a:pPr algn="ctr" indent="0" marL="0">
              <a:buNone/>
            </a:pPr>
            <a:r>
              <a:rPr lang="en-US" sz="900" dirty="0">
                <a:solidFill>
                  <a:srgbClr val="92400E"/>
                </a:solidFill>
                <a:latin typeface="Calibri" pitchFamily="34" charset="0"/>
                <a:ea typeface="Calibri" pitchFamily="34" charset="-122"/>
                <a:cs typeface="Calibri" pitchFamily="34" charset="-120"/>
              </a:rPr>
              <a:t>to .md</a:t>
            </a:r>
            <a:endParaRPr lang="en-US" sz="900" dirty="0"/>
          </a:p>
        </p:txBody>
      </p:sp>
      <p:sp>
        <p:nvSpPr>
          <p:cNvPr id="21" name="Shape 19"/>
          <p:cNvSpPr/>
          <p:nvPr/>
        </p:nvSpPr>
        <p:spPr>
          <a:xfrm>
            <a:off x="320040" y="1115568"/>
            <a:ext cx="54864" cy="292608"/>
          </a:xfrm>
          <a:prstGeom prst="rect">
            <a:avLst/>
          </a:prstGeom>
          <a:solidFill>
            <a:srgbClr val="4F46E5"/>
          </a:solidFill>
          <a:ln w="12700">
            <a:solidFill>
              <a:srgbClr val="4F46E5"/>
            </a:solidFill>
            <a:prstDash val="solid"/>
          </a:ln>
        </p:spPr>
      </p:sp>
      <p:sp>
        <p:nvSpPr>
          <p:cNvPr id="22" name="Text 20"/>
          <p:cNvSpPr/>
          <p:nvPr/>
        </p:nvSpPr>
        <p:spPr>
          <a:xfrm>
            <a:off x="457200" y="1115568"/>
            <a:ext cx="8229600" cy="29260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Key Concept: Sequential Agent Pipeline</a:t>
            </a:r>
            <a:endParaRPr lang="en-US" sz="1300" dirty="0"/>
          </a:p>
        </p:txBody>
      </p:sp>
      <p:sp>
        <p:nvSpPr>
          <p:cNvPr id="23" name="Text 21"/>
          <p:cNvSpPr/>
          <p:nvPr/>
        </p:nvSpPr>
        <p:spPr>
          <a:xfrm>
            <a:off x="365760" y="1481328"/>
            <a:ext cx="8412480" cy="38404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 instructor explains this as a pipeline — each agent gets the output of all previous agents as context (called upstream reports). This is what makes each analysis progressively richer.</a:t>
            </a:r>
            <a:endParaRPr lang="en-US" sz="1050" dirty="0"/>
          </a:p>
        </p:txBody>
      </p:sp>
      <p:sp>
        <p:nvSpPr>
          <p:cNvPr id="24" name="Shape 22"/>
          <p:cNvSpPr/>
          <p:nvPr/>
        </p:nvSpPr>
        <p:spPr>
          <a:xfrm>
            <a:off x="347472" y="1938528"/>
            <a:ext cx="1508760" cy="749808"/>
          </a:xfrm>
          <a:prstGeom prst="rect">
            <a:avLst/>
          </a:prstGeom>
          <a:solidFill>
            <a:srgbClr val="EDE9FE"/>
          </a:solidFill>
          <a:ln w="12700">
            <a:solidFill>
              <a:srgbClr val="4F46E5"/>
            </a:solidFill>
            <a:prstDash val="solid"/>
          </a:ln>
        </p:spPr>
      </p:sp>
      <p:sp>
        <p:nvSpPr>
          <p:cNvPr id="25" name="Shape 23"/>
          <p:cNvSpPr/>
          <p:nvPr/>
        </p:nvSpPr>
        <p:spPr>
          <a:xfrm>
            <a:off x="347472" y="1938528"/>
            <a:ext cx="1508760" cy="228600"/>
          </a:xfrm>
          <a:prstGeom prst="rect">
            <a:avLst/>
          </a:prstGeom>
          <a:solidFill>
            <a:srgbClr val="4F46E5"/>
          </a:solidFill>
          <a:ln w="12700">
            <a:solidFill>
              <a:srgbClr val="4F46E5"/>
            </a:solidFill>
            <a:prstDash val="solid"/>
          </a:ln>
        </p:spPr>
      </p:sp>
      <p:sp>
        <p:nvSpPr>
          <p:cNvPr id="26" name="Text 24"/>
          <p:cNvSpPr/>
          <p:nvPr/>
        </p:nvSpPr>
        <p:spPr>
          <a:xfrm>
            <a:off x="347472" y="1938528"/>
            <a:ext cx="150876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①</a:t>
            </a:r>
            <a:endParaRPr lang="en-US" sz="900" dirty="0"/>
          </a:p>
        </p:txBody>
      </p:sp>
      <p:sp>
        <p:nvSpPr>
          <p:cNvPr id="27" name="Text 25"/>
          <p:cNvSpPr/>
          <p:nvPr/>
        </p:nvSpPr>
        <p:spPr>
          <a:xfrm>
            <a:off x="393192" y="2176272"/>
            <a:ext cx="1417320" cy="475488"/>
          </a:xfrm>
          <a:prstGeom prst="rect">
            <a:avLst/>
          </a:prstGeom>
          <a:noFill/>
          <a:ln/>
        </p:spPr>
        <p:txBody>
          <a:bodyPr wrap="square" lIns="0" tIns="0" rIns="0" bIns="0" rtlCol="0" anchor="ctr"/>
          <a:lstStyle/>
          <a:p>
            <a:pPr algn="ctr" indent="0" marL="0">
              <a:buNone/>
            </a:pPr>
            <a:r>
              <a:rPr lang="en-US" sz="850" b="1" dirty="0">
                <a:solidFill>
                  <a:srgbClr val="4F46E5"/>
                </a:solidFill>
                <a:latin typeface="Calibri" pitchFamily="34" charset="0"/>
                <a:ea typeface="Calibri" pitchFamily="34" charset="-122"/>
                <a:cs typeface="Calibri" pitchFamily="34" charset="-120"/>
              </a:rPr>
              <a:t>Market Research</a:t>
            </a:r>
            <a:endParaRPr lang="en-US" sz="850" dirty="0"/>
          </a:p>
          <a:p>
            <a:pPr algn="ctr" indent="0" marL="0">
              <a:buNone/>
            </a:pPr>
            <a:r>
              <a:rPr lang="en-US" sz="850" b="1" dirty="0">
                <a:solidFill>
                  <a:srgbClr val="4F46E5"/>
                </a:solidFill>
                <a:latin typeface="Calibri" pitchFamily="34" charset="0"/>
                <a:ea typeface="Calibri" pitchFamily="34" charset="-122"/>
                <a:cs typeface="Calibri" pitchFamily="34" charset="-120"/>
              </a:rPr>
              <a:t>Analyst</a:t>
            </a:r>
            <a:endParaRPr lang="en-US" sz="850" dirty="0"/>
          </a:p>
        </p:txBody>
      </p:sp>
      <p:sp>
        <p:nvSpPr>
          <p:cNvPr id="28" name="Shape 26"/>
          <p:cNvSpPr/>
          <p:nvPr/>
        </p:nvSpPr>
        <p:spPr>
          <a:xfrm>
            <a:off x="347472" y="2743200"/>
            <a:ext cx="1508760" cy="713232"/>
          </a:xfrm>
          <a:prstGeom prst="roundRect">
            <a:avLst>
              <a:gd name="adj" fmla="val 7692"/>
            </a:avLst>
          </a:prstGeom>
          <a:solidFill>
            <a:srgbClr val="F8FAFC"/>
          </a:solidFill>
          <a:ln w="12700">
            <a:solidFill>
              <a:srgbClr val="CBD5E1"/>
            </a:solidFill>
            <a:prstDash val="solid"/>
          </a:ln>
        </p:spPr>
      </p:sp>
      <p:sp>
        <p:nvSpPr>
          <p:cNvPr id="29" name="Text 27"/>
          <p:cNvSpPr/>
          <p:nvPr/>
        </p:nvSpPr>
        <p:spPr>
          <a:xfrm>
            <a:off x="384048" y="2779776"/>
            <a:ext cx="1435608" cy="621792"/>
          </a:xfrm>
          <a:prstGeom prst="rect">
            <a:avLst/>
          </a:prstGeom>
          <a:noFill/>
          <a:ln/>
        </p:spPr>
        <p:txBody>
          <a:bodyPr wrap="square" lIns="0" tIns="0" rIns="0" bIns="0" rtlCol="0" anchor="ctr"/>
          <a:lstStyle/>
          <a:p>
            <a:pPr algn="ctr" indent="0" marL="0">
              <a:buNone/>
            </a:pPr>
            <a:r>
              <a:rPr lang="en-US" sz="800" dirty="0">
                <a:solidFill>
                  <a:srgbClr val="475569"/>
                </a:solidFill>
                <a:latin typeface="Calibri" pitchFamily="34" charset="0"/>
                <a:ea typeface="Calibri" pitchFamily="34" charset="-122"/>
                <a:cs typeface="Calibri" pitchFamily="34" charset="-120"/>
              </a:rPr>
              <a:t>Viable mkt,</a:t>
            </a:r>
            <a:endParaRPr lang="en-US" sz="800" dirty="0"/>
          </a:p>
          <a:p>
            <a:pPr algn="ctr" indent="0" marL="0">
              <a:buNone/>
            </a:pPr>
            <a:r>
              <a:rPr lang="en-US" sz="800" dirty="0">
                <a:solidFill>
                  <a:srgbClr val="475569"/>
                </a:solidFill>
                <a:latin typeface="Calibri" pitchFamily="34" charset="0"/>
                <a:ea typeface="Calibri" pitchFamily="34" charset="-122"/>
                <a:cs typeface="Calibri" pitchFamily="34" charset="-120"/>
              </a:rPr>
              <a:t>gaps, trends</a:t>
            </a:r>
            <a:endParaRPr lang="en-US" sz="800" dirty="0"/>
          </a:p>
        </p:txBody>
      </p:sp>
      <p:sp>
        <p:nvSpPr>
          <p:cNvPr id="30" name="Text 28"/>
          <p:cNvSpPr/>
          <p:nvPr/>
        </p:nvSpPr>
        <p:spPr>
          <a:xfrm>
            <a:off x="850392" y="2679192"/>
            <a:ext cx="502920" cy="182880"/>
          </a:xfrm>
          <a:prstGeom prst="rect">
            <a:avLst/>
          </a:prstGeom>
          <a:noFill/>
          <a:ln/>
        </p:spPr>
        <p:txBody>
          <a:bodyPr wrap="square" lIns="0" tIns="0" rIns="0" bIns="0" rtlCol="0" anchor="ctr"/>
          <a:lstStyle/>
          <a:p>
            <a:pPr algn="ctr" indent="0" marL="0">
              <a:buNone/>
            </a:pPr>
            <a:r>
              <a:rPr lang="en-US" sz="1000" dirty="0">
                <a:solidFill>
                  <a:srgbClr val="4F46E5"/>
                </a:solidFill>
                <a:latin typeface="Calibri" pitchFamily="34" charset="0"/>
                <a:ea typeface="Calibri" pitchFamily="34" charset="-122"/>
                <a:cs typeface="Calibri" pitchFamily="34" charset="-120"/>
              </a:rPr>
              <a:t>↓</a:t>
            </a:r>
            <a:endParaRPr lang="en-US" sz="1000" dirty="0"/>
          </a:p>
        </p:txBody>
      </p:sp>
      <p:sp>
        <p:nvSpPr>
          <p:cNvPr id="31" name="Text 29"/>
          <p:cNvSpPr/>
          <p:nvPr/>
        </p:nvSpPr>
        <p:spPr>
          <a:xfrm>
            <a:off x="1874520" y="2194560"/>
            <a:ext cx="155448" cy="22860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p>
        </p:txBody>
      </p:sp>
      <p:sp>
        <p:nvSpPr>
          <p:cNvPr id="32" name="Shape 30"/>
          <p:cNvSpPr/>
          <p:nvPr/>
        </p:nvSpPr>
        <p:spPr>
          <a:xfrm>
            <a:off x="2048256" y="1938528"/>
            <a:ext cx="1508760" cy="749808"/>
          </a:xfrm>
          <a:prstGeom prst="rect">
            <a:avLst/>
          </a:prstGeom>
          <a:solidFill>
            <a:srgbClr val="CCFBF1"/>
          </a:solidFill>
          <a:ln w="12700">
            <a:solidFill>
              <a:srgbClr val="0D9488"/>
            </a:solidFill>
            <a:prstDash val="solid"/>
          </a:ln>
        </p:spPr>
      </p:sp>
      <p:sp>
        <p:nvSpPr>
          <p:cNvPr id="33" name="Shape 31"/>
          <p:cNvSpPr/>
          <p:nvPr/>
        </p:nvSpPr>
        <p:spPr>
          <a:xfrm>
            <a:off x="2048256" y="1938528"/>
            <a:ext cx="1508760" cy="228600"/>
          </a:xfrm>
          <a:prstGeom prst="rect">
            <a:avLst/>
          </a:prstGeom>
          <a:solidFill>
            <a:srgbClr val="0D9488"/>
          </a:solidFill>
          <a:ln w="12700">
            <a:solidFill>
              <a:srgbClr val="0D9488"/>
            </a:solidFill>
            <a:prstDash val="solid"/>
          </a:ln>
        </p:spPr>
      </p:sp>
      <p:sp>
        <p:nvSpPr>
          <p:cNvPr id="34" name="Text 32"/>
          <p:cNvSpPr/>
          <p:nvPr/>
        </p:nvSpPr>
        <p:spPr>
          <a:xfrm>
            <a:off x="2048256" y="1938528"/>
            <a:ext cx="150876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②</a:t>
            </a:r>
            <a:endParaRPr lang="en-US" sz="900" dirty="0"/>
          </a:p>
        </p:txBody>
      </p:sp>
      <p:sp>
        <p:nvSpPr>
          <p:cNvPr id="35" name="Text 33"/>
          <p:cNvSpPr/>
          <p:nvPr/>
        </p:nvSpPr>
        <p:spPr>
          <a:xfrm>
            <a:off x="2093976" y="2176272"/>
            <a:ext cx="1417320" cy="475488"/>
          </a:xfrm>
          <a:prstGeom prst="rect">
            <a:avLst/>
          </a:prstGeom>
          <a:noFill/>
          <a:ln/>
        </p:spPr>
        <p:txBody>
          <a:bodyPr wrap="square" lIns="0" tIns="0" rIns="0" bIns="0" rtlCol="0" anchor="ctr"/>
          <a:lstStyle/>
          <a:p>
            <a:pPr algn="ctr" indent="0" marL="0">
              <a:buNone/>
            </a:pPr>
            <a:r>
              <a:rPr lang="en-US" sz="850" b="1" dirty="0">
                <a:solidFill>
                  <a:srgbClr val="0D9488"/>
                </a:solidFill>
                <a:latin typeface="Calibri" pitchFamily="34" charset="0"/>
                <a:ea typeface="Calibri" pitchFamily="34" charset="-122"/>
                <a:cs typeface="Calibri" pitchFamily="34" charset="-120"/>
              </a:rPr>
              <a:t>Competitor</a:t>
            </a:r>
            <a:endParaRPr lang="en-US" sz="850" dirty="0"/>
          </a:p>
          <a:p>
            <a:pPr algn="ctr" indent="0" marL="0">
              <a:buNone/>
            </a:pPr>
            <a:r>
              <a:rPr lang="en-US" sz="850" b="1" dirty="0">
                <a:solidFill>
                  <a:srgbClr val="0D9488"/>
                </a:solidFill>
                <a:latin typeface="Calibri" pitchFamily="34" charset="0"/>
                <a:ea typeface="Calibri" pitchFamily="34" charset="-122"/>
                <a:cs typeface="Calibri" pitchFamily="34" charset="-120"/>
              </a:rPr>
              <a:t>Research</a:t>
            </a:r>
            <a:endParaRPr lang="en-US" sz="850" dirty="0"/>
          </a:p>
        </p:txBody>
      </p:sp>
      <p:sp>
        <p:nvSpPr>
          <p:cNvPr id="36" name="Shape 34"/>
          <p:cNvSpPr/>
          <p:nvPr/>
        </p:nvSpPr>
        <p:spPr>
          <a:xfrm>
            <a:off x="2048256" y="2743200"/>
            <a:ext cx="1508760" cy="713232"/>
          </a:xfrm>
          <a:prstGeom prst="roundRect">
            <a:avLst>
              <a:gd name="adj" fmla="val 7692"/>
            </a:avLst>
          </a:prstGeom>
          <a:solidFill>
            <a:srgbClr val="F8FAFC"/>
          </a:solidFill>
          <a:ln w="12700">
            <a:solidFill>
              <a:srgbClr val="CBD5E1"/>
            </a:solidFill>
            <a:prstDash val="solid"/>
          </a:ln>
        </p:spPr>
      </p:sp>
      <p:sp>
        <p:nvSpPr>
          <p:cNvPr id="37" name="Text 35"/>
          <p:cNvSpPr/>
          <p:nvPr/>
        </p:nvSpPr>
        <p:spPr>
          <a:xfrm>
            <a:off x="2084832" y="2779776"/>
            <a:ext cx="1435608" cy="621792"/>
          </a:xfrm>
          <a:prstGeom prst="rect">
            <a:avLst/>
          </a:prstGeom>
          <a:noFill/>
          <a:ln/>
        </p:spPr>
        <p:txBody>
          <a:bodyPr wrap="square" lIns="0" tIns="0" rIns="0" bIns="0" rtlCol="0" anchor="ctr"/>
          <a:lstStyle/>
          <a:p>
            <a:pPr algn="ctr" indent="0" marL="0">
              <a:buNone/>
            </a:pPr>
            <a:r>
              <a:rPr lang="en-US" sz="800" dirty="0">
                <a:solidFill>
                  <a:srgbClr val="475569"/>
                </a:solidFill>
                <a:latin typeface="Calibri" pitchFamily="34" charset="0"/>
                <a:ea typeface="Calibri" pitchFamily="34" charset="-122"/>
                <a:cs typeface="Calibri" pitchFamily="34" charset="-120"/>
              </a:rPr>
              <a:t>Product,</a:t>
            </a:r>
            <a:endParaRPr lang="en-US" sz="800" dirty="0"/>
          </a:p>
          <a:p>
            <a:pPr algn="ctr" indent="0" marL="0">
              <a:buNone/>
            </a:pPr>
            <a:r>
              <a:rPr lang="en-US" sz="800" dirty="0">
                <a:solidFill>
                  <a:srgbClr val="475569"/>
                </a:solidFill>
                <a:latin typeface="Calibri" pitchFamily="34" charset="0"/>
                <a:ea typeface="Calibri" pitchFamily="34" charset="-122"/>
                <a:cs typeface="Calibri" pitchFamily="34" charset="-120"/>
              </a:rPr>
              <a:t>Strengths,</a:t>
            </a:r>
            <a:endParaRPr lang="en-US" sz="800" dirty="0"/>
          </a:p>
          <a:p>
            <a:pPr algn="ctr" indent="0" marL="0">
              <a:buNone/>
            </a:pPr>
            <a:r>
              <a:rPr lang="en-US" sz="800" dirty="0">
                <a:solidFill>
                  <a:srgbClr val="475569"/>
                </a:solidFill>
                <a:latin typeface="Calibri" pitchFamily="34" charset="0"/>
                <a:ea typeface="Calibri" pitchFamily="34" charset="-122"/>
                <a:cs typeface="Calibri" pitchFamily="34" charset="-120"/>
              </a:rPr>
              <a:t>Weakness,</a:t>
            </a:r>
            <a:endParaRPr lang="en-US" sz="800" dirty="0"/>
          </a:p>
          <a:p>
            <a:pPr algn="ctr" indent="0" marL="0">
              <a:buNone/>
            </a:pPr>
            <a:r>
              <a:rPr lang="en-US" sz="800" dirty="0">
                <a:solidFill>
                  <a:srgbClr val="475569"/>
                </a:solidFill>
                <a:latin typeface="Calibri" pitchFamily="34" charset="0"/>
                <a:ea typeface="Calibri" pitchFamily="34" charset="-122"/>
                <a:cs typeface="Calibri" pitchFamily="34" charset="-120"/>
              </a:rPr>
              <a:t>Price, Gaps</a:t>
            </a:r>
            <a:endParaRPr lang="en-US" sz="800" dirty="0"/>
          </a:p>
        </p:txBody>
      </p:sp>
      <p:sp>
        <p:nvSpPr>
          <p:cNvPr id="38" name="Text 36"/>
          <p:cNvSpPr/>
          <p:nvPr/>
        </p:nvSpPr>
        <p:spPr>
          <a:xfrm>
            <a:off x="2551176" y="2679192"/>
            <a:ext cx="502920" cy="182880"/>
          </a:xfrm>
          <a:prstGeom prst="rect">
            <a:avLst/>
          </a:prstGeom>
          <a:noFill/>
          <a:ln/>
        </p:spPr>
        <p:txBody>
          <a:bodyPr wrap="square" lIns="0" tIns="0" rIns="0" bIns="0" rtlCol="0" anchor="ctr"/>
          <a:lstStyle/>
          <a:p>
            <a:pPr algn="ctr" indent="0" marL="0">
              <a:buNone/>
            </a:pPr>
            <a:r>
              <a:rPr lang="en-US" sz="1000" dirty="0">
                <a:solidFill>
                  <a:srgbClr val="0D9488"/>
                </a:solidFill>
                <a:latin typeface="Calibri" pitchFamily="34" charset="0"/>
                <a:ea typeface="Calibri" pitchFamily="34" charset="-122"/>
                <a:cs typeface="Calibri" pitchFamily="34" charset="-120"/>
              </a:rPr>
              <a:t>↓</a:t>
            </a:r>
            <a:endParaRPr lang="en-US" sz="1000" dirty="0"/>
          </a:p>
        </p:txBody>
      </p:sp>
      <p:sp>
        <p:nvSpPr>
          <p:cNvPr id="39" name="Text 37"/>
          <p:cNvSpPr/>
          <p:nvPr/>
        </p:nvSpPr>
        <p:spPr>
          <a:xfrm>
            <a:off x="3575304" y="2194560"/>
            <a:ext cx="155448" cy="22860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3749040" y="1938528"/>
            <a:ext cx="1508760" cy="749808"/>
          </a:xfrm>
          <a:prstGeom prst="rect">
            <a:avLst/>
          </a:prstGeom>
          <a:solidFill>
            <a:srgbClr val="E0F2FE"/>
          </a:solidFill>
          <a:ln w="12700">
            <a:solidFill>
              <a:srgbClr val="0EA5E9"/>
            </a:solidFill>
            <a:prstDash val="solid"/>
          </a:ln>
        </p:spPr>
      </p:sp>
      <p:sp>
        <p:nvSpPr>
          <p:cNvPr id="41" name="Shape 39"/>
          <p:cNvSpPr/>
          <p:nvPr/>
        </p:nvSpPr>
        <p:spPr>
          <a:xfrm>
            <a:off x="3749040" y="1938528"/>
            <a:ext cx="1508760" cy="228600"/>
          </a:xfrm>
          <a:prstGeom prst="rect">
            <a:avLst/>
          </a:prstGeom>
          <a:solidFill>
            <a:srgbClr val="0EA5E9"/>
          </a:solidFill>
          <a:ln w="12700">
            <a:solidFill>
              <a:srgbClr val="0EA5E9"/>
            </a:solidFill>
            <a:prstDash val="solid"/>
          </a:ln>
        </p:spPr>
      </p:sp>
      <p:sp>
        <p:nvSpPr>
          <p:cNvPr id="42" name="Text 40"/>
          <p:cNvSpPr/>
          <p:nvPr/>
        </p:nvSpPr>
        <p:spPr>
          <a:xfrm>
            <a:off x="3749040" y="1938528"/>
            <a:ext cx="150876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③</a:t>
            </a:r>
            <a:endParaRPr lang="en-US" sz="900" dirty="0"/>
          </a:p>
        </p:txBody>
      </p:sp>
      <p:sp>
        <p:nvSpPr>
          <p:cNvPr id="43" name="Text 41"/>
          <p:cNvSpPr/>
          <p:nvPr/>
        </p:nvSpPr>
        <p:spPr>
          <a:xfrm>
            <a:off x="3794760" y="2176272"/>
            <a:ext cx="1417320" cy="475488"/>
          </a:xfrm>
          <a:prstGeom prst="rect">
            <a:avLst/>
          </a:prstGeom>
          <a:noFill/>
          <a:ln/>
        </p:spPr>
        <p:txBody>
          <a:bodyPr wrap="square" lIns="0" tIns="0" rIns="0" bIns="0" rtlCol="0" anchor="ctr"/>
          <a:lstStyle/>
          <a:p>
            <a:pPr algn="ctr" indent="0" marL="0">
              <a:buNone/>
            </a:pPr>
            <a:r>
              <a:rPr lang="en-US" sz="850" b="1" dirty="0">
                <a:solidFill>
                  <a:srgbClr val="0EA5E9"/>
                </a:solidFill>
                <a:latin typeface="Calibri" pitchFamily="34" charset="0"/>
                <a:ea typeface="Calibri" pitchFamily="34" charset="-122"/>
                <a:cs typeface="Calibri" pitchFamily="34" charset="-120"/>
              </a:rPr>
              <a:t>Customer</a:t>
            </a:r>
            <a:endParaRPr lang="en-US" sz="850" dirty="0"/>
          </a:p>
          <a:p>
            <a:pPr algn="ctr" indent="0" marL="0">
              <a:buNone/>
            </a:pPr>
            <a:r>
              <a:rPr lang="en-US" sz="850" b="1" dirty="0">
                <a:solidFill>
                  <a:srgbClr val="0EA5E9"/>
                </a:solidFill>
                <a:latin typeface="Calibri" pitchFamily="34" charset="0"/>
                <a:ea typeface="Calibri" pitchFamily="34" charset="-122"/>
                <a:cs typeface="Calibri" pitchFamily="34" charset="-120"/>
              </a:rPr>
              <a:t>Research</a:t>
            </a:r>
            <a:endParaRPr lang="en-US" sz="850" dirty="0"/>
          </a:p>
        </p:txBody>
      </p:sp>
      <p:sp>
        <p:nvSpPr>
          <p:cNvPr id="44" name="Shape 42"/>
          <p:cNvSpPr/>
          <p:nvPr/>
        </p:nvSpPr>
        <p:spPr>
          <a:xfrm>
            <a:off x="3749040" y="2743200"/>
            <a:ext cx="1508760" cy="713232"/>
          </a:xfrm>
          <a:prstGeom prst="roundRect">
            <a:avLst>
              <a:gd name="adj" fmla="val 7692"/>
            </a:avLst>
          </a:prstGeom>
          <a:solidFill>
            <a:srgbClr val="F8FAFC"/>
          </a:solidFill>
          <a:ln w="12700">
            <a:solidFill>
              <a:srgbClr val="CBD5E1"/>
            </a:solidFill>
            <a:prstDash val="solid"/>
          </a:ln>
        </p:spPr>
      </p:sp>
      <p:sp>
        <p:nvSpPr>
          <p:cNvPr id="45" name="Text 43"/>
          <p:cNvSpPr/>
          <p:nvPr/>
        </p:nvSpPr>
        <p:spPr>
          <a:xfrm>
            <a:off x="3785616" y="2779776"/>
            <a:ext cx="1435608" cy="621792"/>
          </a:xfrm>
          <a:prstGeom prst="rect">
            <a:avLst/>
          </a:prstGeom>
          <a:noFill/>
          <a:ln/>
        </p:spPr>
        <p:txBody>
          <a:bodyPr wrap="square" lIns="0" tIns="0" rIns="0" bIns="0" rtlCol="0" anchor="ctr"/>
          <a:lstStyle/>
          <a:p>
            <a:pPr algn="ctr" indent="0" marL="0">
              <a:buNone/>
            </a:pPr>
            <a:r>
              <a:rPr lang="en-US" sz="800" dirty="0">
                <a:solidFill>
                  <a:srgbClr val="475569"/>
                </a:solidFill>
                <a:latin typeface="Calibri" pitchFamily="34" charset="0"/>
                <a:ea typeface="Calibri" pitchFamily="34" charset="-122"/>
                <a:cs typeface="Calibri" pitchFamily="34" charset="-120"/>
              </a:rPr>
              <a:t>Segments,</a:t>
            </a:r>
            <a:endParaRPr lang="en-US" sz="800" dirty="0"/>
          </a:p>
          <a:p>
            <a:pPr algn="ctr" indent="0" marL="0">
              <a:buNone/>
            </a:pPr>
            <a:r>
              <a:rPr lang="en-US" sz="800" dirty="0">
                <a:solidFill>
                  <a:srgbClr val="475569"/>
                </a:solidFill>
                <a:latin typeface="Calibri" pitchFamily="34" charset="0"/>
                <a:ea typeface="Calibri" pitchFamily="34" charset="-122"/>
                <a:cs typeface="Calibri" pitchFamily="34" charset="-120"/>
              </a:rPr>
              <a:t>Needs, Req,</a:t>
            </a:r>
            <a:endParaRPr lang="en-US" sz="800" dirty="0"/>
          </a:p>
          <a:p>
            <a:pPr algn="ctr" indent="0" marL="0">
              <a:buNone/>
            </a:pPr>
            <a:r>
              <a:rPr lang="en-US" sz="800" dirty="0">
                <a:solidFill>
                  <a:srgbClr val="475569"/>
                </a:solidFill>
                <a:latin typeface="Calibri" pitchFamily="34" charset="0"/>
                <a:ea typeface="Calibri" pitchFamily="34" charset="-122"/>
                <a:cs typeface="Calibri" pitchFamily="34" charset="-120"/>
              </a:rPr>
              <a:t>Gaps</a:t>
            </a:r>
            <a:endParaRPr lang="en-US" sz="800" dirty="0"/>
          </a:p>
        </p:txBody>
      </p:sp>
      <p:sp>
        <p:nvSpPr>
          <p:cNvPr id="46" name="Text 44"/>
          <p:cNvSpPr/>
          <p:nvPr/>
        </p:nvSpPr>
        <p:spPr>
          <a:xfrm>
            <a:off x="4251960" y="2679192"/>
            <a:ext cx="502920" cy="182880"/>
          </a:xfrm>
          <a:prstGeom prst="rect">
            <a:avLst/>
          </a:prstGeom>
          <a:noFill/>
          <a:ln/>
        </p:spPr>
        <p:txBody>
          <a:bodyPr wrap="square" lIns="0" tIns="0" rIns="0" bIns="0" rtlCol="0" anchor="ctr"/>
          <a:lstStyle/>
          <a:p>
            <a:pPr algn="ctr" indent="0" marL="0">
              <a:buNone/>
            </a:pPr>
            <a:r>
              <a:rPr lang="en-US" sz="1000" dirty="0">
                <a:solidFill>
                  <a:srgbClr val="0EA5E9"/>
                </a:solidFill>
                <a:latin typeface="Calibri" pitchFamily="34" charset="0"/>
                <a:ea typeface="Calibri" pitchFamily="34" charset="-122"/>
                <a:cs typeface="Calibri" pitchFamily="34" charset="-120"/>
              </a:rPr>
              <a:t>↓</a:t>
            </a:r>
            <a:endParaRPr lang="en-US" sz="1000" dirty="0"/>
          </a:p>
        </p:txBody>
      </p:sp>
      <p:sp>
        <p:nvSpPr>
          <p:cNvPr id="47" name="Text 45"/>
          <p:cNvSpPr/>
          <p:nvPr/>
        </p:nvSpPr>
        <p:spPr>
          <a:xfrm>
            <a:off x="5276088" y="2194560"/>
            <a:ext cx="155448" cy="22860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p>
        </p:txBody>
      </p:sp>
      <p:sp>
        <p:nvSpPr>
          <p:cNvPr id="48" name="Shape 46"/>
          <p:cNvSpPr/>
          <p:nvPr/>
        </p:nvSpPr>
        <p:spPr>
          <a:xfrm>
            <a:off x="5449824" y="1938528"/>
            <a:ext cx="1508760" cy="749808"/>
          </a:xfrm>
          <a:prstGeom prst="rect">
            <a:avLst/>
          </a:prstGeom>
          <a:solidFill>
            <a:srgbClr val="FEF3C7"/>
          </a:solidFill>
          <a:ln w="12700">
            <a:solidFill>
              <a:srgbClr val="F59E0B"/>
            </a:solidFill>
            <a:prstDash val="solid"/>
          </a:ln>
        </p:spPr>
      </p:sp>
      <p:sp>
        <p:nvSpPr>
          <p:cNvPr id="49" name="Shape 47"/>
          <p:cNvSpPr/>
          <p:nvPr/>
        </p:nvSpPr>
        <p:spPr>
          <a:xfrm>
            <a:off x="5449824" y="1938528"/>
            <a:ext cx="1508760" cy="228600"/>
          </a:xfrm>
          <a:prstGeom prst="rect">
            <a:avLst/>
          </a:prstGeom>
          <a:solidFill>
            <a:srgbClr val="F59E0B"/>
          </a:solidFill>
          <a:ln w="12700">
            <a:solidFill>
              <a:srgbClr val="F59E0B"/>
            </a:solidFill>
            <a:prstDash val="solid"/>
          </a:ln>
        </p:spPr>
      </p:sp>
      <p:sp>
        <p:nvSpPr>
          <p:cNvPr id="50" name="Text 48"/>
          <p:cNvSpPr/>
          <p:nvPr/>
        </p:nvSpPr>
        <p:spPr>
          <a:xfrm>
            <a:off x="5449824" y="1938528"/>
            <a:ext cx="150876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④</a:t>
            </a:r>
            <a:endParaRPr lang="en-US" sz="900" dirty="0"/>
          </a:p>
        </p:txBody>
      </p:sp>
      <p:sp>
        <p:nvSpPr>
          <p:cNvPr id="51" name="Text 49"/>
          <p:cNvSpPr/>
          <p:nvPr/>
        </p:nvSpPr>
        <p:spPr>
          <a:xfrm>
            <a:off x="5495544" y="2176272"/>
            <a:ext cx="1417320" cy="475488"/>
          </a:xfrm>
          <a:prstGeom prst="rect">
            <a:avLst/>
          </a:prstGeom>
          <a:noFill/>
          <a:ln/>
        </p:spPr>
        <p:txBody>
          <a:bodyPr wrap="square" lIns="0" tIns="0" rIns="0" bIns="0" rtlCol="0" anchor="ctr"/>
          <a:lstStyle/>
          <a:p>
            <a:pPr algn="ctr" indent="0" marL="0">
              <a:buNone/>
            </a:pPr>
            <a:r>
              <a:rPr lang="en-US" sz="850" b="1" dirty="0">
                <a:solidFill>
                  <a:srgbClr val="F59E0B"/>
                </a:solidFill>
                <a:latin typeface="Calibri" pitchFamily="34" charset="0"/>
                <a:ea typeface="Calibri" pitchFamily="34" charset="-122"/>
                <a:cs typeface="Calibri" pitchFamily="34" charset="-120"/>
              </a:rPr>
              <a:t>Product</a:t>
            </a:r>
            <a:endParaRPr lang="en-US" sz="850" dirty="0"/>
          </a:p>
          <a:p>
            <a:pPr algn="ctr" indent="0" marL="0">
              <a:buNone/>
            </a:pPr>
            <a:r>
              <a:rPr lang="en-US" sz="850" b="1" dirty="0">
                <a:solidFill>
                  <a:srgbClr val="F59E0B"/>
                </a:solidFill>
                <a:latin typeface="Calibri" pitchFamily="34" charset="0"/>
                <a:ea typeface="Calibri" pitchFamily="34" charset="-122"/>
                <a:cs typeface="Calibri" pitchFamily="34" charset="-120"/>
              </a:rPr>
              <a:t>Features</a:t>
            </a:r>
            <a:endParaRPr lang="en-US" sz="850" dirty="0"/>
          </a:p>
        </p:txBody>
      </p:sp>
      <p:sp>
        <p:nvSpPr>
          <p:cNvPr id="52" name="Shape 50"/>
          <p:cNvSpPr/>
          <p:nvPr/>
        </p:nvSpPr>
        <p:spPr>
          <a:xfrm>
            <a:off x="5449824" y="2743200"/>
            <a:ext cx="1508760" cy="713232"/>
          </a:xfrm>
          <a:prstGeom prst="roundRect">
            <a:avLst>
              <a:gd name="adj" fmla="val 7692"/>
            </a:avLst>
          </a:prstGeom>
          <a:solidFill>
            <a:srgbClr val="F8FAFC"/>
          </a:solidFill>
          <a:ln w="12700">
            <a:solidFill>
              <a:srgbClr val="CBD5E1"/>
            </a:solidFill>
            <a:prstDash val="solid"/>
          </a:ln>
        </p:spPr>
      </p:sp>
      <p:sp>
        <p:nvSpPr>
          <p:cNvPr id="53" name="Text 51"/>
          <p:cNvSpPr/>
          <p:nvPr/>
        </p:nvSpPr>
        <p:spPr>
          <a:xfrm>
            <a:off x="5486400" y="2779776"/>
            <a:ext cx="1435608" cy="621792"/>
          </a:xfrm>
          <a:prstGeom prst="rect">
            <a:avLst/>
          </a:prstGeom>
          <a:noFill/>
          <a:ln/>
        </p:spPr>
        <p:txBody>
          <a:bodyPr wrap="square" lIns="0" tIns="0" rIns="0" bIns="0" rtlCol="0" anchor="ctr"/>
          <a:lstStyle/>
          <a:p>
            <a:pPr algn="ctr" indent="0" marL="0">
              <a:buNone/>
            </a:pPr>
            <a:r>
              <a:rPr lang="en-US" sz="800" dirty="0">
                <a:solidFill>
                  <a:srgbClr val="475569"/>
                </a:solidFill>
                <a:latin typeface="Calibri" pitchFamily="34" charset="0"/>
                <a:ea typeface="Calibri" pitchFamily="34" charset="-122"/>
                <a:cs typeface="Calibri" pitchFamily="34" charset="-120"/>
              </a:rPr>
              <a:t>Product,</a:t>
            </a:r>
            <a:endParaRPr lang="en-US" sz="800" dirty="0"/>
          </a:p>
          <a:p>
            <a:pPr algn="ctr" indent="0" marL="0">
              <a:buNone/>
            </a:pPr>
            <a:r>
              <a:rPr lang="en-US" sz="800" dirty="0">
                <a:solidFill>
                  <a:srgbClr val="475569"/>
                </a:solidFill>
                <a:latin typeface="Calibri" pitchFamily="34" charset="0"/>
                <a:ea typeface="Calibri" pitchFamily="34" charset="-122"/>
                <a:cs typeface="Calibri" pitchFamily="34" charset="-120"/>
              </a:rPr>
              <a:t>Price point</a:t>
            </a:r>
            <a:endParaRPr lang="en-US" sz="800" dirty="0"/>
          </a:p>
        </p:txBody>
      </p:sp>
      <p:sp>
        <p:nvSpPr>
          <p:cNvPr id="54" name="Text 52"/>
          <p:cNvSpPr/>
          <p:nvPr/>
        </p:nvSpPr>
        <p:spPr>
          <a:xfrm>
            <a:off x="5952744" y="2679192"/>
            <a:ext cx="502920" cy="182880"/>
          </a:xfrm>
          <a:prstGeom prst="rect">
            <a:avLst/>
          </a:prstGeom>
          <a:noFill/>
          <a:ln/>
        </p:spPr>
        <p:txBody>
          <a:bodyPr wrap="square" lIns="0" tIns="0" rIns="0" bIns="0" rtlCol="0" anchor="ctr"/>
          <a:lstStyle/>
          <a:p>
            <a:pPr algn="ctr" indent="0" marL="0">
              <a:buNone/>
            </a:pPr>
            <a:r>
              <a:rPr lang="en-US" sz="1000" dirty="0">
                <a:solidFill>
                  <a:srgbClr val="F59E0B"/>
                </a:solidFill>
                <a:latin typeface="Calibri" pitchFamily="34" charset="0"/>
                <a:ea typeface="Calibri" pitchFamily="34" charset="-122"/>
                <a:cs typeface="Calibri" pitchFamily="34" charset="-120"/>
              </a:rPr>
              <a:t>↓</a:t>
            </a:r>
            <a:endParaRPr lang="en-US" sz="1000" dirty="0"/>
          </a:p>
        </p:txBody>
      </p:sp>
      <p:sp>
        <p:nvSpPr>
          <p:cNvPr id="55" name="Text 53"/>
          <p:cNvSpPr/>
          <p:nvPr/>
        </p:nvSpPr>
        <p:spPr>
          <a:xfrm>
            <a:off x="6976872" y="2194560"/>
            <a:ext cx="155448" cy="228600"/>
          </a:xfrm>
          <a:prstGeom prst="rect">
            <a:avLst/>
          </a:prstGeom>
          <a:noFill/>
          <a:ln/>
        </p:spPr>
        <p:txBody>
          <a:bodyPr wrap="square" lIns="0" tIns="0" rIns="0" bIns="0"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t>
            </a:r>
            <a:endParaRPr lang="en-US" sz="1200" dirty="0"/>
          </a:p>
        </p:txBody>
      </p:sp>
      <p:sp>
        <p:nvSpPr>
          <p:cNvPr id="56" name="Shape 54"/>
          <p:cNvSpPr/>
          <p:nvPr/>
        </p:nvSpPr>
        <p:spPr>
          <a:xfrm>
            <a:off x="7150608" y="1938528"/>
            <a:ext cx="1508760" cy="749808"/>
          </a:xfrm>
          <a:prstGeom prst="rect">
            <a:avLst/>
          </a:prstGeom>
          <a:solidFill>
            <a:srgbClr val="EDE9FE"/>
          </a:solidFill>
          <a:ln w="12700">
            <a:solidFill>
              <a:srgbClr val="7C3AED"/>
            </a:solidFill>
            <a:prstDash val="solid"/>
          </a:ln>
        </p:spPr>
      </p:sp>
      <p:sp>
        <p:nvSpPr>
          <p:cNvPr id="57" name="Shape 55"/>
          <p:cNvSpPr/>
          <p:nvPr/>
        </p:nvSpPr>
        <p:spPr>
          <a:xfrm>
            <a:off x="7150608" y="1938528"/>
            <a:ext cx="1508760" cy="228600"/>
          </a:xfrm>
          <a:prstGeom prst="rect">
            <a:avLst/>
          </a:prstGeom>
          <a:solidFill>
            <a:srgbClr val="7C3AED"/>
          </a:solidFill>
          <a:ln w="12700">
            <a:solidFill>
              <a:srgbClr val="7C3AED"/>
            </a:solidFill>
            <a:prstDash val="solid"/>
          </a:ln>
        </p:spPr>
      </p:sp>
      <p:sp>
        <p:nvSpPr>
          <p:cNvPr id="58" name="Text 56"/>
          <p:cNvSpPr/>
          <p:nvPr/>
        </p:nvSpPr>
        <p:spPr>
          <a:xfrm>
            <a:off x="7150608" y="1938528"/>
            <a:ext cx="1508760" cy="2286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⑤</a:t>
            </a:r>
            <a:endParaRPr lang="en-US" sz="900" dirty="0"/>
          </a:p>
        </p:txBody>
      </p:sp>
      <p:sp>
        <p:nvSpPr>
          <p:cNvPr id="59" name="Text 57"/>
          <p:cNvSpPr/>
          <p:nvPr/>
        </p:nvSpPr>
        <p:spPr>
          <a:xfrm>
            <a:off x="7196328" y="2176272"/>
            <a:ext cx="1417320" cy="475488"/>
          </a:xfrm>
          <a:prstGeom prst="rect">
            <a:avLst/>
          </a:prstGeom>
          <a:noFill/>
          <a:ln/>
        </p:spPr>
        <p:txBody>
          <a:bodyPr wrap="square" lIns="0" tIns="0" rIns="0" bIns="0" rtlCol="0" anchor="ctr"/>
          <a:lstStyle/>
          <a:p>
            <a:pPr algn="ctr" indent="0" marL="0">
              <a:buNone/>
            </a:pPr>
            <a:r>
              <a:rPr lang="en-US" sz="850" b="1" dirty="0">
                <a:solidFill>
                  <a:srgbClr val="7C3AED"/>
                </a:solidFill>
                <a:latin typeface="Calibri" pitchFamily="34" charset="0"/>
                <a:ea typeface="Calibri" pitchFamily="34" charset="-122"/>
                <a:cs typeface="Calibri" pitchFamily="34" charset="-120"/>
              </a:rPr>
              <a:t>Business</a:t>
            </a:r>
            <a:endParaRPr lang="en-US" sz="850" dirty="0"/>
          </a:p>
          <a:p>
            <a:pPr algn="ctr" indent="0" marL="0">
              <a:buNone/>
            </a:pPr>
            <a:r>
              <a:rPr lang="en-US" sz="850" b="1" dirty="0">
                <a:solidFill>
                  <a:srgbClr val="7C3AED"/>
                </a:solidFill>
                <a:latin typeface="Calibri" pitchFamily="34" charset="0"/>
                <a:ea typeface="Calibri" pitchFamily="34" charset="-122"/>
                <a:cs typeface="Calibri" pitchFamily="34" charset="-120"/>
              </a:rPr>
              <a:t>Analyst</a:t>
            </a:r>
            <a:endParaRPr lang="en-US" sz="850" dirty="0"/>
          </a:p>
        </p:txBody>
      </p:sp>
      <p:sp>
        <p:nvSpPr>
          <p:cNvPr id="60" name="Shape 58"/>
          <p:cNvSpPr/>
          <p:nvPr/>
        </p:nvSpPr>
        <p:spPr>
          <a:xfrm>
            <a:off x="7150608" y="2743200"/>
            <a:ext cx="1508760" cy="713232"/>
          </a:xfrm>
          <a:prstGeom prst="roundRect">
            <a:avLst>
              <a:gd name="adj" fmla="val 7692"/>
            </a:avLst>
          </a:prstGeom>
          <a:solidFill>
            <a:srgbClr val="F8FAFC"/>
          </a:solidFill>
          <a:ln w="12700">
            <a:solidFill>
              <a:srgbClr val="CBD5E1"/>
            </a:solidFill>
            <a:prstDash val="solid"/>
          </a:ln>
        </p:spPr>
      </p:sp>
      <p:sp>
        <p:nvSpPr>
          <p:cNvPr id="61" name="Text 59"/>
          <p:cNvSpPr/>
          <p:nvPr/>
        </p:nvSpPr>
        <p:spPr>
          <a:xfrm>
            <a:off x="7187184" y="2779776"/>
            <a:ext cx="1435608" cy="621792"/>
          </a:xfrm>
          <a:prstGeom prst="rect">
            <a:avLst/>
          </a:prstGeom>
          <a:noFill/>
          <a:ln/>
        </p:spPr>
        <p:txBody>
          <a:bodyPr wrap="square" lIns="0" tIns="0" rIns="0" bIns="0" rtlCol="0" anchor="ctr"/>
          <a:lstStyle/>
          <a:p>
            <a:pPr algn="ctr" indent="0" marL="0">
              <a:buNone/>
            </a:pPr>
            <a:r>
              <a:rPr lang="en-US" sz="800" dirty="0">
                <a:solidFill>
                  <a:srgbClr val="475569"/>
                </a:solidFill>
                <a:latin typeface="Calibri" pitchFamily="34" charset="0"/>
                <a:ea typeface="Calibri" pitchFamily="34" charset="-122"/>
                <a:cs typeface="Calibri" pitchFamily="34" charset="-120"/>
              </a:rPr>
              <a:t>Single Final</a:t>
            </a:r>
            <a:endParaRPr lang="en-US" sz="800" dirty="0"/>
          </a:p>
          <a:p>
            <a:pPr algn="ctr" indent="0" marL="0">
              <a:buNone/>
            </a:pPr>
            <a:r>
              <a:rPr lang="en-US" sz="800" dirty="0">
                <a:solidFill>
                  <a:srgbClr val="475569"/>
                </a:solidFill>
                <a:latin typeface="Calibri" pitchFamily="34" charset="0"/>
                <a:ea typeface="Calibri" pitchFamily="34" charset="-122"/>
                <a:cs typeface="Calibri" pitchFamily="34" charset="-120"/>
              </a:rPr>
              <a:t>Report</a:t>
            </a:r>
            <a:endParaRPr lang="en-US" sz="800" dirty="0"/>
          </a:p>
        </p:txBody>
      </p:sp>
      <p:sp>
        <p:nvSpPr>
          <p:cNvPr id="62" name="Text 60"/>
          <p:cNvSpPr/>
          <p:nvPr/>
        </p:nvSpPr>
        <p:spPr>
          <a:xfrm>
            <a:off x="7653528" y="2679192"/>
            <a:ext cx="502920" cy="182880"/>
          </a:xfrm>
          <a:prstGeom prst="rect">
            <a:avLst/>
          </a:prstGeom>
          <a:noFill/>
          <a:ln/>
        </p:spPr>
        <p:txBody>
          <a:bodyPr wrap="square" lIns="0" tIns="0" rIns="0" bIns="0" rtlCol="0" anchor="ctr"/>
          <a:lstStyle/>
          <a:p>
            <a:pPr algn="ctr" indent="0" marL="0">
              <a:buNone/>
            </a:pPr>
            <a:r>
              <a:rPr lang="en-US" sz="1000" dirty="0">
                <a:solidFill>
                  <a:srgbClr val="7C3AED"/>
                </a:solidFill>
                <a:latin typeface="Calibri" pitchFamily="34" charset="0"/>
                <a:ea typeface="Calibri" pitchFamily="34" charset="-122"/>
                <a:cs typeface="Calibri" pitchFamily="34" charset="-120"/>
              </a:rPr>
              <a:t>↓</a:t>
            </a:r>
            <a:endParaRPr lang="en-US" sz="1000" dirty="0"/>
          </a:p>
        </p:txBody>
      </p:sp>
      <p:sp>
        <p:nvSpPr>
          <p:cNvPr id="63" name="Shape 61"/>
          <p:cNvSpPr/>
          <p:nvPr/>
        </p:nvSpPr>
        <p:spPr>
          <a:xfrm>
            <a:off x="320040" y="3547872"/>
            <a:ext cx="8503920" cy="384048"/>
          </a:xfrm>
          <a:prstGeom prst="rect">
            <a:avLst/>
          </a:prstGeom>
          <a:solidFill>
            <a:srgbClr val="0F172A"/>
          </a:solidFill>
          <a:ln w="12700">
            <a:solidFill>
              <a:srgbClr val="4F46E5"/>
            </a:solidFill>
            <a:prstDash val="solid"/>
          </a:ln>
        </p:spPr>
      </p:sp>
      <p:sp>
        <p:nvSpPr>
          <p:cNvPr id="64" name="Text 62"/>
          <p:cNvSpPr/>
          <p:nvPr/>
        </p:nvSpPr>
        <p:spPr>
          <a:xfrm>
            <a:off x="457200" y="3575304"/>
            <a:ext cx="8321040" cy="310896"/>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  Every downstream task receives ALL upstream reports as context — each agent builds on the full knowledge of all previous agents</a:t>
            </a:r>
            <a:endParaRPr lang="en-US" sz="1000" dirty="0"/>
          </a:p>
        </p:txBody>
      </p:sp>
      <p:sp>
        <p:nvSpPr>
          <p:cNvPr id="65" name="Shape 63"/>
          <p:cNvSpPr/>
          <p:nvPr/>
        </p:nvSpPr>
        <p:spPr>
          <a:xfrm>
            <a:off x="320040" y="4005072"/>
            <a:ext cx="8503920" cy="914400"/>
          </a:xfrm>
          <a:prstGeom prst="rect">
            <a:avLst/>
          </a:prstGeom>
          <a:solidFill>
            <a:srgbClr val="E0F2FE"/>
          </a:solidFill>
          <a:ln w="12700">
            <a:solidFill>
              <a:srgbClr val="93C5FD"/>
            </a:solidFill>
            <a:prstDash val="solid"/>
          </a:ln>
        </p:spPr>
      </p:sp>
      <p:sp>
        <p:nvSpPr>
          <p:cNvPr id="66" name="Text 64"/>
          <p:cNvSpPr/>
          <p:nvPr/>
        </p:nvSpPr>
        <p:spPr>
          <a:xfrm>
            <a:off x="457200" y="4050792"/>
            <a:ext cx="8229600" cy="228600"/>
          </a:xfrm>
          <a:prstGeom prst="rect">
            <a:avLst/>
          </a:prstGeom>
          <a:noFill/>
          <a:ln/>
        </p:spPr>
        <p:txBody>
          <a:bodyPr wrap="square" lIns="0" tIns="0" rIns="0" bIns="0" rtlCol="0" anchor="ctr"/>
          <a:lstStyle/>
          <a:p>
            <a:pPr indent="0" marL="0">
              <a:buNone/>
            </a:pPr>
            <a:r>
              <a:rPr lang="en-US" sz="1000" b="1" dirty="0">
                <a:solidFill>
                  <a:srgbClr val="1E3A5F"/>
                </a:solidFill>
                <a:latin typeface="Calibri" pitchFamily="34" charset="0"/>
                <a:ea typeface="Calibri" pitchFamily="34" charset="-122"/>
                <a:cs typeface="Calibri" pitchFamily="34" charset="-120"/>
              </a:rPr>
              <a:t>Theory from the Instructor's Whiteboard:</a:t>
            </a:r>
            <a:endParaRPr lang="en-US" sz="1000" dirty="0"/>
          </a:p>
        </p:txBody>
      </p:sp>
      <p:sp>
        <p:nvSpPr>
          <p:cNvPr id="67" name="Text 65"/>
          <p:cNvSpPr/>
          <p:nvPr/>
        </p:nvSpPr>
        <p:spPr>
          <a:xfrm>
            <a:off x="457200" y="4279392"/>
            <a:ext cx="8321040" cy="594360"/>
          </a:xfrm>
          <a:prstGeom prst="rect">
            <a:avLst/>
          </a:prstGeom>
          <a:noFill/>
          <a:ln/>
        </p:spPr>
        <p:txBody>
          <a:bodyPr wrap="square" lIns="0" tIns="0" rIns="0" bIns="0" rtlCol="0" anchor="ctr"/>
          <a:lstStyle/>
          <a:p>
            <a:pPr indent="0" marL="0">
              <a:buNone/>
            </a:pPr>
            <a:r>
              <a:rPr lang="en-US" sz="880" b="1" dirty="0">
                <a:solidFill>
                  <a:srgbClr val="1E3A5F"/>
                </a:solidFill>
                <a:latin typeface="Calibri" pitchFamily="34" charset="0"/>
                <a:ea typeface="Calibri" pitchFamily="34" charset="-122"/>
                <a:cs typeface="Calibri" pitchFamily="34" charset="-120"/>
              </a:rPr>
              <a:t>• Agent ① (Market Research) </a:t>
            </a:r>
            <a:pPr indent="0" marL="0">
              <a:buNone/>
            </a:pPr>
            <a:r>
              <a:rPr lang="en-US" sz="880" dirty="0">
                <a:solidFill>
                  <a:srgbClr val="1E3A5F"/>
                </a:solidFill>
                <a:latin typeface="Calibri" pitchFamily="34" charset="0"/>
                <a:ea typeface="Calibri" pitchFamily="34" charset="-122"/>
                <a:cs typeface="Calibri" pitchFamily="34" charset="-120"/>
              </a:rPr>
              <a:t>researches viability, market gaps, growth trends → produces a detailed report
</a:t>
            </a:r>
            <a:pPr indent="0" marL="0">
              <a:buNone/>
            </a:pPr>
            <a:r>
              <a:rPr lang="en-US" sz="880" b="1" dirty="0">
                <a:solidFill>
                  <a:srgbClr val="1E3A5F"/>
                </a:solidFill>
                <a:latin typeface="Calibri" pitchFamily="34" charset="0"/>
                <a:ea typeface="Calibri" pitchFamily="34" charset="-122"/>
                <a:cs typeface="Calibri" pitchFamily="34" charset="-120"/>
              </a:rPr>
              <a:t>• Agent ② (Competitor Research) </a:t>
            </a:r>
            <a:pPr indent="0" marL="0">
              <a:buNone/>
            </a:pPr>
            <a:r>
              <a:rPr lang="en-US" sz="880" dirty="0">
                <a:solidFill>
                  <a:srgbClr val="1E3A5F"/>
                </a:solidFill>
                <a:latin typeface="Calibri" pitchFamily="34" charset="0"/>
                <a:ea typeface="Calibri" pitchFamily="34" charset="-122"/>
                <a:cs typeface="Calibri" pitchFamily="34" charset="-120"/>
              </a:rPr>
              <a:t>analyses product strengths, weaknesses, pricing, and identifies gaps
</a:t>
            </a:r>
            <a:pPr indent="0" marL="0">
              <a:buNone/>
            </a:pPr>
            <a:r>
              <a:rPr lang="en-US" sz="880" b="1" dirty="0">
                <a:solidFill>
                  <a:srgbClr val="1E3A5F"/>
                </a:solidFill>
                <a:latin typeface="Calibri" pitchFamily="34" charset="0"/>
                <a:ea typeface="Calibri" pitchFamily="34" charset="-122"/>
                <a:cs typeface="Calibri" pitchFamily="34" charset="-120"/>
              </a:rPr>
              <a:t>• Agent ③ (Customer Research) </a:t>
            </a:r>
            <a:pPr indent="0" marL="0">
              <a:buNone/>
            </a:pPr>
            <a:r>
              <a:rPr lang="en-US" sz="880" dirty="0">
                <a:solidFill>
                  <a:srgbClr val="1E3A5F"/>
                </a:solidFill>
                <a:latin typeface="Calibri" pitchFamily="34" charset="0"/>
                <a:ea typeface="Calibri" pitchFamily="34" charset="-122"/>
                <a:cs typeface="Calibri" pitchFamily="34" charset="-120"/>
              </a:rPr>
              <a:t>uncovers customer segments, needs, requirements, and unmet gaps
</a:t>
            </a:r>
            <a:pPr indent="0" marL="0">
              <a:buNone/>
            </a:pPr>
            <a:r>
              <a:rPr lang="en-US" sz="880" b="1" dirty="0">
                <a:solidFill>
                  <a:srgbClr val="1E3A5F"/>
                </a:solidFill>
                <a:latin typeface="Calibri" pitchFamily="34" charset="0"/>
                <a:ea typeface="Calibri" pitchFamily="34" charset="-122"/>
                <a:cs typeface="Calibri" pitchFamily="34" charset="-120"/>
              </a:rPr>
              <a:t>• Agent ④ (Product Features) </a:t>
            </a:r>
            <a:pPr indent="0" marL="0">
              <a:buNone/>
            </a:pPr>
            <a:r>
              <a:rPr lang="en-US" sz="880" dirty="0">
                <a:solidFill>
                  <a:srgbClr val="1E3A5F"/>
                </a:solidFill>
                <a:latin typeface="Calibri" pitchFamily="34" charset="0"/>
                <a:ea typeface="Calibri" pitchFamily="34" charset="-122"/>
                <a:cs typeface="Calibri" pitchFamily="34" charset="-120"/>
              </a:rPr>
              <a:t>defines product features, price points, and product strategy
</a:t>
            </a:r>
            <a:pPr indent="0" marL="0">
              <a:buNone/>
            </a:pPr>
            <a:r>
              <a:rPr lang="en-US" sz="880" b="1" dirty="0">
                <a:solidFill>
                  <a:srgbClr val="1E3A5F"/>
                </a:solidFill>
                <a:latin typeface="Calibri" pitchFamily="34" charset="0"/>
                <a:ea typeface="Calibri" pitchFamily="34" charset="-122"/>
                <a:cs typeface="Calibri" pitchFamily="34" charset="-120"/>
              </a:rPr>
              <a:t>• Agent ⑤ (Business Analyst) </a:t>
            </a:r>
            <a:pPr indent="0" marL="0">
              <a:buNone/>
            </a:pPr>
            <a:r>
              <a:rPr lang="en-US" sz="880" dirty="0">
                <a:solidFill>
                  <a:srgbClr val="1E3A5F"/>
                </a:solidFill>
                <a:latin typeface="Calibri" pitchFamily="34" charset="0"/>
                <a:ea typeface="Calibri" pitchFamily="34" charset="-122"/>
                <a:cs typeface="Calibri" pitchFamily="34" charset="-120"/>
              </a:rPr>
              <a:t>reads all 4 upstream reports → synthesises them into a single final output</a:t>
            </a:r>
            <a:endParaRPr lang="en-US" sz="8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Core Concept: Context — How Agents Share Knowledge</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From the instructor's whiteboard: Every downstream task has access to all upstream reports</a:t>
            </a:r>
            <a:endParaRPr lang="en-US" sz="1100" dirty="0"/>
          </a:p>
        </p:txBody>
      </p:sp>
      <p:sp>
        <p:nvSpPr>
          <p:cNvPr id="6" name="Text 4"/>
          <p:cNvSpPr/>
          <p:nvPr/>
        </p:nvSpPr>
        <p:spPr>
          <a:xfrm>
            <a:off x="365760" y="1115568"/>
            <a:ext cx="822960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What is Context in CrewAI?</a:t>
            </a:r>
            <a:endParaRPr lang="en-US" sz="1400" dirty="0"/>
          </a:p>
        </p:txBody>
      </p:sp>
      <p:sp>
        <p:nvSpPr>
          <p:cNvPr id="7" name="Text 5"/>
          <p:cNvSpPr/>
          <p:nvPr/>
        </p:nvSpPr>
        <p:spPr>
          <a:xfrm>
            <a:off x="365760" y="1426464"/>
            <a:ext cx="8412480" cy="47548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In crew.py each task has a  context=[]  parameter. You pass in previous task objects. CrewAI then gives the current agent the full text output of those earlier tasks before it starts working. This is how agents collaborate without real-time messaging.</a:t>
            </a:r>
            <a:endParaRPr lang="en-US" sz="1050" dirty="0"/>
          </a:p>
        </p:txBody>
      </p:sp>
      <p:sp>
        <p:nvSpPr>
          <p:cNvPr id="8" name="Shape 6"/>
          <p:cNvSpPr/>
          <p:nvPr/>
        </p:nvSpPr>
        <p:spPr>
          <a:xfrm>
            <a:off x="365760" y="1993392"/>
            <a:ext cx="3474720" cy="402336"/>
          </a:xfrm>
          <a:prstGeom prst="rect">
            <a:avLst/>
          </a:prstGeom>
          <a:solidFill>
            <a:srgbClr val="EDE9FE"/>
          </a:solidFill>
          <a:ln w="12700">
            <a:solidFill>
              <a:srgbClr val="4F46E5"/>
            </a:solidFill>
            <a:prstDash val="solid"/>
          </a:ln>
        </p:spPr>
      </p:sp>
      <p:sp>
        <p:nvSpPr>
          <p:cNvPr id="9" name="Shape 7"/>
          <p:cNvSpPr/>
          <p:nvPr/>
        </p:nvSpPr>
        <p:spPr>
          <a:xfrm>
            <a:off x="365760" y="1993392"/>
            <a:ext cx="54864" cy="402336"/>
          </a:xfrm>
          <a:prstGeom prst="rect">
            <a:avLst/>
          </a:prstGeom>
          <a:solidFill>
            <a:srgbClr val="4F46E5"/>
          </a:solidFill>
          <a:ln w="12700">
            <a:solidFill>
              <a:srgbClr val="4F46E5"/>
            </a:solidFill>
            <a:prstDash val="solid"/>
          </a:ln>
        </p:spPr>
      </p:sp>
      <p:sp>
        <p:nvSpPr>
          <p:cNvPr id="10" name="Text 8"/>
          <p:cNvSpPr/>
          <p:nvPr/>
        </p:nvSpPr>
        <p:spPr>
          <a:xfrm>
            <a:off x="502920" y="2084832"/>
            <a:ext cx="3291840" cy="228600"/>
          </a:xfrm>
          <a:prstGeom prst="rect">
            <a:avLst/>
          </a:prstGeom>
          <a:noFill/>
          <a:ln/>
        </p:spPr>
        <p:txBody>
          <a:bodyPr wrap="square" lIns="0" tIns="0" rIns="0" bIns="0" rtlCol="0" anchor="ctr"/>
          <a:lstStyle/>
          <a:p>
            <a:pPr indent="0" marL="0">
              <a:buNone/>
            </a:pPr>
            <a:r>
              <a:rPr lang="en-US" sz="900" b="1" dirty="0">
                <a:solidFill>
                  <a:srgbClr val="4F46E5"/>
                </a:solidFill>
                <a:latin typeface="Consolas" pitchFamily="34" charset="0"/>
                <a:ea typeface="Consolas" pitchFamily="34" charset="-122"/>
                <a:cs typeface="Consolas" pitchFamily="34" charset="-120"/>
              </a:rPr>
              <a:t>market_research_task</a:t>
            </a:r>
            <a:endParaRPr lang="en-US" sz="900" dirty="0"/>
          </a:p>
        </p:txBody>
      </p:sp>
      <p:sp>
        <p:nvSpPr>
          <p:cNvPr id="11" name="Shape 9"/>
          <p:cNvSpPr/>
          <p:nvPr/>
        </p:nvSpPr>
        <p:spPr>
          <a:xfrm>
            <a:off x="365760" y="2496312"/>
            <a:ext cx="3474720" cy="402336"/>
          </a:xfrm>
          <a:prstGeom prst="rect">
            <a:avLst/>
          </a:prstGeom>
          <a:solidFill>
            <a:srgbClr val="CCFBF1"/>
          </a:solidFill>
          <a:ln w="12700">
            <a:solidFill>
              <a:srgbClr val="0D9488"/>
            </a:solidFill>
            <a:prstDash val="solid"/>
          </a:ln>
        </p:spPr>
      </p:sp>
      <p:sp>
        <p:nvSpPr>
          <p:cNvPr id="12" name="Shape 10"/>
          <p:cNvSpPr/>
          <p:nvPr/>
        </p:nvSpPr>
        <p:spPr>
          <a:xfrm>
            <a:off x="365760" y="2496312"/>
            <a:ext cx="54864" cy="402336"/>
          </a:xfrm>
          <a:prstGeom prst="rect">
            <a:avLst/>
          </a:prstGeom>
          <a:solidFill>
            <a:srgbClr val="0D9488"/>
          </a:solidFill>
          <a:ln w="12700">
            <a:solidFill>
              <a:srgbClr val="0D9488"/>
            </a:solidFill>
            <a:prstDash val="solid"/>
          </a:ln>
        </p:spPr>
      </p:sp>
      <p:sp>
        <p:nvSpPr>
          <p:cNvPr id="13" name="Text 11"/>
          <p:cNvSpPr/>
          <p:nvPr/>
        </p:nvSpPr>
        <p:spPr>
          <a:xfrm>
            <a:off x="502920" y="2587752"/>
            <a:ext cx="3291840" cy="228600"/>
          </a:xfrm>
          <a:prstGeom prst="rect">
            <a:avLst/>
          </a:prstGeom>
          <a:noFill/>
          <a:ln/>
        </p:spPr>
        <p:txBody>
          <a:bodyPr wrap="square" lIns="0" tIns="0" rIns="0" bIns="0" rtlCol="0" anchor="ctr"/>
          <a:lstStyle/>
          <a:p>
            <a:pPr indent="0" marL="0">
              <a:buNone/>
            </a:pPr>
            <a:r>
              <a:rPr lang="en-US" sz="900" b="1" dirty="0">
                <a:solidFill>
                  <a:srgbClr val="0D9488"/>
                </a:solidFill>
                <a:latin typeface="Consolas" pitchFamily="34" charset="0"/>
                <a:ea typeface="Consolas" pitchFamily="34" charset="-122"/>
                <a:cs typeface="Consolas" pitchFamily="34" charset="-120"/>
              </a:rPr>
              <a:t>competitive_intelligence_task</a:t>
            </a:r>
            <a:endParaRPr lang="en-US" sz="900" dirty="0"/>
          </a:p>
        </p:txBody>
      </p:sp>
      <p:sp>
        <p:nvSpPr>
          <p:cNvPr id="14" name="Shape 12"/>
          <p:cNvSpPr/>
          <p:nvPr/>
        </p:nvSpPr>
        <p:spPr>
          <a:xfrm>
            <a:off x="365760" y="2999232"/>
            <a:ext cx="3474720" cy="402336"/>
          </a:xfrm>
          <a:prstGeom prst="rect">
            <a:avLst/>
          </a:prstGeom>
          <a:solidFill>
            <a:srgbClr val="E0F2FE"/>
          </a:solidFill>
          <a:ln w="12700">
            <a:solidFill>
              <a:srgbClr val="0EA5E9"/>
            </a:solidFill>
            <a:prstDash val="solid"/>
          </a:ln>
        </p:spPr>
      </p:sp>
      <p:sp>
        <p:nvSpPr>
          <p:cNvPr id="15" name="Shape 13"/>
          <p:cNvSpPr/>
          <p:nvPr/>
        </p:nvSpPr>
        <p:spPr>
          <a:xfrm>
            <a:off x="365760" y="2999232"/>
            <a:ext cx="54864" cy="402336"/>
          </a:xfrm>
          <a:prstGeom prst="rect">
            <a:avLst/>
          </a:prstGeom>
          <a:solidFill>
            <a:srgbClr val="0EA5E9"/>
          </a:solidFill>
          <a:ln w="12700">
            <a:solidFill>
              <a:srgbClr val="0EA5E9"/>
            </a:solidFill>
            <a:prstDash val="solid"/>
          </a:ln>
        </p:spPr>
      </p:sp>
      <p:sp>
        <p:nvSpPr>
          <p:cNvPr id="16" name="Text 14"/>
          <p:cNvSpPr/>
          <p:nvPr/>
        </p:nvSpPr>
        <p:spPr>
          <a:xfrm>
            <a:off x="502920" y="3090672"/>
            <a:ext cx="3291840" cy="228600"/>
          </a:xfrm>
          <a:prstGeom prst="rect">
            <a:avLst/>
          </a:prstGeom>
          <a:noFill/>
          <a:ln/>
        </p:spPr>
        <p:txBody>
          <a:bodyPr wrap="square" lIns="0" tIns="0" rIns="0" bIns="0" rtlCol="0" anchor="ctr"/>
          <a:lstStyle/>
          <a:p>
            <a:pPr indent="0" marL="0">
              <a:buNone/>
            </a:pPr>
            <a:r>
              <a:rPr lang="en-US" sz="900" b="1" dirty="0">
                <a:solidFill>
                  <a:srgbClr val="0EA5E9"/>
                </a:solidFill>
                <a:latin typeface="Consolas" pitchFamily="34" charset="0"/>
                <a:ea typeface="Consolas" pitchFamily="34" charset="-122"/>
                <a:cs typeface="Consolas" pitchFamily="34" charset="-120"/>
              </a:rPr>
              <a:t>customer_insights_task</a:t>
            </a:r>
            <a:endParaRPr lang="en-US" sz="900" dirty="0"/>
          </a:p>
        </p:txBody>
      </p:sp>
      <p:sp>
        <p:nvSpPr>
          <p:cNvPr id="17" name="Shape 15"/>
          <p:cNvSpPr/>
          <p:nvPr/>
        </p:nvSpPr>
        <p:spPr>
          <a:xfrm>
            <a:off x="365760" y="3502152"/>
            <a:ext cx="3474720" cy="402336"/>
          </a:xfrm>
          <a:prstGeom prst="rect">
            <a:avLst/>
          </a:prstGeom>
          <a:solidFill>
            <a:srgbClr val="FEF3C7"/>
          </a:solidFill>
          <a:ln w="12700">
            <a:solidFill>
              <a:srgbClr val="F59E0B"/>
            </a:solidFill>
            <a:prstDash val="solid"/>
          </a:ln>
        </p:spPr>
      </p:sp>
      <p:sp>
        <p:nvSpPr>
          <p:cNvPr id="18" name="Shape 16"/>
          <p:cNvSpPr/>
          <p:nvPr/>
        </p:nvSpPr>
        <p:spPr>
          <a:xfrm>
            <a:off x="365760" y="3502152"/>
            <a:ext cx="54864" cy="402336"/>
          </a:xfrm>
          <a:prstGeom prst="rect">
            <a:avLst/>
          </a:prstGeom>
          <a:solidFill>
            <a:srgbClr val="F59E0B"/>
          </a:solidFill>
          <a:ln w="12700">
            <a:solidFill>
              <a:srgbClr val="F59E0B"/>
            </a:solidFill>
            <a:prstDash val="solid"/>
          </a:ln>
        </p:spPr>
      </p:sp>
      <p:sp>
        <p:nvSpPr>
          <p:cNvPr id="19" name="Text 17"/>
          <p:cNvSpPr/>
          <p:nvPr/>
        </p:nvSpPr>
        <p:spPr>
          <a:xfrm>
            <a:off x="502920" y="3593592"/>
            <a:ext cx="3291840" cy="228600"/>
          </a:xfrm>
          <a:prstGeom prst="rect">
            <a:avLst/>
          </a:prstGeom>
          <a:noFill/>
          <a:ln/>
        </p:spPr>
        <p:txBody>
          <a:bodyPr wrap="square" lIns="0" tIns="0" rIns="0" bIns="0" rtlCol="0" anchor="ctr"/>
          <a:lstStyle/>
          <a:p>
            <a:pPr indent="0" marL="0">
              <a:buNone/>
            </a:pPr>
            <a:r>
              <a:rPr lang="en-US" sz="900" b="1" dirty="0">
                <a:solidFill>
                  <a:srgbClr val="F59E0B"/>
                </a:solidFill>
                <a:latin typeface="Consolas" pitchFamily="34" charset="0"/>
                <a:ea typeface="Consolas" pitchFamily="34" charset="-122"/>
                <a:cs typeface="Consolas" pitchFamily="34" charset="-120"/>
              </a:rPr>
              <a:t>product_strategy_task</a:t>
            </a:r>
            <a:endParaRPr lang="en-US" sz="900" dirty="0"/>
          </a:p>
        </p:txBody>
      </p:sp>
      <p:sp>
        <p:nvSpPr>
          <p:cNvPr id="20" name="Shape 18"/>
          <p:cNvSpPr/>
          <p:nvPr/>
        </p:nvSpPr>
        <p:spPr>
          <a:xfrm>
            <a:off x="3913632" y="1993392"/>
            <a:ext cx="109728" cy="2011680"/>
          </a:xfrm>
          <a:prstGeom prst="rect">
            <a:avLst/>
          </a:prstGeom>
          <a:solidFill>
            <a:srgbClr val="CBD5E1"/>
          </a:solidFill>
          <a:ln w="12700">
            <a:solidFill>
              <a:srgbClr val="CBD5E1"/>
            </a:solidFill>
            <a:prstDash val="solid"/>
          </a:ln>
        </p:spPr>
      </p:sp>
      <p:sp>
        <p:nvSpPr>
          <p:cNvPr id="21" name="Shape 19"/>
          <p:cNvSpPr/>
          <p:nvPr/>
        </p:nvSpPr>
        <p:spPr>
          <a:xfrm>
            <a:off x="3913632" y="2103120"/>
            <a:ext cx="822960" cy="73152"/>
          </a:xfrm>
          <a:prstGeom prst="rect">
            <a:avLst/>
          </a:prstGeom>
          <a:solidFill>
            <a:srgbClr val="CBD5E1"/>
          </a:solidFill>
          <a:ln w="12700">
            <a:solidFill>
              <a:srgbClr val="CBD5E1"/>
            </a:solidFill>
            <a:prstDash val="solid"/>
          </a:ln>
        </p:spPr>
      </p:sp>
      <p:sp>
        <p:nvSpPr>
          <p:cNvPr id="22" name="Shape 20"/>
          <p:cNvSpPr/>
          <p:nvPr/>
        </p:nvSpPr>
        <p:spPr>
          <a:xfrm>
            <a:off x="3913632" y="2514600"/>
            <a:ext cx="822960" cy="73152"/>
          </a:xfrm>
          <a:prstGeom prst="rect">
            <a:avLst/>
          </a:prstGeom>
          <a:solidFill>
            <a:srgbClr val="CBD5E1"/>
          </a:solidFill>
          <a:ln w="12700">
            <a:solidFill>
              <a:srgbClr val="CBD5E1"/>
            </a:solidFill>
            <a:prstDash val="solid"/>
          </a:ln>
        </p:spPr>
      </p:sp>
      <p:sp>
        <p:nvSpPr>
          <p:cNvPr id="23" name="Shape 21"/>
          <p:cNvSpPr/>
          <p:nvPr/>
        </p:nvSpPr>
        <p:spPr>
          <a:xfrm>
            <a:off x="3913632" y="2926080"/>
            <a:ext cx="822960" cy="73152"/>
          </a:xfrm>
          <a:prstGeom prst="rect">
            <a:avLst/>
          </a:prstGeom>
          <a:solidFill>
            <a:srgbClr val="CBD5E1"/>
          </a:solidFill>
          <a:ln w="12700">
            <a:solidFill>
              <a:srgbClr val="CBD5E1"/>
            </a:solidFill>
            <a:prstDash val="solid"/>
          </a:ln>
        </p:spPr>
      </p:sp>
      <p:sp>
        <p:nvSpPr>
          <p:cNvPr id="24" name="Shape 22"/>
          <p:cNvSpPr/>
          <p:nvPr/>
        </p:nvSpPr>
        <p:spPr>
          <a:xfrm>
            <a:off x="3913632" y="3337560"/>
            <a:ext cx="822960" cy="73152"/>
          </a:xfrm>
          <a:prstGeom prst="rect">
            <a:avLst/>
          </a:prstGeom>
          <a:solidFill>
            <a:srgbClr val="CBD5E1"/>
          </a:solidFill>
          <a:ln w="12700">
            <a:solidFill>
              <a:srgbClr val="CBD5E1"/>
            </a:solidFill>
            <a:prstDash val="solid"/>
          </a:ln>
        </p:spPr>
      </p:sp>
      <p:sp>
        <p:nvSpPr>
          <p:cNvPr id="25" name="Text 23"/>
          <p:cNvSpPr/>
          <p:nvPr/>
        </p:nvSpPr>
        <p:spPr>
          <a:xfrm>
            <a:off x="4736592" y="2834640"/>
            <a:ext cx="320040" cy="274320"/>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5102352" y="2560320"/>
            <a:ext cx="3721608" cy="1005840"/>
          </a:xfrm>
          <a:prstGeom prst="rect">
            <a:avLst/>
          </a:prstGeom>
          <a:solidFill>
            <a:srgbClr val="EDE9FE"/>
          </a:solidFill>
          <a:ln w="12700">
            <a:solidFill>
              <a:srgbClr val="7C3AED"/>
            </a:solidFill>
            <a:prstDash val="solid"/>
          </a:ln>
        </p:spPr>
      </p:sp>
      <p:sp>
        <p:nvSpPr>
          <p:cNvPr id="27" name="Shape 25"/>
          <p:cNvSpPr/>
          <p:nvPr/>
        </p:nvSpPr>
        <p:spPr>
          <a:xfrm>
            <a:off x="5102352" y="2560320"/>
            <a:ext cx="3721608" cy="274320"/>
          </a:xfrm>
          <a:prstGeom prst="rect">
            <a:avLst/>
          </a:prstGeom>
          <a:solidFill>
            <a:srgbClr val="7C3AED"/>
          </a:solidFill>
          <a:ln w="12700">
            <a:solidFill>
              <a:srgbClr val="7C3AED"/>
            </a:solidFill>
            <a:prstDash val="solid"/>
          </a:ln>
        </p:spPr>
      </p:sp>
      <p:sp>
        <p:nvSpPr>
          <p:cNvPr id="28" name="Text 26"/>
          <p:cNvSpPr/>
          <p:nvPr/>
        </p:nvSpPr>
        <p:spPr>
          <a:xfrm>
            <a:off x="5166360" y="2560320"/>
            <a:ext cx="3611880" cy="274320"/>
          </a:xfrm>
          <a:prstGeom prst="rect">
            <a:avLst/>
          </a:prstGeom>
          <a:noFill/>
          <a:ln/>
        </p:spPr>
        <p:txBody>
          <a:bodyPr wrap="square" lIns="0" tIns="0" rIns="0" bIns="0" rtlCol="0" anchor="ctr"/>
          <a:lstStyle/>
          <a:p>
            <a:pPr indent="0" marL="0">
              <a:buNone/>
            </a:pPr>
            <a:r>
              <a:rPr lang="en-US" sz="900" b="1" dirty="0">
                <a:solidFill>
                  <a:srgbClr val="FFFFFF"/>
                </a:solidFill>
                <a:latin typeface="Consolas" pitchFamily="34" charset="0"/>
                <a:ea typeface="Consolas" pitchFamily="34" charset="-122"/>
                <a:cs typeface="Consolas" pitchFamily="34" charset="-120"/>
              </a:rPr>
              <a:t>business_analyst_task</a:t>
            </a:r>
            <a:endParaRPr lang="en-US" sz="900" dirty="0"/>
          </a:p>
        </p:txBody>
      </p:sp>
      <p:sp>
        <p:nvSpPr>
          <p:cNvPr id="29" name="Text 27"/>
          <p:cNvSpPr/>
          <p:nvPr/>
        </p:nvSpPr>
        <p:spPr>
          <a:xfrm>
            <a:off x="5193792" y="2852928"/>
            <a:ext cx="3566160" cy="658368"/>
          </a:xfrm>
          <a:prstGeom prst="rect">
            <a:avLst/>
          </a:prstGeom>
          <a:noFill/>
          <a:ln/>
        </p:spPr>
        <p:txBody>
          <a:bodyPr wrap="square" lIns="0" tIns="0" rIns="0" bIns="0" rtlCol="0" anchor="ctr"/>
          <a:lstStyle/>
          <a:p>
            <a:pPr indent="0" marL="0">
              <a:buNone/>
            </a:pPr>
            <a:r>
              <a:rPr lang="en-US" sz="850" dirty="0">
                <a:solidFill>
                  <a:srgbClr val="7C3AED"/>
                </a:solidFill>
                <a:latin typeface="Consolas" pitchFamily="34" charset="0"/>
                <a:ea typeface="Consolas" pitchFamily="34" charset="-122"/>
                <a:cs typeface="Consolas" pitchFamily="34" charset="-120"/>
              </a:rPr>
              <a:t>context=[</a:t>
            </a:r>
            <a:endParaRPr lang="en-US" sz="850" dirty="0"/>
          </a:p>
          <a:p>
            <a:pPr indent="0" marL="0">
              <a:buNone/>
            </a:pPr>
            <a:r>
              <a:rPr lang="en-US" sz="850" dirty="0">
                <a:solidFill>
                  <a:srgbClr val="7C3AED"/>
                </a:solidFill>
                <a:latin typeface="Consolas" pitchFamily="34" charset="0"/>
                <a:ea typeface="Consolas" pitchFamily="34" charset="-122"/>
                <a:cs typeface="Consolas" pitchFamily="34" charset="-120"/>
              </a:rPr>
              <a:t>  market_research_task(),</a:t>
            </a:r>
            <a:endParaRPr lang="en-US" sz="850" dirty="0"/>
          </a:p>
          <a:p>
            <a:pPr indent="0" marL="0">
              <a:buNone/>
            </a:pPr>
            <a:r>
              <a:rPr lang="en-US" sz="850" dirty="0">
                <a:solidFill>
                  <a:srgbClr val="7C3AED"/>
                </a:solidFill>
                <a:latin typeface="Consolas" pitchFamily="34" charset="0"/>
                <a:ea typeface="Consolas" pitchFamily="34" charset="-122"/>
                <a:cs typeface="Consolas" pitchFamily="34" charset="-120"/>
              </a:rPr>
              <a:t>  competitive_intelligence_task(),</a:t>
            </a:r>
            <a:endParaRPr lang="en-US" sz="850" dirty="0"/>
          </a:p>
          <a:p>
            <a:pPr indent="0" marL="0">
              <a:buNone/>
            </a:pPr>
            <a:r>
              <a:rPr lang="en-US" sz="850" dirty="0">
                <a:solidFill>
                  <a:srgbClr val="7C3AED"/>
                </a:solidFill>
                <a:latin typeface="Consolas" pitchFamily="34" charset="0"/>
                <a:ea typeface="Consolas" pitchFamily="34" charset="-122"/>
                <a:cs typeface="Consolas" pitchFamily="34" charset="-120"/>
              </a:rPr>
              <a:t>  customer_insights_task(),</a:t>
            </a:r>
            <a:endParaRPr lang="en-US" sz="850" dirty="0"/>
          </a:p>
          <a:p>
            <a:pPr indent="0" marL="0">
              <a:buNone/>
            </a:pPr>
            <a:r>
              <a:rPr lang="en-US" sz="850" dirty="0">
                <a:solidFill>
                  <a:srgbClr val="7C3AED"/>
                </a:solidFill>
                <a:latin typeface="Consolas" pitchFamily="34" charset="0"/>
                <a:ea typeface="Consolas" pitchFamily="34" charset="-122"/>
                <a:cs typeface="Consolas" pitchFamily="34" charset="-120"/>
              </a:rPr>
              <a:t>  product_strategy_task()</a:t>
            </a:r>
            <a:endParaRPr lang="en-US" sz="850" dirty="0"/>
          </a:p>
          <a:p>
            <a:pPr indent="0" marL="0">
              <a:buNone/>
            </a:pPr>
            <a:r>
              <a:rPr lang="en-US" sz="850" dirty="0">
                <a:solidFill>
                  <a:srgbClr val="7C3AED"/>
                </a:solidFill>
                <a:latin typeface="Consolas" pitchFamily="34" charset="0"/>
                <a:ea typeface="Consolas" pitchFamily="34" charset="-122"/>
                <a:cs typeface="Consolas" pitchFamily="34" charset="-120"/>
              </a:rPr>
              <a:t>]</a:t>
            </a:r>
            <a:endParaRPr lang="en-US" sz="850" dirty="0"/>
          </a:p>
        </p:txBody>
      </p:sp>
      <p:sp>
        <p:nvSpPr>
          <p:cNvPr id="30" name="Text 28"/>
          <p:cNvSpPr/>
          <p:nvPr/>
        </p:nvSpPr>
        <p:spPr>
          <a:xfrm>
            <a:off x="365760" y="4041648"/>
            <a:ext cx="8229600" cy="22860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How it looks in crew.py:</a:t>
            </a:r>
            <a:endParaRPr lang="en-US" sz="1100" dirty="0"/>
          </a:p>
        </p:txBody>
      </p:sp>
      <p:sp>
        <p:nvSpPr>
          <p:cNvPr id="31" name="Shape 29"/>
          <p:cNvSpPr/>
          <p:nvPr/>
        </p:nvSpPr>
        <p:spPr>
          <a:xfrm>
            <a:off x="320040" y="4297680"/>
            <a:ext cx="8503920" cy="749808"/>
          </a:xfrm>
          <a:prstGeom prst="rect">
            <a:avLst/>
          </a:prstGeom>
          <a:solidFill>
            <a:srgbClr val="1E293B"/>
          </a:solidFill>
          <a:ln w="12700">
            <a:solidFill>
              <a:srgbClr val="334155"/>
            </a:solidFill>
            <a:prstDash val="solid"/>
          </a:ln>
        </p:spPr>
      </p:sp>
      <p:sp>
        <p:nvSpPr>
          <p:cNvPr id="32" name="Text 30"/>
          <p:cNvSpPr/>
          <p:nvPr/>
        </p:nvSpPr>
        <p:spPr>
          <a:xfrm>
            <a:off x="429768" y="4370832"/>
            <a:ext cx="8284464" cy="603504"/>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def business_analyst_task(self) -&gt;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return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config=self.tasks_config["business_analyst_task"],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context=[self.market_research_task(),          # passes output of task 1</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self.competitive_intelligence_task(),  # passes output of task 2</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self.customer_insights_task(),         # passes output of task 3</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self.product_strategy_task()],         # passes output of task 4</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output_file="reports/report.md"</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Agent ①  — Market Research Analyst</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What this agent does and what it produces</a:t>
            </a:r>
            <a:endParaRPr lang="en-US" sz="1100" dirty="0"/>
          </a:p>
        </p:txBody>
      </p:sp>
      <p:sp>
        <p:nvSpPr>
          <p:cNvPr id="6" name="Shape 4"/>
          <p:cNvSpPr/>
          <p:nvPr/>
        </p:nvSpPr>
        <p:spPr>
          <a:xfrm>
            <a:off x="320040" y="1115568"/>
            <a:ext cx="4160520" cy="2880360"/>
          </a:xfrm>
          <a:prstGeom prst="rect">
            <a:avLst/>
          </a:prstGeom>
          <a:solidFill>
            <a:srgbClr val="EDE9FE"/>
          </a:solidFill>
          <a:ln w="12700">
            <a:solidFill>
              <a:srgbClr val="7C3AED"/>
            </a:solidFill>
            <a:prstDash val="solid"/>
          </a:ln>
        </p:spPr>
      </p:sp>
      <p:sp>
        <p:nvSpPr>
          <p:cNvPr id="7" name="Shape 5"/>
          <p:cNvSpPr/>
          <p:nvPr/>
        </p:nvSpPr>
        <p:spPr>
          <a:xfrm>
            <a:off x="320040" y="1115568"/>
            <a:ext cx="4160520" cy="292608"/>
          </a:xfrm>
          <a:prstGeom prst="rect">
            <a:avLst/>
          </a:prstGeom>
          <a:solidFill>
            <a:srgbClr val="7C3AED"/>
          </a:solidFill>
          <a:ln w="12700">
            <a:solidFill>
              <a:srgbClr val="7C3AED"/>
            </a:solidFill>
            <a:prstDash val="solid"/>
          </a:ln>
        </p:spPr>
      </p:sp>
      <p:sp>
        <p:nvSpPr>
          <p:cNvPr id="8" name="Text 6"/>
          <p:cNvSpPr/>
          <p:nvPr/>
        </p:nvSpPr>
        <p:spPr>
          <a:xfrm>
            <a:off x="411480" y="1115568"/>
            <a:ext cx="397764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Instructor's Whiteboard Notes</a:t>
            </a:r>
            <a:endParaRPr lang="en-US" sz="1000" dirty="0"/>
          </a:p>
        </p:txBody>
      </p:sp>
      <p:sp>
        <p:nvSpPr>
          <p:cNvPr id="9" name="Shape 7"/>
          <p:cNvSpPr/>
          <p:nvPr/>
        </p:nvSpPr>
        <p:spPr>
          <a:xfrm>
            <a:off x="438912" y="1508760"/>
            <a:ext cx="201168" cy="201168"/>
          </a:xfrm>
          <a:prstGeom prst="ellipse">
            <a:avLst/>
          </a:prstGeom>
          <a:solidFill>
            <a:srgbClr val="7C3AED"/>
          </a:solidFill>
          <a:ln w="12700">
            <a:solidFill>
              <a:srgbClr val="7C3AED"/>
            </a:solidFill>
            <a:prstDash val="solid"/>
          </a:ln>
        </p:spPr>
      </p:sp>
      <p:sp>
        <p:nvSpPr>
          <p:cNvPr id="10" name="Text 8"/>
          <p:cNvSpPr/>
          <p:nvPr/>
        </p:nvSpPr>
        <p:spPr>
          <a:xfrm>
            <a:off x="438912" y="149047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1" name="Text 9"/>
          <p:cNvSpPr/>
          <p:nvPr/>
        </p:nvSpPr>
        <p:spPr>
          <a:xfrm>
            <a:off x="713232" y="1490472"/>
            <a:ext cx="3657600" cy="34747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Agent analyses if the product idea is VIABLE in the current market</a:t>
            </a:r>
            <a:endParaRPr lang="en-US" sz="950" dirty="0"/>
          </a:p>
        </p:txBody>
      </p:sp>
      <p:sp>
        <p:nvSpPr>
          <p:cNvPr id="12" name="Shape 10"/>
          <p:cNvSpPr/>
          <p:nvPr/>
        </p:nvSpPr>
        <p:spPr>
          <a:xfrm>
            <a:off x="438912" y="1956816"/>
            <a:ext cx="201168" cy="201168"/>
          </a:xfrm>
          <a:prstGeom prst="ellipse">
            <a:avLst/>
          </a:prstGeom>
          <a:solidFill>
            <a:srgbClr val="7C3AED"/>
          </a:solidFill>
          <a:ln w="12700">
            <a:solidFill>
              <a:srgbClr val="7C3AED"/>
            </a:solidFill>
            <a:prstDash val="solid"/>
          </a:ln>
        </p:spPr>
      </p:sp>
      <p:sp>
        <p:nvSpPr>
          <p:cNvPr id="13" name="Text 11"/>
          <p:cNvSpPr/>
          <p:nvPr/>
        </p:nvSpPr>
        <p:spPr>
          <a:xfrm>
            <a:off x="438912" y="193852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4" name="Text 12"/>
          <p:cNvSpPr/>
          <p:nvPr/>
        </p:nvSpPr>
        <p:spPr>
          <a:xfrm>
            <a:off x="713232" y="1938528"/>
            <a:ext cx="3657600" cy="34747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Identifies GAPS — what is missing in the market right now</a:t>
            </a:r>
            <a:endParaRPr lang="en-US" sz="950" dirty="0"/>
          </a:p>
        </p:txBody>
      </p:sp>
      <p:sp>
        <p:nvSpPr>
          <p:cNvPr id="15" name="Shape 13"/>
          <p:cNvSpPr/>
          <p:nvPr/>
        </p:nvSpPr>
        <p:spPr>
          <a:xfrm>
            <a:off x="438912" y="2404872"/>
            <a:ext cx="201168" cy="201168"/>
          </a:xfrm>
          <a:prstGeom prst="ellipse">
            <a:avLst/>
          </a:prstGeom>
          <a:solidFill>
            <a:srgbClr val="7C3AED"/>
          </a:solidFill>
          <a:ln w="12700">
            <a:solidFill>
              <a:srgbClr val="7C3AED"/>
            </a:solidFill>
            <a:prstDash val="solid"/>
          </a:ln>
        </p:spPr>
      </p:sp>
      <p:sp>
        <p:nvSpPr>
          <p:cNvPr id="16" name="Text 14"/>
          <p:cNvSpPr/>
          <p:nvPr/>
        </p:nvSpPr>
        <p:spPr>
          <a:xfrm>
            <a:off x="438912" y="238658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7" name="Text 15"/>
          <p:cNvSpPr/>
          <p:nvPr/>
        </p:nvSpPr>
        <p:spPr>
          <a:xfrm>
            <a:off x="713232" y="2386584"/>
            <a:ext cx="3657600" cy="34747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Analyses GROWTH TRENDS — where the market is heading</a:t>
            </a:r>
            <a:endParaRPr lang="en-US" sz="950" dirty="0"/>
          </a:p>
        </p:txBody>
      </p:sp>
      <p:sp>
        <p:nvSpPr>
          <p:cNvPr id="18" name="Shape 16"/>
          <p:cNvSpPr/>
          <p:nvPr/>
        </p:nvSpPr>
        <p:spPr>
          <a:xfrm>
            <a:off x="438912" y="2852928"/>
            <a:ext cx="201168" cy="201168"/>
          </a:xfrm>
          <a:prstGeom prst="ellipse">
            <a:avLst/>
          </a:prstGeom>
          <a:solidFill>
            <a:srgbClr val="7C3AED"/>
          </a:solidFill>
          <a:ln w="12700">
            <a:solidFill>
              <a:srgbClr val="7C3AED"/>
            </a:solidFill>
            <a:prstDash val="solid"/>
          </a:ln>
        </p:spPr>
      </p:sp>
      <p:sp>
        <p:nvSpPr>
          <p:cNvPr id="19" name="Text 17"/>
          <p:cNvSpPr/>
          <p:nvPr/>
        </p:nvSpPr>
        <p:spPr>
          <a:xfrm>
            <a:off x="438912" y="2834640"/>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0" name="Text 18"/>
          <p:cNvSpPr/>
          <p:nvPr/>
        </p:nvSpPr>
        <p:spPr>
          <a:xfrm>
            <a:off x="713232" y="2834640"/>
            <a:ext cx="3657600" cy="34747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All findings compiled into a DETAILED REPORT</a:t>
            </a:r>
            <a:endParaRPr lang="en-US" sz="950" dirty="0"/>
          </a:p>
        </p:txBody>
      </p:sp>
      <p:sp>
        <p:nvSpPr>
          <p:cNvPr id="21" name="Shape 19"/>
          <p:cNvSpPr/>
          <p:nvPr/>
        </p:nvSpPr>
        <p:spPr>
          <a:xfrm>
            <a:off x="438912" y="3300984"/>
            <a:ext cx="201168" cy="201168"/>
          </a:xfrm>
          <a:prstGeom prst="ellipse">
            <a:avLst/>
          </a:prstGeom>
          <a:solidFill>
            <a:srgbClr val="7C3AED"/>
          </a:solidFill>
          <a:ln w="12700">
            <a:solidFill>
              <a:srgbClr val="7C3AED"/>
            </a:solidFill>
            <a:prstDash val="solid"/>
          </a:ln>
        </p:spPr>
      </p:sp>
      <p:sp>
        <p:nvSpPr>
          <p:cNvPr id="22" name="Text 20"/>
          <p:cNvSpPr/>
          <p:nvPr/>
        </p:nvSpPr>
        <p:spPr>
          <a:xfrm>
            <a:off x="438912" y="328269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3" name="Text 21"/>
          <p:cNvSpPr/>
          <p:nvPr/>
        </p:nvSpPr>
        <p:spPr>
          <a:xfrm>
            <a:off x="713232" y="3282696"/>
            <a:ext cx="3657600" cy="347472"/>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This report is then passed as context to all subsequent agents</a:t>
            </a:r>
            <a:endParaRPr lang="en-US" sz="950" dirty="0"/>
          </a:p>
        </p:txBody>
      </p:sp>
      <p:sp>
        <p:nvSpPr>
          <p:cNvPr id="24" name="Shape 22"/>
          <p:cNvSpPr/>
          <p:nvPr/>
        </p:nvSpPr>
        <p:spPr>
          <a:xfrm>
            <a:off x="4663440" y="1115568"/>
            <a:ext cx="4160520" cy="2880360"/>
          </a:xfrm>
          <a:prstGeom prst="rect">
            <a:avLst/>
          </a:prstGeom>
          <a:solidFill>
            <a:srgbClr val="F8FAFC"/>
          </a:solidFill>
          <a:ln w="12700">
            <a:solidFill>
              <a:srgbClr val="CBD5E1"/>
            </a:solidFill>
            <a:prstDash val="solid"/>
          </a:ln>
        </p:spPr>
      </p:sp>
      <p:sp>
        <p:nvSpPr>
          <p:cNvPr id="25" name="Shape 23"/>
          <p:cNvSpPr/>
          <p:nvPr/>
        </p:nvSpPr>
        <p:spPr>
          <a:xfrm>
            <a:off x="4663440" y="1115568"/>
            <a:ext cx="4160520" cy="292608"/>
          </a:xfrm>
          <a:prstGeom prst="rect">
            <a:avLst/>
          </a:prstGeom>
          <a:solidFill>
            <a:srgbClr val="0F172A"/>
          </a:solidFill>
          <a:ln w="12700">
            <a:solidFill>
              <a:srgbClr val="0F172A"/>
            </a:solidFill>
            <a:prstDash val="solid"/>
          </a:ln>
        </p:spPr>
      </p:sp>
      <p:sp>
        <p:nvSpPr>
          <p:cNvPr id="26" name="Text 24"/>
          <p:cNvSpPr/>
          <p:nvPr/>
        </p:nvSpPr>
        <p:spPr>
          <a:xfrm>
            <a:off x="4754880" y="1115568"/>
            <a:ext cx="397764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agents.yaml configuration</a:t>
            </a:r>
            <a:endParaRPr lang="en-US" sz="1000" dirty="0"/>
          </a:p>
        </p:txBody>
      </p:sp>
      <p:sp>
        <p:nvSpPr>
          <p:cNvPr id="27" name="Shape 25"/>
          <p:cNvSpPr/>
          <p:nvPr/>
        </p:nvSpPr>
        <p:spPr>
          <a:xfrm>
            <a:off x="4736592" y="1463040"/>
            <a:ext cx="4005072" cy="548640"/>
          </a:xfrm>
          <a:prstGeom prst="rect">
            <a:avLst/>
          </a:prstGeom>
          <a:solidFill>
            <a:srgbClr val="F8FAFC"/>
          </a:solidFill>
          <a:ln w="12700">
            <a:solidFill>
              <a:srgbClr val="E2E8F0"/>
            </a:solidFill>
            <a:prstDash val="solid"/>
          </a:ln>
        </p:spPr>
      </p:sp>
      <p:sp>
        <p:nvSpPr>
          <p:cNvPr id="28" name="Text 26"/>
          <p:cNvSpPr/>
          <p:nvPr/>
        </p:nvSpPr>
        <p:spPr>
          <a:xfrm>
            <a:off x="4828032" y="1499616"/>
            <a:ext cx="3794760" cy="219456"/>
          </a:xfrm>
          <a:prstGeom prst="rect">
            <a:avLst/>
          </a:prstGeom>
          <a:noFill/>
          <a:ln/>
        </p:spPr>
        <p:txBody>
          <a:bodyPr wrap="square" lIns="0" tIns="0" rIns="0" bIns="0" rtlCol="0" anchor="ctr"/>
          <a:lstStyle/>
          <a:p>
            <a:pPr indent="0" marL="0">
              <a:buNone/>
            </a:pPr>
            <a:r>
              <a:rPr lang="en-US" sz="900" b="1" dirty="0">
                <a:solidFill>
                  <a:srgbClr val="4F46E5"/>
                </a:solidFill>
                <a:latin typeface="Consolas" pitchFamily="34" charset="0"/>
                <a:ea typeface="Consolas" pitchFamily="34" charset="-122"/>
                <a:cs typeface="Consolas" pitchFamily="34" charset="-120"/>
              </a:rPr>
              <a:t>role:  Market Research Specialist</a:t>
            </a:r>
            <a:endParaRPr lang="en-US" sz="900" dirty="0"/>
          </a:p>
        </p:txBody>
      </p:sp>
      <p:sp>
        <p:nvSpPr>
          <p:cNvPr id="29" name="Text 27"/>
          <p:cNvSpPr/>
          <p:nvPr/>
        </p:nvSpPr>
        <p:spPr>
          <a:xfrm>
            <a:off x="4828032" y="1737360"/>
            <a:ext cx="379476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The job title — tells the LLM what persona to adopt</a:t>
            </a:r>
            <a:endParaRPr lang="en-US" sz="900" dirty="0"/>
          </a:p>
        </p:txBody>
      </p:sp>
      <p:sp>
        <p:nvSpPr>
          <p:cNvPr id="30" name="Shape 28"/>
          <p:cNvSpPr/>
          <p:nvPr/>
        </p:nvSpPr>
        <p:spPr>
          <a:xfrm>
            <a:off x="4736592" y="2084832"/>
            <a:ext cx="4005072" cy="548640"/>
          </a:xfrm>
          <a:prstGeom prst="rect">
            <a:avLst/>
          </a:prstGeom>
          <a:solidFill>
            <a:srgbClr val="F8FAFC"/>
          </a:solidFill>
          <a:ln w="12700">
            <a:solidFill>
              <a:srgbClr val="E2E8F0"/>
            </a:solidFill>
            <a:prstDash val="solid"/>
          </a:ln>
        </p:spPr>
      </p:sp>
      <p:sp>
        <p:nvSpPr>
          <p:cNvPr id="31" name="Text 29"/>
          <p:cNvSpPr/>
          <p:nvPr/>
        </p:nvSpPr>
        <p:spPr>
          <a:xfrm>
            <a:off x="4828032" y="2121408"/>
            <a:ext cx="3794760" cy="219456"/>
          </a:xfrm>
          <a:prstGeom prst="rect">
            <a:avLst/>
          </a:prstGeom>
          <a:noFill/>
          <a:ln/>
        </p:spPr>
        <p:txBody>
          <a:bodyPr wrap="square" lIns="0" tIns="0" rIns="0" bIns="0" rtlCol="0" anchor="ctr"/>
          <a:lstStyle/>
          <a:p>
            <a:pPr indent="0" marL="0">
              <a:buNone/>
            </a:pPr>
            <a:r>
              <a:rPr lang="en-US" sz="900" b="1" dirty="0">
                <a:solidFill>
                  <a:srgbClr val="4F46E5"/>
                </a:solidFill>
                <a:latin typeface="Consolas" pitchFamily="34" charset="0"/>
                <a:ea typeface="Consolas" pitchFamily="34" charset="-122"/>
                <a:cs typeface="Consolas" pitchFamily="34" charset="-120"/>
              </a:rPr>
              <a:t>goal:  Conduct comprehensive market analysis...</a:t>
            </a:r>
            <a:endParaRPr lang="en-US" sz="900" dirty="0"/>
          </a:p>
        </p:txBody>
      </p:sp>
      <p:sp>
        <p:nvSpPr>
          <p:cNvPr id="32" name="Text 30"/>
          <p:cNvSpPr/>
          <p:nvPr/>
        </p:nvSpPr>
        <p:spPr>
          <a:xfrm>
            <a:off x="4828032" y="2359152"/>
            <a:ext cx="379476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What the agent is trying to achieve in this crew</a:t>
            </a:r>
            <a:endParaRPr lang="en-US" sz="900" dirty="0"/>
          </a:p>
        </p:txBody>
      </p:sp>
      <p:sp>
        <p:nvSpPr>
          <p:cNvPr id="33" name="Shape 31"/>
          <p:cNvSpPr/>
          <p:nvPr/>
        </p:nvSpPr>
        <p:spPr>
          <a:xfrm>
            <a:off x="4736592" y="2706624"/>
            <a:ext cx="4005072" cy="548640"/>
          </a:xfrm>
          <a:prstGeom prst="rect">
            <a:avLst/>
          </a:prstGeom>
          <a:solidFill>
            <a:srgbClr val="F8FAFC"/>
          </a:solidFill>
          <a:ln w="12700">
            <a:solidFill>
              <a:srgbClr val="E2E8F0"/>
            </a:solidFill>
            <a:prstDash val="solid"/>
          </a:ln>
        </p:spPr>
      </p:sp>
      <p:sp>
        <p:nvSpPr>
          <p:cNvPr id="34" name="Text 32"/>
          <p:cNvSpPr/>
          <p:nvPr/>
        </p:nvSpPr>
        <p:spPr>
          <a:xfrm>
            <a:off x="4828032" y="2743200"/>
            <a:ext cx="3794760" cy="219456"/>
          </a:xfrm>
          <a:prstGeom prst="rect">
            <a:avLst/>
          </a:prstGeom>
          <a:noFill/>
          <a:ln/>
        </p:spPr>
        <p:txBody>
          <a:bodyPr wrap="square" lIns="0" tIns="0" rIns="0" bIns="0" rtlCol="0" anchor="ctr"/>
          <a:lstStyle/>
          <a:p>
            <a:pPr indent="0" marL="0">
              <a:buNone/>
            </a:pPr>
            <a:r>
              <a:rPr lang="en-US" sz="900" b="1" dirty="0">
                <a:solidFill>
                  <a:srgbClr val="4F46E5"/>
                </a:solidFill>
                <a:latin typeface="Consolas" pitchFamily="34" charset="0"/>
                <a:ea typeface="Consolas" pitchFamily="34" charset="-122"/>
                <a:cs typeface="Consolas" pitchFamily="34" charset="-120"/>
              </a:rPr>
              <a:t>backstory:  15+ yrs experience in AI sector...</a:t>
            </a:r>
            <a:endParaRPr lang="en-US" sz="900" dirty="0"/>
          </a:p>
        </p:txBody>
      </p:sp>
      <p:sp>
        <p:nvSpPr>
          <p:cNvPr id="35" name="Text 33"/>
          <p:cNvSpPr/>
          <p:nvPr/>
        </p:nvSpPr>
        <p:spPr>
          <a:xfrm>
            <a:off x="4828032" y="2980944"/>
            <a:ext cx="379476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Gives the LLM deep context and expertise to draw from</a:t>
            </a:r>
            <a:endParaRPr lang="en-US" sz="900" dirty="0"/>
          </a:p>
        </p:txBody>
      </p:sp>
      <p:sp>
        <p:nvSpPr>
          <p:cNvPr id="36" name="Shape 34"/>
          <p:cNvSpPr/>
          <p:nvPr/>
        </p:nvSpPr>
        <p:spPr>
          <a:xfrm>
            <a:off x="4736592" y="3328416"/>
            <a:ext cx="4005072" cy="548640"/>
          </a:xfrm>
          <a:prstGeom prst="rect">
            <a:avLst/>
          </a:prstGeom>
          <a:solidFill>
            <a:srgbClr val="F8FAFC"/>
          </a:solidFill>
          <a:ln w="12700">
            <a:solidFill>
              <a:srgbClr val="E2E8F0"/>
            </a:solidFill>
            <a:prstDash val="solid"/>
          </a:ln>
        </p:spPr>
      </p:sp>
      <p:sp>
        <p:nvSpPr>
          <p:cNvPr id="37" name="Text 35"/>
          <p:cNvSpPr/>
          <p:nvPr/>
        </p:nvSpPr>
        <p:spPr>
          <a:xfrm>
            <a:off x="4828032" y="3364992"/>
            <a:ext cx="3794760" cy="219456"/>
          </a:xfrm>
          <a:prstGeom prst="rect">
            <a:avLst/>
          </a:prstGeom>
          <a:noFill/>
          <a:ln/>
        </p:spPr>
        <p:txBody>
          <a:bodyPr wrap="square" lIns="0" tIns="0" rIns="0" bIns="0" rtlCol="0" anchor="ctr"/>
          <a:lstStyle/>
          <a:p>
            <a:pPr indent="0" marL="0">
              <a:buNone/>
            </a:pPr>
            <a:r>
              <a:rPr lang="en-US" sz="900" b="1" dirty="0">
                <a:solidFill>
                  <a:srgbClr val="4F46E5"/>
                </a:solidFill>
                <a:latin typeface="Consolas" pitchFamily="34" charset="0"/>
                <a:ea typeface="Consolas" pitchFamily="34" charset="-122"/>
                <a:cs typeface="Consolas" pitchFamily="34" charset="-120"/>
              </a:rPr>
              <a:t>tools:  [SerperDevTool, ScrapeWebsiteTool]</a:t>
            </a:r>
            <a:endParaRPr lang="en-US" sz="900" dirty="0"/>
          </a:p>
        </p:txBody>
      </p:sp>
      <p:sp>
        <p:nvSpPr>
          <p:cNvPr id="38" name="Text 36"/>
          <p:cNvSpPr/>
          <p:nvPr/>
        </p:nvSpPr>
        <p:spPr>
          <a:xfrm>
            <a:off x="4828032" y="3602736"/>
            <a:ext cx="3794760" cy="219456"/>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Web search + scraping so the agent can find live data</a:t>
            </a:r>
            <a:endParaRPr lang="en-US" sz="900" dirty="0"/>
          </a:p>
        </p:txBody>
      </p:sp>
      <p:sp>
        <p:nvSpPr>
          <p:cNvPr id="39" name="Shape 37"/>
          <p:cNvSpPr/>
          <p:nvPr/>
        </p:nvSpPr>
        <p:spPr>
          <a:xfrm>
            <a:off x="320040" y="4069080"/>
            <a:ext cx="8503920" cy="502920"/>
          </a:xfrm>
          <a:prstGeom prst="rect">
            <a:avLst/>
          </a:prstGeom>
          <a:solidFill>
            <a:srgbClr val="DCFCE7"/>
          </a:solidFill>
          <a:ln w="12700">
            <a:solidFill>
              <a:srgbClr val="86EFAC"/>
            </a:solidFill>
            <a:prstDash val="solid"/>
          </a:ln>
        </p:spPr>
      </p:sp>
      <p:sp>
        <p:nvSpPr>
          <p:cNvPr id="40" name="Text 38"/>
          <p:cNvSpPr/>
          <p:nvPr/>
        </p:nvSpPr>
        <p:spPr>
          <a:xfrm>
            <a:off x="457200" y="4096512"/>
            <a:ext cx="2286000" cy="256032"/>
          </a:xfrm>
          <a:prstGeom prst="rect">
            <a:avLst/>
          </a:prstGeom>
          <a:noFill/>
          <a:ln/>
        </p:spPr>
        <p:txBody>
          <a:bodyPr wrap="square" lIns="0" tIns="0" rIns="0" bIns="0" rtlCol="0" anchor="ctr"/>
          <a:lstStyle/>
          <a:p>
            <a:pPr indent="0" marL="0">
              <a:buNone/>
            </a:pPr>
            <a:r>
              <a:rPr lang="en-US" sz="1000" b="1" dirty="0">
                <a:solidFill>
                  <a:srgbClr val="166534"/>
                </a:solidFill>
                <a:latin typeface="Calibri" pitchFamily="34" charset="0"/>
                <a:ea typeface="Calibri" pitchFamily="34" charset="-122"/>
                <a:cs typeface="Calibri" pitchFamily="34" charset="-120"/>
              </a:rPr>
              <a:t>📤  Output of this agent:</a:t>
            </a:r>
            <a:endParaRPr lang="en-US" sz="1000" dirty="0"/>
          </a:p>
        </p:txBody>
      </p:sp>
      <p:sp>
        <p:nvSpPr>
          <p:cNvPr id="41" name="Text 39"/>
          <p:cNvSpPr/>
          <p:nvPr/>
        </p:nvSpPr>
        <p:spPr>
          <a:xfrm>
            <a:off x="2743200" y="4096512"/>
            <a:ext cx="5943600" cy="384048"/>
          </a:xfrm>
          <a:prstGeom prst="rect">
            <a:avLst/>
          </a:prstGeom>
          <a:noFill/>
          <a:ln/>
        </p:spPr>
        <p:txBody>
          <a:bodyPr wrap="square" lIns="0" tIns="0" rIns="0" bIns="0" rtlCol="0" anchor="ctr"/>
          <a:lstStyle/>
          <a:p>
            <a:pPr indent="0" marL="0">
              <a:buNone/>
            </a:pPr>
            <a:r>
              <a:rPr lang="en-US" sz="950" dirty="0">
                <a:solidFill>
                  <a:srgbClr val="166534"/>
                </a:solidFill>
                <a:latin typeface="Calibri" pitchFamily="34" charset="0"/>
                <a:ea typeface="Calibri" pitchFamily="34" charset="-122"/>
                <a:cs typeface="Calibri" pitchFamily="34" charset="-120"/>
              </a:rPr>
              <a:t>A 1500–2000 word market research report with TAM/SAM/SOM sizing, growth projections, regulatory landscape, technology readiness assessment, and all data sources cited.</a:t>
            </a:r>
            <a:endParaRPr lang="en-US" sz="950" dirty="0"/>
          </a:p>
        </p:txBody>
      </p:sp>
      <p:sp>
        <p:nvSpPr>
          <p:cNvPr id="42" name="Shape 40"/>
          <p:cNvSpPr/>
          <p:nvPr/>
        </p:nvSpPr>
        <p:spPr>
          <a:xfrm>
            <a:off x="320040" y="4663440"/>
            <a:ext cx="8503920" cy="411480"/>
          </a:xfrm>
          <a:prstGeom prst="rect">
            <a:avLst/>
          </a:prstGeom>
          <a:solidFill>
            <a:srgbClr val="FEF3C7"/>
          </a:solidFill>
          <a:ln w="12700">
            <a:solidFill>
              <a:srgbClr val="93C5FD"/>
            </a:solidFill>
            <a:prstDash val="solid"/>
          </a:ln>
        </p:spPr>
      </p:sp>
      <p:sp>
        <p:nvSpPr>
          <p:cNvPr id="43" name="Text 41"/>
          <p:cNvSpPr/>
          <p:nvPr/>
        </p:nvSpPr>
        <p:spPr>
          <a:xfrm>
            <a:off x="411480" y="4709160"/>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Each agent is configured in agents.yaml and wired to tools in crew.py. The LLM uses the role + backstory to answer as that expert.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Agent ②  — Competitive Intelligence Analyst</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Researches all competitors and identifies market gaps</a:t>
            </a:r>
            <a:endParaRPr lang="en-US" sz="1100" dirty="0"/>
          </a:p>
        </p:txBody>
      </p:sp>
      <p:sp>
        <p:nvSpPr>
          <p:cNvPr id="6" name="Shape 4"/>
          <p:cNvSpPr/>
          <p:nvPr/>
        </p:nvSpPr>
        <p:spPr>
          <a:xfrm>
            <a:off x="320040" y="1115568"/>
            <a:ext cx="4160520" cy="2880360"/>
          </a:xfrm>
          <a:prstGeom prst="rect">
            <a:avLst/>
          </a:prstGeom>
          <a:solidFill>
            <a:srgbClr val="CCFBF1"/>
          </a:solidFill>
          <a:ln w="12700">
            <a:solidFill>
              <a:srgbClr val="0D9488"/>
            </a:solidFill>
            <a:prstDash val="solid"/>
          </a:ln>
        </p:spPr>
      </p:sp>
      <p:sp>
        <p:nvSpPr>
          <p:cNvPr id="7" name="Shape 5"/>
          <p:cNvSpPr/>
          <p:nvPr/>
        </p:nvSpPr>
        <p:spPr>
          <a:xfrm>
            <a:off x="320040" y="1115568"/>
            <a:ext cx="4160520" cy="292608"/>
          </a:xfrm>
          <a:prstGeom prst="rect">
            <a:avLst/>
          </a:prstGeom>
          <a:solidFill>
            <a:srgbClr val="0D9488"/>
          </a:solidFill>
          <a:ln w="12700">
            <a:solidFill>
              <a:srgbClr val="0D9488"/>
            </a:solidFill>
            <a:prstDash val="solid"/>
          </a:ln>
        </p:spPr>
      </p:sp>
      <p:sp>
        <p:nvSpPr>
          <p:cNvPr id="8" name="Text 6"/>
          <p:cNvSpPr/>
          <p:nvPr/>
        </p:nvSpPr>
        <p:spPr>
          <a:xfrm>
            <a:off x="411480" y="1115568"/>
            <a:ext cx="397764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Instructor's Whiteboard Notes</a:t>
            </a:r>
            <a:endParaRPr lang="en-US" sz="1000" dirty="0"/>
          </a:p>
        </p:txBody>
      </p:sp>
      <p:sp>
        <p:nvSpPr>
          <p:cNvPr id="9" name="Text 7"/>
          <p:cNvSpPr/>
          <p:nvPr/>
        </p:nvSpPr>
        <p:spPr>
          <a:xfrm>
            <a:off x="438912" y="1463040"/>
            <a:ext cx="3931920" cy="256032"/>
          </a:xfrm>
          <a:prstGeom prst="rect">
            <a:avLst/>
          </a:prstGeom>
          <a:noFill/>
          <a:ln/>
        </p:spPr>
        <p:txBody>
          <a:bodyPr wrap="square" lIns="0" tIns="0" rIns="0" bIns="0" rtlCol="0" anchor="ctr"/>
          <a:lstStyle/>
          <a:p>
            <a:pPr indent="0" marL="0">
              <a:buNone/>
            </a:pPr>
            <a:r>
              <a:rPr lang="en-US" sz="1000" i="1" dirty="0">
                <a:solidFill>
                  <a:srgbClr val="0F766E"/>
                </a:solidFill>
                <a:latin typeface="Calibri" pitchFamily="34" charset="0"/>
                <a:ea typeface="Calibri" pitchFamily="34" charset="-122"/>
                <a:cs typeface="Calibri" pitchFamily="34" charset="-120"/>
              </a:rPr>
              <a:t>The instructor drew this flow on the board:</a:t>
            </a:r>
            <a:endParaRPr lang="en-US" sz="1000" dirty="0"/>
          </a:p>
        </p:txBody>
      </p:sp>
      <p:sp>
        <p:nvSpPr>
          <p:cNvPr id="10" name="Shape 8"/>
          <p:cNvSpPr/>
          <p:nvPr/>
        </p:nvSpPr>
        <p:spPr>
          <a:xfrm>
            <a:off x="502920" y="1755648"/>
            <a:ext cx="1600200" cy="438912"/>
          </a:xfrm>
          <a:prstGeom prst="rect">
            <a:avLst/>
          </a:prstGeom>
          <a:solidFill>
            <a:srgbClr val="F0FDFA"/>
          </a:solidFill>
          <a:ln w="12700">
            <a:solidFill>
              <a:srgbClr val="0D9488"/>
            </a:solidFill>
            <a:prstDash val="solid"/>
          </a:ln>
        </p:spPr>
      </p:sp>
      <p:sp>
        <p:nvSpPr>
          <p:cNvPr id="11" name="Text 9"/>
          <p:cNvSpPr/>
          <p:nvPr/>
        </p:nvSpPr>
        <p:spPr>
          <a:xfrm>
            <a:off x="502920" y="1792224"/>
            <a:ext cx="1600200" cy="347472"/>
          </a:xfrm>
          <a:prstGeom prst="rect">
            <a:avLst/>
          </a:prstGeom>
          <a:noFill/>
          <a:ln/>
        </p:spPr>
        <p:txBody>
          <a:bodyPr wrap="square" lIns="0" tIns="0" rIns="0" bIns="0" rtlCol="0" anchor="ctr"/>
          <a:lstStyle/>
          <a:p>
            <a:pPr algn="ctr" indent="0" marL="0">
              <a:buNone/>
            </a:pPr>
            <a:r>
              <a:rPr lang="en-US" sz="900" b="1" dirty="0">
                <a:solidFill>
                  <a:srgbClr val="0F766E"/>
                </a:solidFill>
                <a:latin typeface="Calibri" pitchFamily="34" charset="0"/>
                <a:ea typeface="Calibri" pitchFamily="34" charset="-122"/>
                <a:cs typeface="Calibri" pitchFamily="34" charset="-120"/>
              </a:rPr>
              <a:t>Competitors</a:t>
            </a:r>
            <a:endParaRPr lang="en-US" sz="900" dirty="0"/>
          </a:p>
          <a:p>
            <a:pPr algn="ctr" indent="0" marL="0">
              <a:buNone/>
            </a:pPr>
            <a:r>
              <a:rPr lang="en-US" sz="900" b="1" dirty="0">
                <a:solidFill>
                  <a:srgbClr val="0F766E"/>
                </a:solidFill>
                <a:latin typeface="Calibri" pitchFamily="34" charset="0"/>
                <a:ea typeface="Calibri" pitchFamily="34" charset="-122"/>
                <a:cs typeface="Calibri" pitchFamily="34" charset="-120"/>
              </a:rPr>
              <a:t>Research</a:t>
            </a:r>
            <a:endParaRPr lang="en-US" sz="900" dirty="0"/>
          </a:p>
        </p:txBody>
      </p:sp>
      <p:sp>
        <p:nvSpPr>
          <p:cNvPr id="12" name="Text 10"/>
          <p:cNvSpPr/>
          <p:nvPr/>
        </p:nvSpPr>
        <p:spPr>
          <a:xfrm>
            <a:off x="2176272" y="1828800"/>
            <a:ext cx="13716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Product  →</a:t>
            </a:r>
            <a:endParaRPr lang="en-US" sz="1000" dirty="0"/>
          </a:p>
        </p:txBody>
      </p:sp>
      <p:sp>
        <p:nvSpPr>
          <p:cNvPr id="13" name="Shape 11"/>
          <p:cNvSpPr/>
          <p:nvPr/>
        </p:nvSpPr>
        <p:spPr>
          <a:xfrm>
            <a:off x="3547872" y="1755648"/>
            <a:ext cx="749808" cy="438912"/>
          </a:xfrm>
          <a:prstGeom prst="rect">
            <a:avLst/>
          </a:prstGeom>
          <a:solidFill>
            <a:srgbClr val="F0FDFA"/>
          </a:solidFill>
          <a:ln w="12700">
            <a:solidFill>
              <a:srgbClr val="0D9488"/>
            </a:solidFill>
            <a:prstDash val="solid"/>
          </a:ln>
        </p:spPr>
      </p:sp>
      <p:sp>
        <p:nvSpPr>
          <p:cNvPr id="14" name="Text 12"/>
          <p:cNvSpPr/>
          <p:nvPr/>
        </p:nvSpPr>
        <p:spPr>
          <a:xfrm>
            <a:off x="3547872" y="1828800"/>
            <a:ext cx="749808" cy="292608"/>
          </a:xfrm>
          <a:prstGeom prst="rect">
            <a:avLst/>
          </a:prstGeom>
          <a:noFill/>
          <a:ln/>
        </p:spPr>
        <p:txBody>
          <a:bodyPr wrap="square" lIns="0" tIns="0" rIns="0" bIns="0" rtlCol="0" anchor="ctr"/>
          <a:lstStyle/>
          <a:p>
            <a:pPr algn="ctr" indent="0" marL="0">
              <a:buNone/>
            </a:pPr>
            <a:r>
              <a:rPr lang="en-US" sz="850" dirty="0">
                <a:solidFill>
                  <a:srgbClr val="0F766E"/>
                </a:solidFill>
                <a:latin typeface="Calibri" pitchFamily="34" charset="0"/>
                <a:ea typeface="Calibri" pitchFamily="34" charset="-122"/>
                <a:cs typeface="Calibri" pitchFamily="34" charset="-120"/>
              </a:rPr>
              <a:t>Strengths</a:t>
            </a:r>
            <a:endParaRPr lang="en-US" sz="850" dirty="0"/>
          </a:p>
        </p:txBody>
      </p:sp>
      <p:sp>
        <p:nvSpPr>
          <p:cNvPr id="15" name="Text 13"/>
          <p:cNvSpPr/>
          <p:nvPr/>
        </p:nvSpPr>
        <p:spPr>
          <a:xfrm>
            <a:off x="3547872" y="2240280"/>
            <a:ext cx="749808" cy="201168"/>
          </a:xfrm>
          <a:prstGeom prst="rect">
            <a:avLst/>
          </a:prstGeom>
          <a:noFill/>
          <a:ln/>
        </p:spPr>
        <p:txBody>
          <a:bodyPr wrap="square" lIns="0" tIns="0" rIns="0" bIns="0" rtlCol="0" anchor="ctr"/>
          <a:lstStyle/>
          <a:p>
            <a:pPr algn="ctr" indent="0" marL="0">
              <a:buNone/>
            </a:pPr>
            <a:r>
              <a:rPr lang="en-US" sz="1200" dirty="0">
                <a:solidFill>
                  <a:srgbClr val="0D9488"/>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3547872" y="2441448"/>
            <a:ext cx="749808" cy="438912"/>
          </a:xfrm>
          <a:prstGeom prst="rect">
            <a:avLst/>
          </a:prstGeom>
          <a:solidFill>
            <a:srgbClr val="F0FDFA"/>
          </a:solidFill>
          <a:ln w="12700">
            <a:solidFill>
              <a:srgbClr val="0D9488"/>
            </a:solidFill>
            <a:prstDash val="solid"/>
          </a:ln>
        </p:spPr>
      </p:sp>
      <p:sp>
        <p:nvSpPr>
          <p:cNvPr id="17" name="Text 15"/>
          <p:cNvSpPr/>
          <p:nvPr/>
        </p:nvSpPr>
        <p:spPr>
          <a:xfrm>
            <a:off x="3547872" y="2514600"/>
            <a:ext cx="749808" cy="292608"/>
          </a:xfrm>
          <a:prstGeom prst="rect">
            <a:avLst/>
          </a:prstGeom>
          <a:noFill/>
          <a:ln/>
        </p:spPr>
        <p:txBody>
          <a:bodyPr wrap="square" lIns="0" tIns="0" rIns="0" bIns="0" rtlCol="0" anchor="ctr"/>
          <a:lstStyle/>
          <a:p>
            <a:pPr algn="ctr" indent="0" marL="0">
              <a:buNone/>
            </a:pPr>
            <a:r>
              <a:rPr lang="en-US" sz="850" dirty="0">
                <a:solidFill>
                  <a:srgbClr val="0F766E"/>
                </a:solidFill>
                <a:latin typeface="Calibri" pitchFamily="34" charset="0"/>
                <a:ea typeface="Calibri" pitchFamily="34" charset="-122"/>
                <a:cs typeface="Calibri" pitchFamily="34" charset="-120"/>
              </a:rPr>
              <a:t>Weakness</a:t>
            </a:r>
            <a:endParaRPr lang="en-US" sz="850" dirty="0"/>
          </a:p>
        </p:txBody>
      </p:sp>
      <p:sp>
        <p:nvSpPr>
          <p:cNvPr id="18" name="Text 16"/>
          <p:cNvSpPr/>
          <p:nvPr/>
        </p:nvSpPr>
        <p:spPr>
          <a:xfrm>
            <a:off x="4343400" y="2578608"/>
            <a:ext cx="777240" cy="256032"/>
          </a:xfrm>
          <a:prstGeom prst="rect">
            <a:avLst/>
          </a:prstGeom>
          <a:noFill/>
          <a:ln/>
        </p:spPr>
        <p:txBody>
          <a:bodyPr wrap="square" lIns="0" tIns="0" rIns="0" bIns="0" rtlCol="0" anchor="ctr"/>
          <a:lstStyle/>
          <a:p>
            <a:pPr indent="0" marL="0">
              <a:buNone/>
            </a:pPr>
            <a:r>
              <a:rPr lang="en-US" sz="1000" b="1" dirty="0">
                <a:solidFill>
                  <a:srgbClr val="0D9488"/>
                </a:solidFill>
                <a:latin typeface="Calibri" pitchFamily="34" charset="0"/>
                <a:ea typeface="Calibri" pitchFamily="34" charset="-122"/>
                <a:cs typeface="Calibri" pitchFamily="34" charset="-120"/>
              </a:rPr>
              <a:t>→  Gaps</a:t>
            </a:r>
            <a:endParaRPr lang="en-US" sz="1000" dirty="0"/>
          </a:p>
        </p:txBody>
      </p:sp>
      <p:sp>
        <p:nvSpPr>
          <p:cNvPr id="19" name="Text 17"/>
          <p:cNvSpPr/>
          <p:nvPr/>
        </p:nvSpPr>
        <p:spPr>
          <a:xfrm>
            <a:off x="438912" y="2944368"/>
            <a:ext cx="3931920" cy="256032"/>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Also analyses:</a:t>
            </a:r>
            <a:endParaRPr lang="en-US" sz="1000" dirty="0"/>
          </a:p>
        </p:txBody>
      </p:sp>
      <p:sp>
        <p:nvSpPr>
          <p:cNvPr id="20" name="Text 18"/>
          <p:cNvSpPr/>
          <p:nvPr/>
        </p:nvSpPr>
        <p:spPr>
          <a:xfrm>
            <a:off x="502920" y="3218688"/>
            <a:ext cx="3931920" cy="2743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  Pricing models of all competitors</a:t>
            </a:r>
            <a:endParaRPr lang="en-US" sz="950" dirty="0"/>
          </a:p>
        </p:txBody>
      </p:sp>
      <p:sp>
        <p:nvSpPr>
          <p:cNvPr id="21" name="Text 19"/>
          <p:cNvSpPr/>
          <p:nvPr/>
        </p:nvSpPr>
        <p:spPr>
          <a:xfrm>
            <a:off x="502920" y="3520440"/>
            <a:ext cx="3931920" cy="2743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  Market positioning and brand perception</a:t>
            </a:r>
            <a:endParaRPr lang="en-US" sz="950" dirty="0"/>
          </a:p>
        </p:txBody>
      </p:sp>
      <p:sp>
        <p:nvSpPr>
          <p:cNvPr id="22" name="Text 20"/>
          <p:cNvSpPr/>
          <p:nvPr/>
        </p:nvSpPr>
        <p:spPr>
          <a:xfrm>
            <a:off x="502920" y="3822192"/>
            <a:ext cx="3931920" cy="2743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  Customer reviews and satisfaction levels</a:t>
            </a:r>
            <a:endParaRPr lang="en-US" sz="950" dirty="0"/>
          </a:p>
        </p:txBody>
      </p:sp>
      <p:sp>
        <p:nvSpPr>
          <p:cNvPr id="23" name="Text 21"/>
          <p:cNvSpPr/>
          <p:nvPr/>
        </p:nvSpPr>
        <p:spPr>
          <a:xfrm>
            <a:off x="502920" y="4123944"/>
            <a:ext cx="3931920" cy="2743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  Barriers to entry created by incumbents</a:t>
            </a:r>
            <a:endParaRPr lang="en-US" sz="950" dirty="0"/>
          </a:p>
        </p:txBody>
      </p:sp>
      <p:sp>
        <p:nvSpPr>
          <p:cNvPr id="24" name="Shape 22"/>
          <p:cNvSpPr/>
          <p:nvPr/>
        </p:nvSpPr>
        <p:spPr>
          <a:xfrm>
            <a:off x="4663440" y="1115568"/>
            <a:ext cx="4160520" cy="2880360"/>
          </a:xfrm>
          <a:prstGeom prst="rect">
            <a:avLst/>
          </a:prstGeom>
          <a:solidFill>
            <a:srgbClr val="F8FAFC"/>
          </a:solidFill>
          <a:ln w="12700">
            <a:solidFill>
              <a:srgbClr val="CBD5E1"/>
            </a:solidFill>
            <a:prstDash val="solid"/>
          </a:ln>
        </p:spPr>
      </p:sp>
      <p:sp>
        <p:nvSpPr>
          <p:cNvPr id="25" name="Shape 23"/>
          <p:cNvSpPr/>
          <p:nvPr/>
        </p:nvSpPr>
        <p:spPr>
          <a:xfrm>
            <a:off x="4663440" y="1115568"/>
            <a:ext cx="4160520" cy="292608"/>
          </a:xfrm>
          <a:prstGeom prst="rect">
            <a:avLst/>
          </a:prstGeom>
          <a:solidFill>
            <a:srgbClr val="0F172A"/>
          </a:solidFill>
          <a:ln w="12700">
            <a:solidFill>
              <a:srgbClr val="0F172A"/>
            </a:solidFill>
            <a:prstDash val="solid"/>
          </a:ln>
        </p:spPr>
      </p:sp>
      <p:sp>
        <p:nvSpPr>
          <p:cNvPr id="26" name="Text 24"/>
          <p:cNvSpPr/>
          <p:nvPr/>
        </p:nvSpPr>
        <p:spPr>
          <a:xfrm>
            <a:off x="4754880" y="1115568"/>
            <a:ext cx="397764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What the agent researches</a:t>
            </a:r>
            <a:endParaRPr lang="en-US" sz="1000" dirty="0"/>
          </a:p>
        </p:txBody>
      </p:sp>
      <p:sp>
        <p:nvSpPr>
          <p:cNvPr id="27" name="Shape 25"/>
          <p:cNvSpPr/>
          <p:nvPr/>
        </p:nvSpPr>
        <p:spPr>
          <a:xfrm>
            <a:off x="4736592" y="1481328"/>
            <a:ext cx="4005072" cy="530352"/>
          </a:xfrm>
          <a:prstGeom prst="rect">
            <a:avLst/>
          </a:prstGeom>
          <a:solidFill>
            <a:srgbClr val="F8FAFC"/>
          </a:solidFill>
          <a:ln w="12700">
            <a:solidFill>
              <a:srgbClr val="E2E8F0"/>
            </a:solidFill>
            <a:prstDash val="solid"/>
          </a:ln>
        </p:spPr>
      </p:sp>
      <p:sp>
        <p:nvSpPr>
          <p:cNvPr id="28" name="Text 26"/>
          <p:cNvSpPr/>
          <p:nvPr/>
        </p:nvSpPr>
        <p:spPr>
          <a:xfrm>
            <a:off x="4828032" y="1527048"/>
            <a:ext cx="3794760" cy="219456"/>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  Direct competitors</a:t>
            </a:r>
            <a:endParaRPr lang="en-US" sz="1000" dirty="0"/>
          </a:p>
        </p:txBody>
      </p:sp>
      <p:sp>
        <p:nvSpPr>
          <p:cNvPr id="29" name="Text 27"/>
          <p:cNvSpPr/>
          <p:nvPr/>
        </p:nvSpPr>
        <p:spPr>
          <a:xfrm>
            <a:off x="4828032" y="1755648"/>
            <a:ext cx="379476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Companies solving the exact same problem with a similar approach</a:t>
            </a:r>
            <a:endParaRPr lang="en-US" sz="900" dirty="0"/>
          </a:p>
        </p:txBody>
      </p:sp>
      <p:sp>
        <p:nvSpPr>
          <p:cNvPr id="30" name="Shape 28"/>
          <p:cNvSpPr/>
          <p:nvPr/>
        </p:nvSpPr>
        <p:spPr>
          <a:xfrm>
            <a:off x="4736592" y="2093976"/>
            <a:ext cx="4005072" cy="530352"/>
          </a:xfrm>
          <a:prstGeom prst="rect">
            <a:avLst/>
          </a:prstGeom>
          <a:solidFill>
            <a:srgbClr val="F8FAFC"/>
          </a:solidFill>
          <a:ln w="12700">
            <a:solidFill>
              <a:srgbClr val="E2E8F0"/>
            </a:solidFill>
            <a:prstDash val="solid"/>
          </a:ln>
        </p:spPr>
      </p:sp>
      <p:sp>
        <p:nvSpPr>
          <p:cNvPr id="31" name="Text 29"/>
          <p:cNvSpPr/>
          <p:nvPr/>
        </p:nvSpPr>
        <p:spPr>
          <a:xfrm>
            <a:off x="4828032" y="2139696"/>
            <a:ext cx="3794760" cy="219456"/>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  Indirect competitors</a:t>
            </a:r>
            <a:endParaRPr lang="en-US" sz="1000" dirty="0"/>
          </a:p>
        </p:txBody>
      </p:sp>
      <p:sp>
        <p:nvSpPr>
          <p:cNvPr id="32" name="Text 30"/>
          <p:cNvSpPr/>
          <p:nvPr/>
        </p:nvSpPr>
        <p:spPr>
          <a:xfrm>
            <a:off x="4828032" y="2368296"/>
            <a:ext cx="379476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Solving the same problem but using a different method or technology</a:t>
            </a:r>
            <a:endParaRPr lang="en-US" sz="900" dirty="0"/>
          </a:p>
        </p:txBody>
      </p:sp>
      <p:sp>
        <p:nvSpPr>
          <p:cNvPr id="33" name="Shape 31"/>
          <p:cNvSpPr/>
          <p:nvPr/>
        </p:nvSpPr>
        <p:spPr>
          <a:xfrm>
            <a:off x="4736592" y="2706624"/>
            <a:ext cx="4005072" cy="530352"/>
          </a:xfrm>
          <a:prstGeom prst="rect">
            <a:avLst/>
          </a:prstGeom>
          <a:solidFill>
            <a:srgbClr val="F8FAFC"/>
          </a:solidFill>
          <a:ln w="12700">
            <a:solidFill>
              <a:srgbClr val="E2E8F0"/>
            </a:solidFill>
            <a:prstDash val="solid"/>
          </a:ln>
        </p:spPr>
      </p:sp>
      <p:sp>
        <p:nvSpPr>
          <p:cNvPr id="34" name="Text 32"/>
          <p:cNvSpPr/>
          <p:nvPr/>
        </p:nvSpPr>
        <p:spPr>
          <a:xfrm>
            <a:off x="4828032" y="2752344"/>
            <a:ext cx="3794760" cy="219456"/>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  Adjacent competitors</a:t>
            </a:r>
            <a:endParaRPr lang="en-US" sz="1000" dirty="0"/>
          </a:p>
        </p:txBody>
      </p:sp>
      <p:sp>
        <p:nvSpPr>
          <p:cNvPr id="35" name="Text 33"/>
          <p:cNvSpPr/>
          <p:nvPr/>
        </p:nvSpPr>
        <p:spPr>
          <a:xfrm>
            <a:off x="4828032" y="2980944"/>
            <a:ext cx="379476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Related solutions that could potentially expand into this market space</a:t>
            </a:r>
            <a:endParaRPr lang="en-US" sz="900" dirty="0"/>
          </a:p>
        </p:txBody>
      </p:sp>
      <p:sp>
        <p:nvSpPr>
          <p:cNvPr id="36" name="Shape 34"/>
          <p:cNvSpPr/>
          <p:nvPr/>
        </p:nvSpPr>
        <p:spPr>
          <a:xfrm>
            <a:off x="4736592" y="3319272"/>
            <a:ext cx="4005072" cy="530352"/>
          </a:xfrm>
          <a:prstGeom prst="rect">
            <a:avLst/>
          </a:prstGeom>
          <a:solidFill>
            <a:srgbClr val="F8FAFC"/>
          </a:solidFill>
          <a:ln w="12700">
            <a:solidFill>
              <a:srgbClr val="E2E8F0"/>
            </a:solidFill>
            <a:prstDash val="solid"/>
          </a:ln>
        </p:spPr>
      </p:sp>
      <p:sp>
        <p:nvSpPr>
          <p:cNvPr id="37" name="Text 35"/>
          <p:cNvSpPr/>
          <p:nvPr/>
        </p:nvSpPr>
        <p:spPr>
          <a:xfrm>
            <a:off x="4828032" y="3364992"/>
            <a:ext cx="3794760" cy="219456"/>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  Emerging startups</a:t>
            </a:r>
            <a:endParaRPr lang="en-US" sz="1000" dirty="0"/>
          </a:p>
        </p:txBody>
      </p:sp>
      <p:sp>
        <p:nvSpPr>
          <p:cNvPr id="38" name="Text 36"/>
          <p:cNvSpPr/>
          <p:nvPr/>
        </p:nvSpPr>
        <p:spPr>
          <a:xfrm>
            <a:off x="4828032" y="3593592"/>
            <a:ext cx="3794760" cy="201168"/>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New entrants including those possibly in stealth mode</a:t>
            </a:r>
            <a:endParaRPr lang="en-US" sz="900" dirty="0"/>
          </a:p>
        </p:txBody>
      </p:sp>
      <p:sp>
        <p:nvSpPr>
          <p:cNvPr id="39" name="Shape 37"/>
          <p:cNvSpPr/>
          <p:nvPr/>
        </p:nvSpPr>
        <p:spPr>
          <a:xfrm>
            <a:off x="320040" y="4069080"/>
            <a:ext cx="8503920" cy="502920"/>
          </a:xfrm>
          <a:prstGeom prst="rect">
            <a:avLst/>
          </a:prstGeom>
          <a:solidFill>
            <a:srgbClr val="CCFBF1"/>
          </a:solidFill>
          <a:ln w="12700">
            <a:solidFill>
              <a:srgbClr val="5EEAD4"/>
            </a:solidFill>
            <a:prstDash val="solid"/>
          </a:ln>
        </p:spPr>
      </p:sp>
      <p:sp>
        <p:nvSpPr>
          <p:cNvPr id="40" name="Text 38"/>
          <p:cNvSpPr/>
          <p:nvPr/>
        </p:nvSpPr>
        <p:spPr>
          <a:xfrm>
            <a:off x="457200" y="4096512"/>
            <a:ext cx="1371600" cy="256032"/>
          </a:xfrm>
          <a:prstGeom prst="rect">
            <a:avLst/>
          </a:prstGeom>
          <a:noFill/>
          <a:ln/>
        </p:spPr>
        <p:txBody>
          <a:bodyPr wrap="square" lIns="0" tIns="0" rIns="0" bIns="0" rtlCol="0" anchor="ctr"/>
          <a:lstStyle/>
          <a:p>
            <a:pPr indent="0" marL="0">
              <a:buNone/>
            </a:pPr>
            <a:r>
              <a:rPr lang="en-US" sz="1000" b="1" dirty="0">
                <a:solidFill>
                  <a:srgbClr val="134E4A"/>
                </a:solidFill>
                <a:latin typeface="Calibri" pitchFamily="34" charset="0"/>
                <a:ea typeface="Calibri" pitchFamily="34" charset="-122"/>
                <a:cs typeface="Calibri" pitchFamily="34" charset="-120"/>
              </a:rPr>
              <a:t>📤  Output:</a:t>
            </a:r>
            <a:endParaRPr lang="en-US" sz="1000" dirty="0"/>
          </a:p>
        </p:txBody>
      </p:sp>
      <p:sp>
        <p:nvSpPr>
          <p:cNvPr id="41" name="Text 39"/>
          <p:cNvSpPr/>
          <p:nvPr/>
        </p:nvSpPr>
        <p:spPr>
          <a:xfrm>
            <a:off x="1828800" y="4096512"/>
            <a:ext cx="6858000" cy="384048"/>
          </a:xfrm>
          <a:prstGeom prst="rect">
            <a:avLst/>
          </a:prstGeom>
          <a:noFill/>
          <a:ln/>
        </p:spPr>
        <p:txBody>
          <a:bodyPr wrap="square" lIns="0" tIns="0" rIns="0" bIns="0" rtlCol="0" anchor="ctr"/>
          <a:lstStyle/>
          <a:p>
            <a:pPr indent="0" marL="0">
              <a:buNone/>
            </a:pPr>
            <a:r>
              <a:rPr lang="en-US" sz="950" dirty="0">
                <a:solidFill>
                  <a:srgbClr val="134E4A"/>
                </a:solidFill>
                <a:latin typeface="Calibri" pitchFamily="34" charset="0"/>
                <a:ea typeface="Calibri" pitchFamily="34" charset="-122"/>
                <a:cs typeface="Calibri" pitchFamily="34" charset="-120"/>
              </a:rPr>
              <a:t>2000–2500 word report with competitor profiles, comparison matrix, market positioning map, and strategic differentiation recommendations.</a:t>
            </a:r>
            <a:endParaRPr lang="en-US" sz="950" dirty="0"/>
          </a:p>
        </p:txBody>
      </p:sp>
      <p:sp>
        <p:nvSpPr>
          <p:cNvPr id="42" name="Shape 40"/>
          <p:cNvSpPr/>
          <p:nvPr/>
        </p:nvSpPr>
        <p:spPr>
          <a:xfrm>
            <a:off x="320040" y="4663440"/>
            <a:ext cx="8503920" cy="411480"/>
          </a:xfrm>
          <a:prstGeom prst="rect">
            <a:avLst/>
          </a:prstGeom>
          <a:solidFill>
            <a:srgbClr val="FEF3C7"/>
          </a:solidFill>
          <a:ln w="12700">
            <a:solidFill>
              <a:srgbClr val="93C5FD"/>
            </a:solidFill>
            <a:prstDash val="solid"/>
          </a:ln>
        </p:spPr>
      </p:sp>
      <p:sp>
        <p:nvSpPr>
          <p:cNvPr id="43" name="Text 41"/>
          <p:cNvSpPr/>
          <p:nvPr/>
        </p:nvSpPr>
        <p:spPr>
          <a:xfrm>
            <a:off x="411480" y="4709160"/>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This agent gets the market research report as context — so it already knows the market size and trends before researching competitors.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Agent ③ Customer Research  &amp;  Agent ④ Product Features</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From the instructor's whiteboard — agents 3 and 4</a:t>
            </a:r>
            <a:endParaRPr lang="en-US" sz="1100" dirty="0"/>
          </a:p>
        </p:txBody>
      </p:sp>
      <p:sp>
        <p:nvSpPr>
          <p:cNvPr id="6" name="Shape 4"/>
          <p:cNvSpPr/>
          <p:nvPr/>
        </p:nvSpPr>
        <p:spPr>
          <a:xfrm>
            <a:off x="320040" y="1115568"/>
            <a:ext cx="4160520" cy="3200400"/>
          </a:xfrm>
          <a:prstGeom prst="rect">
            <a:avLst/>
          </a:prstGeom>
          <a:solidFill>
            <a:srgbClr val="E0F2FE"/>
          </a:solidFill>
          <a:ln w="12700">
            <a:solidFill>
              <a:srgbClr val="0EA5E9"/>
            </a:solidFill>
            <a:prstDash val="solid"/>
          </a:ln>
        </p:spPr>
      </p:sp>
      <p:sp>
        <p:nvSpPr>
          <p:cNvPr id="7" name="Shape 5"/>
          <p:cNvSpPr/>
          <p:nvPr/>
        </p:nvSpPr>
        <p:spPr>
          <a:xfrm>
            <a:off x="320040" y="1115568"/>
            <a:ext cx="4160520" cy="292608"/>
          </a:xfrm>
          <a:prstGeom prst="rect">
            <a:avLst/>
          </a:prstGeom>
          <a:solidFill>
            <a:srgbClr val="0EA5E9"/>
          </a:solidFill>
          <a:ln w="12700">
            <a:solidFill>
              <a:srgbClr val="0EA5E9"/>
            </a:solidFill>
            <a:prstDash val="solid"/>
          </a:ln>
        </p:spPr>
      </p:sp>
      <p:sp>
        <p:nvSpPr>
          <p:cNvPr id="8" name="Text 6"/>
          <p:cNvSpPr/>
          <p:nvPr/>
        </p:nvSpPr>
        <p:spPr>
          <a:xfrm>
            <a:off x="411480" y="1115568"/>
            <a:ext cx="397764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③  Customer Insights Researcher</a:t>
            </a:r>
            <a:endParaRPr lang="en-US" sz="1000" dirty="0"/>
          </a:p>
        </p:txBody>
      </p:sp>
      <p:sp>
        <p:nvSpPr>
          <p:cNvPr id="9" name="Text 7"/>
          <p:cNvSpPr/>
          <p:nvPr/>
        </p:nvSpPr>
        <p:spPr>
          <a:xfrm>
            <a:off x="438912" y="1463040"/>
            <a:ext cx="3931920" cy="228600"/>
          </a:xfrm>
          <a:prstGeom prst="rect">
            <a:avLst/>
          </a:prstGeom>
          <a:noFill/>
          <a:ln/>
        </p:spPr>
        <p:txBody>
          <a:bodyPr wrap="square" lIns="0" tIns="0" rIns="0" bIns="0" rtlCol="0" anchor="ctr"/>
          <a:lstStyle/>
          <a:p>
            <a:pPr indent="0" marL="0">
              <a:buNone/>
            </a:pPr>
            <a:r>
              <a:rPr lang="en-US" sz="950" i="1" dirty="0">
                <a:solidFill>
                  <a:srgbClr val="0369A1"/>
                </a:solidFill>
                <a:latin typeface="Calibri" pitchFamily="34" charset="0"/>
                <a:ea typeface="Calibri" pitchFamily="34" charset="-122"/>
                <a:cs typeface="Calibri" pitchFamily="34" charset="-120"/>
              </a:rPr>
              <a:t>The instructor drew the flow:</a:t>
            </a:r>
            <a:endParaRPr lang="en-US" sz="950" dirty="0"/>
          </a:p>
        </p:txBody>
      </p:sp>
      <p:sp>
        <p:nvSpPr>
          <p:cNvPr id="10" name="Text 8"/>
          <p:cNvSpPr/>
          <p:nvPr/>
        </p:nvSpPr>
        <p:spPr>
          <a:xfrm>
            <a:off x="438912" y="1719072"/>
            <a:ext cx="3977640" cy="256032"/>
          </a:xfrm>
          <a:prstGeom prst="rect">
            <a:avLst/>
          </a:prstGeom>
          <a:noFill/>
          <a:ln/>
        </p:spPr>
        <p:txBody>
          <a:bodyPr wrap="square" lIns="0" tIns="0" rIns="0" bIns="0" rtlCol="0" anchor="ctr"/>
          <a:lstStyle/>
          <a:p>
            <a:pPr indent="0" marL="0">
              <a:buNone/>
            </a:pPr>
            <a:r>
              <a:rPr lang="en-US" sz="900" b="1" dirty="0">
                <a:solidFill>
                  <a:srgbClr val="0369A1"/>
                </a:solidFill>
                <a:latin typeface="Calibri" pitchFamily="34" charset="0"/>
                <a:ea typeface="Calibri" pitchFamily="34" charset="-122"/>
                <a:cs typeface="Calibri" pitchFamily="34" charset="-120"/>
              </a:rPr>
              <a:t>Customer Research  →  Customer Segmentation</a:t>
            </a:r>
            <a:endParaRPr lang="en-US" sz="900" dirty="0"/>
          </a:p>
        </p:txBody>
      </p:sp>
      <p:sp>
        <p:nvSpPr>
          <p:cNvPr id="11" name="Text 9"/>
          <p:cNvSpPr/>
          <p:nvPr/>
        </p:nvSpPr>
        <p:spPr>
          <a:xfrm>
            <a:off x="621792" y="1975104"/>
            <a:ext cx="3794760" cy="256032"/>
          </a:xfrm>
          <a:prstGeom prst="rect">
            <a:avLst/>
          </a:prstGeom>
          <a:noFill/>
          <a:ln/>
        </p:spPr>
        <p:txBody>
          <a:bodyPr wrap="square" lIns="0" tIns="0" rIns="0" bIns="0" rtlCol="0" anchor="ctr"/>
          <a:lstStyle/>
          <a:p>
            <a:pPr indent="0" marL="0">
              <a:buNone/>
            </a:pPr>
            <a:r>
              <a:rPr lang="en-US" sz="900" dirty="0">
                <a:solidFill>
                  <a:srgbClr val="0369A1"/>
                </a:solidFill>
                <a:latin typeface="Calibri" pitchFamily="34" charset="0"/>
                <a:ea typeface="Calibri" pitchFamily="34" charset="-122"/>
                <a:cs typeface="Calibri" pitchFamily="34" charset="-120"/>
              </a:rPr>
              <a:t>↓  Needs, Requirements, Gaps  →  Report</a:t>
            </a:r>
            <a:endParaRPr lang="en-US" sz="900" dirty="0"/>
          </a:p>
        </p:txBody>
      </p:sp>
      <p:sp>
        <p:nvSpPr>
          <p:cNvPr id="12" name="Text 10"/>
          <p:cNvSpPr/>
          <p:nvPr/>
        </p:nvSpPr>
        <p:spPr>
          <a:xfrm>
            <a:off x="438912" y="2331720"/>
            <a:ext cx="3840480" cy="256032"/>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Key deliverables:</a:t>
            </a:r>
            <a:endParaRPr lang="en-US" sz="1000" dirty="0"/>
          </a:p>
        </p:txBody>
      </p:sp>
      <p:sp>
        <p:nvSpPr>
          <p:cNvPr id="13" name="Shape 11"/>
          <p:cNvSpPr/>
          <p:nvPr/>
        </p:nvSpPr>
        <p:spPr>
          <a:xfrm>
            <a:off x="438912" y="2633472"/>
            <a:ext cx="164592" cy="164592"/>
          </a:xfrm>
          <a:prstGeom prst="ellipse">
            <a:avLst/>
          </a:prstGeom>
          <a:solidFill>
            <a:srgbClr val="0EA5E9"/>
          </a:solidFill>
          <a:ln w="12700">
            <a:solidFill>
              <a:srgbClr val="0EA5E9"/>
            </a:solidFill>
            <a:prstDash val="solid"/>
          </a:ln>
        </p:spPr>
      </p:sp>
      <p:sp>
        <p:nvSpPr>
          <p:cNvPr id="14" name="Text 12"/>
          <p:cNvSpPr/>
          <p:nvPr/>
        </p:nvSpPr>
        <p:spPr>
          <a:xfrm>
            <a:off x="685800" y="2615184"/>
            <a:ext cx="3749040"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3–4 distinct customer segments with sizing</a:t>
            </a:r>
            <a:endParaRPr lang="en-US" sz="900" dirty="0"/>
          </a:p>
        </p:txBody>
      </p:sp>
      <p:sp>
        <p:nvSpPr>
          <p:cNvPr id="15" name="Shape 13"/>
          <p:cNvSpPr/>
          <p:nvPr/>
        </p:nvSpPr>
        <p:spPr>
          <a:xfrm>
            <a:off x="438912" y="2926080"/>
            <a:ext cx="164592" cy="164592"/>
          </a:xfrm>
          <a:prstGeom prst="ellipse">
            <a:avLst/>
          </a:prstGeom>
          <a:solidFill>
            <a:srgbClr val="0EA5E9"/>
          </a:solidFill>
          <a:ln w="12700">
            <a:solidFill>
              <a:srgbClr val="0EA5E9"/>
            </a:solidFill>
            <a:prstDash val="solid"/>
          </a:ln>
        </p:spPr>
      </p:sp>
      <p:sp>
        <p:nvSpPr>
          <p:cNvPr id="16" name="Text 14"/>
          <p:cNvSpPr/>
          <p:nvPr/>
        </p:nvSpPr>
        <p:spPr>
          <a:xfrm>
            <a:off x="685800" y="2907792"/>
            <a:ext cx="3749040"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Detailed personas (demographics, roles, goals)</a:t>
            </a:r>
            <a:endParaRPr lang="en-US" sz="900" dirty="0"/>
          </a:p>
        </p:txBody>
      </p:sp>
      <p:sp>
        <p:nvSpPr>
          <p:cNvPr id="17" name="Shape 15"/>
          <p:cNvSpPr/>
          <p:nvPr/>
        </p:nvSpPr>
        <p:spPr>
          <a:xfrm>
            <a:off x="438912" y="3218688"/>
            <a:ext cx="164592" cy="164592"/>
          </a:xfrm>
          <a:prstGeom prst="ellipse">
            <a:avLst/>
          </a:prstGeom>
          <a:solidFill>
            <a:srgbClr val="0EA5E9"/>
          </a:solidFill>
          <a:ln w="12700">
            <a:solidFill>
              <a:srgbClr val="0EA5E9"/>
            </a:solidFill>
            <a:prstDash val="solid"/>
          </a:ln>
        </p:spPr>
      </p:sp>
      <p:sp>
        <p:nvSpPr>
          <p:cNvPr id="18" name="Text 16"/>
          <p:cNvSpPr/>
          <p:nvPr/>
        </p:nvSpPr>
        <p:spPr>
          <a:xfrm>
            <a:off x="685800" y="3200400"/>
            <a:ext cx="3749040"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Pain points each segment faces today</a:t>
            </a:r>
            <a:endParaRPr lang="en-US" sz="900" dirty="0"/>
          </a:p>
        </p:txBody>
      </p:sp>
      <p:sp>
        <p:nvSpPr>
          <p:cNvPr id="19" name="Shape 17"/>
          <p:cNvSpPr/>
          <p:nvPr/>
        </p:nvSpPr>
        <p:spPr>
          <a:xfrm>
            <a:off x="438912" y="3511296"/>
            <a:ext cx="164592" cy="164592"/>
          </a:xfrm>
          <a:prstGeom prst="ellipse">
            <a:avLst/>
          </a:prstGeom>
          <a:solidFill>
            <a:srgbClr val="0EA5E9"/>
          </a:solidFill>
          <a:ln w="12700">
            <a:solidFill>
              <a:srgbClr val="0EA5E9"/>
            </a:solidFill>
            <a:prstDash val="solid"/>
          </a:ln>
        </p:spPr>
      </p:sp>
      <p:sp>
        <p:nvSpPr>
          <p:cNvPr id="20" name="Text 18"/>
          <p:cNvSpPr/>
          <p:nvPr/>
        </p:nvSpPr>
        <p:spPr>
          <a:xfrm>
            <a:off x="685800" y="3493008"/>
            <a:ext cx="3749040"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Customer journey maps (Awareness → Purchase)</a:t>
            </a:r>
            <a:endParaRPr lang="en-US" sz="900" dirty="0"/>
          </a:p>
        </p:txBody>
      </p:sp>
      <p:sp>
        <p:nvSpPr>
          <p:cNvPr id="21" name="Shape 19"/>
          <p:cNvSpPr/>
          <p:nvPr/>
        </p:nvSpPr>
        <p:spPr>
          <a:xfrm>
            <a:off x="438912" y="3803904"/>
            <a:ext cx="164592" cy="164592"/>
          </a:xfrm>
          <a:prstGeom prst="ellipse">
            <a:avLst/>
          </a:prstGeom>
          <a:solidFill>
            <a:srgbClr val="0EA5E9"/>
          </a:solidFill>
          <a:ln w="12700">
            <a:solidFill>
              <a:srgbClr val="0EA5E9"/>
            </a:solidFill>
            <a:prstDash val="solid"/>
          </a:ln>
        </p:spPr>
      </p:sp>
      <p:sp>
        <p:nvSpPr>
          <p:cNvPr id="22" name="Text 20"/>
          <p:cNvSpPr/>
          <p:nvPr/>
        </p:nvSpPr>
        <p:spPr>
          <a:xfrm>
            <a:off x="685800" y="3785616"/>
            <a:ext cx="3749040"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Willingness to pay and value expectations</a:t>
            </a:r>
            <a:endParaRPr lang="en-US" sz="900" dirty="0"/>
          </a:p>
        </p:txBody>
      </p:sp>
      <p:sp>
        <p:nvSpPr>
          <p:cNvPr id="23" name="Shape 21"/>
          <p:cNvSpPr/>
          <p:nvPr/>
        </p:nvSpPr>
        <p:spPr>
          <a:xfrm>
            <a:off x="438912" y="4096512"/>
            <a:ext cx="164592" cy="164592"/>
          </a:xfrm>
          <a:prstGeom prst="ellipse">
            <a:avLst/>
          </a:prstGeom>
          <a:solidFill>
            <a:srgbClr val="0EA5E9"/>
          </a:solidFill>
          <a:ln w="12700">
            <a:solidFill>
              <a:srgbClr val="0EA5E9"/>
            </a:solidFill>
            <a:prstDash val="solid"/>
          </a:ln>
        </p:spPr>
      </p:sp>
      <p:sp>
        <p:nvSpPr>
          <p:cNvPr id="24" name="Text 22"/>
          <p:cNvSpPr/>
          <p:nvPr/>
        </p:nvSpPr>
        <p:spPr>
          <a:xfrm>
            <a:off x="685800" y="4078224"/>
            <a:ext cx="3749040"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Best acquisition channels to reach each segment</a:t>
            </a:r>
            <a:endParaRPr lang="en-US" sz="900" dirty="0"/>
          </a:p>
        </p:txBody>
      </p:sp>
      <p:sp>
        <p:nvSpPr>
          <p:cNvPr id="25" name="Shape 23"/>
          <p:cNvSpPr/>
          <p:nvPr/>
        </p:nvSpPr>
        <p:spPr>
          <a:xfrm>
            <a:off x="4663440" y="1115568"/>
            <a:ext cx="4160520" cy="3200400"/>
          </a:xfrm>
          <a:prstGeom prst="rect">
            <a:avLst/>
          </a:prstGeom>
          <a:solidFill>
            <a:srgbClr val="FEF3C7"/>
          </a:solidFill>
          <a:ln w="12700">
            <a:solidFill>
              <a:srgbClr val="F59E0B"/>
            </a:solidFill>
            <a:prstDash val="solid"/>
          </a:ln>
        </p:spPr>
      </p:sp>
      <p:sp>
        <p:nvSpPr>
          <p:cNvPr id="26" name="Shape 24"/>
          <p:cNvSpPr/>
          <p:nvPr/>
        </p:nvSpPr>
        <p:spPr>
          <a:xfrm>
            <a:off x="4663440" y="1115568"/>
            <a:ext cx="4160520" cy="292608"/>
          </a:xfrm>
          <a:prstGeom prst="rect">
            <a:avLst/>
          </a:prstGeom>
          <a:solidFill>
            <a:srgbClr val="F59E0B"/>
          </a:solidFill>
          <a:ln w="12700">
            <a:solidFill>
              <a:srgbClr val="F59E0B"/>
            </a:solidFill>
            <a:prstDash val="solid"/>
          </a:ln>
        </p:spPr>
      </p:sp>
      <p:sp>
        <p:nvSpPr>
          <p:cNvPr id="27" name="Text 25"/>
          <p:cNvSpPr/>
          <p:nvPr/>
        </p:nvSpPr>
        <p:spPr>
          <a:xfrm>
            <a:off x="4754880" y="1115568"/>
            <a:ext cx="397764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④  Product Strategy Advisor</a:t>
            </a:r>
            <a:endParaRPr lang="en-US" sz="1000" dirty="0"/>
          </a:p>
        </p:txBody>
      </p:sp>
      <p:sp>
        <p:nvSpPr>
          <p:cNvPr id="28" name="Text 26"/>
          <p:cNvSpPr/>
          <p:nvPr/>
        </p:nvSpPr>
        <p:spPr>
          <a:xfrm>
            <a:off x="4754880" y="1463040"/>
            <a:ext cx="3931920" cy="228600"/>
          </a:xfrm>
          <a:prstGeom prst="rect">
            <a:avLst/>
          </a:prstGeom>
          <a:noFill/>
          <a:ln/>
        </p:spPr>
        <p:txBody>
          <a:bodyPr wrap="square" lIns="0" tIns="0" rIns="0" bIns="0" rtlCol="0" anchor="ctr"/>
          <a:lstStyle/>
          <a:p>
            <a:pPr indent="0" marL="0">
              <a:buNone/>
            </a:pPr>
            <a:r>
              <a:rPr lang="en-US" sz="950" i="1" dirty="0">
                <a:solidFill>
                  <a:srgbClr val="92400E"/>
                </a:solidFill>
                <a:latin typeface="Calibri" pitchFamily="34" charset="0"/>
                <a:ea typeface="Calibri" pitchFamily="34" charset="-122"/>
                <a:cs typeface="Calibri" pitchFamily="34" charset="-120"/>
              </a:rPr>
              <a:t>The instructor's note:</a:t>
            </a:r>
            <a:endParaRPr lang="en-US" sz="950" dirty="0"/>
          </a:p>
        </p:txBody>
      </p:sp>
      <p:sp>
        <p:nvSpPr>
          <p:cNvPr id="29" name="Text 27"/>
          <p:cNvSpPr/>
          <p:nvPr/>
        </p:nvSpPr>
        <p:spPr>
          <a:xfrm>
            <a:off x="4754880" y="1719072"/>
            <a:ext cx="3931920" cy="256032"/>
          </a:xfrm>
          <a:prstGeom prst="rect">
            <a:avLst/>
          </a:prstGeom>
          <a:noFill/>
          <a:ln/>
        </p:spPr>
        <p:txBody>
          <a:bodyPr wrap="square" lIns="0" tIns="0" rIns="0" bIns="0" rtlCol="0" anchor="ctr"/>
          <a:lstStyle/>
          <a:p>
            <a:pPr indent="0" marL="0">
              <a:buNone/>
            </a:pPr>
            <a:r>
              <a:rPr lang="en-US" sz="900" b="1" dirty="0">
                <a:solidFill>
                  <a:srgbClr val="92400E"/>
                </a:solidFill>
                <a:latin typeface="Calibri" pitchFamily="34" charset="0"/>
                <a:ea typeface="Calibri" pitchFamily="34" charset="-122"/>
                <a:cs typeface="Calibri" pitchFamily="34" charset="-120"/>
              </a:rPr>
              <a:t>Product Features  →  Product, Price Point, Report</a:t>
            </a:r>
            <a:endParaRPr lang="en-US" sz="900" dirty="0"/>
          </a:p>
        </p:txBody>
      </p:sp>
      <p:sp>
        <p:nvSpPr>
          <p:cNvPr id="30" name="Text 28"/>
          <p:cNvSpPr/>
          <p:nvPr/>
        </p:nvSpPr>
        <p:spPr>
          <a:xfrm>
            <a:off x="4754880" y="2103120"/>
            <a:ext cx="3931920" cy="256032"/>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Key deliverables:</a:t>
            </a:r>
            <a:endParaRPr lang="en-US" sz="1000" dirty="0"/>
          </a:p>
        </p:txBody>
      </p:sp>
      <p:sp>
        <p:nvSpPr>
          <p:cNvPr id="31" name="Shape 29"/>
          <p:cNvSpPr/>
          <p:nvPr/>
        </p:nvSpPr>
        <p:spPr>
          <a:xfrm>
            <a:off x="4754880" y="2395728"/>
            <a:ext cx="164592" cy="164592"/>
          </a:xfrm>
          <a:prstGeom prst="ellipse">
            <a:avLst/>
          </a:prstGeom>
          <a:solidFill>
            <a:srgbClr val="F59E0B"/>
          </a:solidFill>
          <a:ln w="12700">
            <a:solidFill>
              <a:srgbClr val="F59E0B"/>
            </a:solidFill>
            <a:prstDash val="solid"/>
          </a:ln>
        </p:spPr>
      </p:sp>
      <p:sp>
        <p:nvSpPr>
          <p:cNvPr id="32" name="Text 30"/>
          <p:cNvSpPr/>
          <p:nvPr/>
        </p:nvSpPr>
        <p:spPr>
          <a:xfrm>
            <a:off x="4992624" y="2377440"/>
            <a:ext cx="3767328"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MVP feature list (must-have vs nice-to-have)</a:t>
            </a:r>
            <a:endParaRPr lang="en-US" sz="900" dirty="0"/>
          </a:p>
        </p:txBody>
      </p:sp>
      <p:sp>
        <p:nvSpPr>
          <p:cNvPr id="33" name="Shape 31"/>
          <p:cNvSpPr/>
          <p:nvPr/>
        </p:nvSpPr>
        <p:spPr>
          <a:xfrm>
            <a:off x="4754880" y="2688336"/>
            <a:ext cx="164592" cy="164592"/>
          </a:xfrm>
          <a:prstGeom prst="ellipse">
            <a:avLst/>
          </a:prstGeom>
          <a:solidFill>
            <a:srgbClr val="F59E0B"/>
          </a:solidFill>
          <a:ln w="12700">
            <a:solidFill>
              <a:srgbClr val="F59E0B"/>
            </a:solidFill>
            <a:prstDash val="solid"/>
          </a:ln>
        </p:spPr>
      </p:sp>
      <p:sp>
        <p:nvSpPr>
          <p:cNvPr id="34" name="Text 32"/>
          <p:cNvSpPr/>
          <p:nvPr/>
        </p:nvSpPr>
        <p:spPr>
          <a:xfrm>
            <a:off x="4992624" y="2670048"/>
            <a:ext cx="3767328"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Feature prioritisation matrix (RICE framework)</a:t>
            </a:r>
            <a:endParaRPr lang="en-US" sz="900" dirty="0"/>
          </a:p>
        </p:txBody>
      </p:sp>
      <p:sp>
        <p:nvSpPr>
          <p:cNvPr id="35" name="Shape 33"/>
          <p:cNvSpPr/>
          <p:nvPr/>
        </p:nvSpPr>
        <p:spPr>
          <a:xfrm>
            <a:off x="4754880" y="2980944"/>
            <a:ext cx="164592" cy="164592"/>
          </a:xfrm>
          <a:prstGeom prst="ellipse">
            <a:avLst/>
          </a:prstGeom>
          <a:solidFill>
            <a:srgbClr val="F59E0B"/>
          </a:solidFill>
          <a:ln w="12700">
            <a:solidFill>
              <a:srgbClr val="F59E0B"/>
            </a:solidFill>
            <a:prstDash val="solid"/>
          </a:ln>
        </p:spPr>
      </p:sp>
      <p:sp>
        <p:nvSpPr>
          <p:cNvPr id="36" name="Text 34"/>
          <p:cNvSpPr/>
          <p:nvPr/>
        </p:nvSpPr>
        <p:spPr>
          <a:xfrm>
            <a:off x="4992624" y="2962656"/>
            <a:ext cx="3767328"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Differentiation strategy vs each competitor</a:t>
            </a:r>
            <a:endParaRPr lang="en-US" sz="900" dirty="0"/>
          </a:p>
        </p:txBody>
      </p:sp>
      <p:sp>
        <p:nvSpPr>
          <p:cNvPr id="37" name="Shape 35"/>
          <p:cNvSpPr/>
          <p:nvPr/>
        </p:nvSpPr>
        <p:spPr>
          <a:xfrm>
            <a:off x="4754880" y="3273552"/>
            <a:ext cx="164592" cy="164592"/>
          </a:xfrm>
          <a:prstGeom prst="ellipse">
            <a:avLst/>
          </a:prstGeom>
          <a:solidFill>
            <a:srgbClr val="F59E0B"/>
          </a:solidFill>
          <a:ln w="12700">
            <a:solidFill>
              <a:srgbClr val="F59E0B"/>
            </a:solidFill>
            <a:prstDash val="solid"/>
          </a:ln>
        </p:spPr>
      </p:sp>
      <p:sp>
        <p:nvSpPr>
          <p:cNvPr id="38" name="Text 36"/>
          <p:cNvSpPr/>
          <p:nvPr/>
        </p:nvSpPr>
        <p:spPr>
          <a:xfrm>
            <a:off x="4992624" y="3255264"/>
            <a:ext cx="3767328"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Technical stack recommendations</a:t>
            </a:r>
            <a:endParaRPr lang="en-US" sz="900" dirty="0"/>
          </a:p>
        </p:txBody>
      </p:sp>
      <p:sp>
        <p:nvSpPr>
          <p:cNvPr id="39" name="Shape 37"/>
          <p:cNvSpPr/>
          <p:nvPr/>
        </p:nvSpPr>
        <p:spPr>
          <a:xfrm>
            <a:off x="4754880" y="3566160"/>
            <a:ext cx="164592" cy="164592"/>
          </a:xfrm>
          <a:prstGeom prst="ellipse">
            <a:avLst/>
          </a:prstGeom>
          <a:solidFill>
            <a:srgbClr val="F59E0B"/>
          </a:solidFill>
          <a:ln w="12700">
            <a:solidFill>
              <a:srgbClr val="F59E0B"/>
            </a:solidFill>
            <a:prstDash val="solid"/>
          </a:ln>
        </p:spPr>
      </p:sp>
      <p:sp>
        <p:nvSpPr>
          <p:cNvPr id="40" name="Text 38"/>
          <p:cNvSpPr/>
          <p:nvPr/>
        </p:nvSpPr>
        <p:spPr>
          <a:xfrm>
            <a:off x="4992624" y="3547872"/>
            <a:ext cx="3767328"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Price point recommendations with rationale</a:t>
            </a:r>
            <a:endParaRPr lang="en-US" sz="900" dirty="0"/>
          </a:p>
        </p:txBody>
      </p:sp>
      <p:sp>
        <p:nvSpPr>
          <p:cNvPr id="41" name="Shape 39"/>
          <p:cNvSpPr/>
          <p:nvPr/>
        </p:nvSpPr>
        <p:spPr>
          <a:xfrm>
            <a:off x="4754880" y="3858768"/>
            <a:ext cx="164592" cy="164592"/>
          </a:xfrm>
          <a:prstGeom prst="ellipse">
            <a:avLst/>
          </a:prstGeom>
          <a:solidFill>
            <a:srgbClr val="F59E0B"/>
          </a:solidFill>
          <a:ln w="12700">
            <a:solidFill>
              <a:srgbClr val="F59E0B"/>
            </a:solidFill>
            <a:prstDash val="solid"/>
          </a:ln>
        </p:spPr>
      </p:sp>
      <p:sp>
        <p:nvSpPr>
          <p:cNvPr id="42" name="Text 40"/>
          <p:cNvSpPr/>
          <p:nvPr/>
        </p:nvSpPr>
        <p:spPr>
          <a:xfrm>
            <a:off x="4992624" y="3840480"/>
            <a:ext cx="3767328" cy="256032"/>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12-month product roadmap in 3 phases</a:t>
            </a:r>
            <a:endParaRPr lang="en-US" sz="900" dirty="0"/>
          </a:p>
        </p:txBody>
      </p:sp>
      <p:sp>
        <p:nvSpPr>
          <p:cNvPr id="43" name="Shape 41"/>
          <p:cNvSpPr/>
          <p:nvPr/>
        </p:nvSpPr>
        <p:spPr>
          <a:xfrm>
            <a:off x="320040" y="4407408"/>
            <a:ext cx="8503920" cy="411480"/>
          </a:xfrm>
          <a:prstGeom prst="rect">
            <a:avLst/>
          </a:prstGeom>
          <a:solidFill>
            <a:srgbClr val="DCFCE7"/>
          </a:solidFill>
          <a:ln w="12700">
            <a:solidFill>
              <a:srgbClr val="93C5FD"/>
            </a:solidFill>
            <a:prstDash val="solid"/>
          </a:ln>
        </p:spPr>
      </p:sp>
      <p:sp>
        <p:nvSpPr>
          <p:cNvPr id="44" name="Text 42"/>
          <p:cNvSpPr/>
          <p:nvPr/>
        </p:nvSpPr>
        <p:spPr>
          <a:xfrm>
            <a:off x="411480" y="4453128"/>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Agent ③ gets reports from agents ① and ②.  Agent ④ gets reports from agents ①, ② and ③.  Each agent has more context than the last.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Agent ⑤  — Business Analyst &amp; Report Synthesiser</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The final agent — reads all 4 upstream reports and produces the investment memo</a:t>
            </a:r>
            <a:endParaRPr lang="en-US" sz="1100" dirty="0"/>
          </a:p>
        </p:txBody>
      </p:sp>
      <p:sp>
        <p:nvSpPr>
          <p:cNvPr id="6" name="Text 4"/>
          <p:cNvSpPr/>
          <p:nvPr/>
        </p:nvSpPr>
        <p:spPr>
          <a:xfrm>
            <a:off x="365760" y="1115568"/>
            <a:ext cx="8229600" cy="256032"/>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From the instructor's whiteboard:</a:t>
            </a:r>
            <a:endParaRPr lang="en-US" sz="1100" dirty="0"/>
          </a:p>
        </p:txBody>
      </p:sp>
      <p:sp>
        <p:nvSpPr>
          <p:cNvPr id="7" name="Shape 5"/>
          <p:cNvSpPr/>
          <p:nvPr/>
        </p:nvSpPr>
        <p:spPr>
          <a:xfrm>
            <a:off x="347472" y="1444752"/>
            <a:ext cx="1783080" cy="621792"/>
          </a:xfrm>
          <a:prstGeom prst="rect">
            <a:avLst/>
          </a:prstGeom>
          <a:solidFill>
            <a:srgbClr val="F8FAFC"/>
          </a:solidFill>
          <a:ln w="12700">
            <a:solidFill>
              <a:srgbClr val="CBD5E1"/>
            </a:solidFill>
            <a:prstDash val="solid"/>
          </a:ln>
        </p:spPr>
      </p:sp>
      <p:sp>
        <p:nvSpPr>
          <p:cNvPr id="8" name="Text 6"/>
          <p:cNvSpPr/>
          <p:nvPr/>
        </p:nvSpPr>
        <p:spPr>
          <a:xfrm>
            <a:off x="393192" y="1490472"/>
            <a:ext cx="1691640" cy="502920"/>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Market Research</a:t>
            </a:r>
            <a:endParaRPr lang="en-US" sz="900" dirty="0"/>
          </a:p>
          <a:p>
            <a:pPr algn="ctr" indent="0" marL="0">
              <a:buNone/>
            </a:pPr>
            <a:r>
              <a:rPr lang="en-US" sz="900" dirty="0">
                <a:solidFill>
                  <a:srgbClr val="1E293B"/>
                </a:solidFill>
                <a:latin typeface="Calibri" pitchFamily="34" charset="0"/>
                <a:ea typeface="Calibri" pitchFamily="34" charset="-122"/>
                <a:cs typeface="Calibri" pitchFamily="34" charset="-120"/>
              </a:rPr>
              <a:t>Report</a:t>
            </a:r>
            <a:endParaRPr lang="en-US" sz="900" dirty="0"/>
          </a:p>
        </p:txBody>
      </p:sp>
      <p:sp>
        <p:nvSpPr>
          <p:cNvPr id="9" name="Text 7"/>
          <p:cNvSpPr/>
          <p:nvPr/>
        </p:nvSpPr>
        <p:spPr>
          <a:xfrm>
            <a:off x="896112" y="2103120"/>
            <a:ext cx="685800" cy="201168"/>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359152" y="1444752"/>
            <a:ext cx="1783080" cy="621792"/>
          </a:xfrm>
          <a:prstGeom prst="rect">
            <a:avLst/>
          </a:prstGeom>
          <a:solidFill>
            <a:srgbClr val="F8FAFC"/>
          </a:solidFill>
          <a:ln w="12700">
            <a:solidFill>
              <a:srgbClr val="CBD5E1"/>
            </a:solidFill>
            <a:prstDash val="solid"/>
          </a:ln>
        </p:spPr>
      </p:sp>
      <p:sp>
        <p:nvSpPr>
          <p:cNvPr id="11" name="Text 9"/>
          <p:cNvSpPr/>
          <p:nvPr/>
        </p:nvSpPr>
        <p:spPr>
          <a:xfrm>
            <a:off x="2404872" y="1490472"/>
            <a:ext cx="1691640" cy="502920"/>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Competitor</a:t>
            </a:r>
            <a:endParaRPr lang="en-US" sz="900" dirty="0"/>
          </a:p>
          <a:p>
            <a:pPr algn="ctr" indent="0" marL="0">
              <a:buNone/>
            </a:pPr>
            <a:r>
              <a:rPr lang="en-US" sz="900" dirty="0">
                <a:solidFill>
                  <a:srgbClr val="1E293B"/>
                </a:solidFill>
                <a:latin typeface="Calibri" pitchFamily="34" charset="0"/>
                <a:ea typeface="Calibri" pitchFamily="34" charset="-122"/>
                <a:cs typeface="Calibri" pitchFamily="34" charset="-120"/>
              </a:rPr>
              <a:t>Research Report</a:t>
            </a:r>
            <a:endParaRPr lang="en-US" sz="900" dirty="0"/>
          </a:p>
        </p:txBody>
      </p:sp>
      <p:sp>
        <p:nvSpPr>
          <p:cNvPr id="12" name="Text 10"/>
          <p:cNvSpPr/>
          <p:nvPr/>
        </p:nvSpPr>
        <p:spPr>
          <a:xfrm>
            <a:off x="2907792" y="2103120"/>
            <a:ext cx="685800" cy="201168"/>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4370832" y="1444752"/>
            <a:ext cx="1783080" cy="621792"/>
          </a:xfrm>
          <a:prstGeom prst="rect">
            <a:avLst/>
          </a:prstGeom>
          <a:solidFill>
            <a:srgbClr val="F8FAFC"/>
          </a:solidFill>
          <a:ln w="12700">
            <a:solidFill>
              <a:srgbClr val="CBD5E1"/>
            </a:solidFill>
            <a:prstDash val="solid"/>
          </a:ln>
        </p:spPr>
      </p:sp>
      <p:sp>
        <p:nvSpPr>
          <p:cNvPr id="14" name="Text 12"/>
          <p:cNvSpPr/>
          <p:nvPr/>
        </p:nvSpPr>
        <p:spPr>
          <a:xfrm>
            <a:off x="4416552" y="1490472"/>
            <a:ext cx="1691640" cy="502920"/>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Customer</a:t>
            </a:r>
            <a:endParaRPr lang="en-US" sz="900" dirty="0"/>
          </a:p>
          <a:p>
            <a:pPr algn="ctr" indent="0" marL="0">
              <a:buNone/>
            </a:pPr>
            <a:r>
              <a:rPr lang="en-US" sz="900" dirty="0">
                <a:solidFill>
                  <a:srgbClr val="1E293B"/>
                </a:solidFill>
                <a:latin typeface="Calibri" pitchFamily="34" charset="0"/>
                <a:ea typeface="Calibri" pitchFamily="34" charset="-122"/>
                <a:cs typeface="Calibri" pitchFamily="34" charset="-120"/>
              </a:rPr>
              <a:t>Insights Report</a:t>
            </a:r>
            <a:endParaRPr lang="en-US" sz="900" dirty="0"/>
          </a:p>
        </p:txBody>
      </p:sp>
      <p:sp>
        <p:nvSpPr>
          <p:cNvPr id="15" name="Text 13"/>
          <p:cNvSpPr/>
          <p:nvPr/>
        </p:nvSpPr>
        <p:spPr>
          <a:xfrm>
            <a:off x="4919472" y="2103120"/>
            <a:ext cx="685800" cy="201168"/>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6382512" y="1444752"/>
            <a:ext cx="1783080" cy="621792"/>
          </a:xfrm>
          <a:prstGeom prst="rect">
            <a:avLst/>
          </a:prstGeom>
          <a:solidFill>
            <a:srgbClr val="F8FAFC"/>
          </a:solidFill>
          <a:ln w="12700">
            <a:solidFill>
              <a:srgbClr val="CBD5E1"/>
            </a:solidFill>
            <a:prstDash val="solid"/>
          </a:ln>
        </p:spPr>
      </p:sp>
      <p:sp>
        <p:nvSpPr>
          <p:cNvPr id="17" name="Text 15"/>
          <p:cNvSpPr/>
          <p:nvPr/>
        </p:nvSpPr>
        <p:spPr>
          <a:xfrm>
            <a:off x="6428232" y="1490472"/>
            <a:ext cx="1691640" cy="502920"/>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Product</a:t>
            </a:r>
            <a:endParaRPr lang="en-US" sz="900" dirty="0"/>
          </a:p>
          <a:p>
            <a:pPr algn="ctr" indent="0" marL="0">
              <a:buNone/>
            </a:pPr>
            <a:r>
              <a:rPr lang="en-US" sz="900" dirty="0">
                <a:solidFill>
                  <a:srgbClr val="1E293B"/>
                </a:solidFill>
                <a:latin typeface="Calibri" pitchFamily="34" charset="0"/>
                <a:ea typeface="Calibri" pitchFamily="34" charset="-122"/>
                <a:cs typeface="Calibri" pitchFamily="34" charset="-120"/>
              </a:rPr>
              <a:t>Strategy Report</a:t>
            </a:r>
            <a:endParaRPr lang="en-US" sz="900" dirty="0"/>
          </a:p>
        </p:txBody>
      </p:sp>
      <p:sp>
        <p:nvSpPr>
          <p:cNvPr id="18" name="Text 16"/>
          <p:cNvSpPr/>
          <p:nvPr/>
        </p:nvSpPr>
        <p:spPr>
          <a:xfrm>
            <a:off x="6931152" y="2103120"/>
            <a:ext cx="685800" cy="201168"/>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1371600" y="2331720"/>
            <a:ext cx="6400800" cy="658368"/>
          </a:xfrm>
          <a:prstGeom prst="rect">
            <a:avLst/>
          </a:prstGeom>
          <a:solidFill>
            <a:srgbClr val="EDE9FE"/>
          </a:solidFill>
          <a:ln w="12700">
            <a:solidFill>
              <a:srgbClr val="7C3AED"/>
            </a:solidFill>
            <a:prstDash val="solid"/>
          </a:ln>
        </p:spPr>
      </p:sp>
      <p:sp>
        <p:nvSpPr>
          <p:cNvPr id="20" name="Text 18"/>
          <p:cNvSpPr/>
          <p:nvPr/>
        </p:nvSpPr>
        <p:spPr>
          <a:xfrm>
            <a:off x="1371600" y="2395728"/>
            <a:ext cx="6400800" cy="475488"/>
          </a:xfrm>
          <a:prstGeom prst="rect">
            <a:avLst/>
          </a:prstGeom>
          <a:noFill/>
          <a:ln/>
        </p:spPr>
        <p:txBody>
          <a:bodyPr wrap="square" lIns="0" tIns="0" rIns="0" bIns="0" rtlCol="0" anchor="ctr"/>
          <a:lstStyle/>
          <a:p>
            <a:pPr algn="ctr" indent="0" marL="0">
              <a:buNone/>
            </a:pPr>
            <a:r>
              <a:rPr lang="en-US" sz="1300" b="1" dirty="0">
                <a:solidFill>
                  <a:srgbClr val="7C3AED"/>
                </a:solidFill>
                <a:latin typeface="Calibri" pitchFamily="34" charset="0"/>
                <a:ea typeface="Calibri" pitchFamily="34" charset="-122"/>
                <a:cs typeface="Calibri" pitchFamily="34" charset="-120"/>
              </a:rPr>
              <a:t>⑤  Business Analyst  (reads all 4 upstream reports)</a:t>
            </a:r>
            <a:endParaRPr lang="en-US" sz="1300" dirty="0"/>
          </a:p>
        </p:txBody>
      </p:sp>
      <p:sp>
        <p:nvSpPr>
          <p:cNvPr id="21" name="Text 19"/>
          <p:cNvSpPr/>
          <p:nvPr/>
        </p:nvSpPr>
        <p:spPr>
          <a:xfrm>
            <a:off x="4114800" y="3035808"/>
            <a:ext cx="914400" cy="256032"/>
          </a:xfrm>
          <a:prstGeom prst="rect">
            <a:avLst/>
          </a:prstGeom>
          <a:noFill/>
          <a:ln/>
        </p:spPr>
        <p:txBody>
          <a:bodyPr wrap="square" lIns="0" tIns="0" rIns="0" bIns="0" rtlCol="0" anchor="ctr"/>
          <a:lstStyle/>
          <a:p>
            <a:pPr algn="ctr" indent="0" marL="0">
              <a:buNone/>
            </a:pPr>
            <a:r>
              <a:rPr lang="en-US" sz="1600" dirty="0">
                <a:solidFill>
                  <a:srgbClr val="7C3AED"/>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2011680" y="3310128"/>
            <a:ext cx="5120640" cy="566928"/>
          </a:xfrm>
          <a:prstGeom prst="rect">
            <a:avLst/>
          </a:prstGeom>
          <a:solidFill>
            <a:srgbClr val="0F172A"/>
          </a:solidFill>
          <a:ln w="12700">
            <a:solidFill>
              <a:srgbClr val="4F46E5"/>
            </a:solidFill>
            <a:prstDash val="solid"/>
          </a:ln>
        </p:spPr>
      </p:sp>
      <p:sp>
        <p:nvSpPr>
          <p:cNvPr id="23" name="Text 21"/>
          <p:cNvSpPr/>
          <p:nvPr/>
        </p:nvSpPr>
        <p:spPr>
          <a:xfrm>
            <a:off x="2011680" y="3401568"/>
            <a:ext cx="5120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Single Final Output  →  reports/report.md</a:t>
            </a:r>
            <a:endParaRPr lang="en-US" sz="1300" dirty="0"/>
          </a:p>
        </p:txBody>
      </p:sp>
      <p:sp>
        <p:nvSpPr>
          <p:cNvPr id="24" name="Text 22"/>
          <p:cNvSpPr/>
          <p:nvPr/>
        </p:nvSpPr>
        <p:spPr>
          <a:xfrm>
            <a:off x="365760" y="3977640"/>
            <a:ext cx="82296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The final report contains:</a:t>
            </a:r>
            <a:endParaRPr lang="en-US" sz="1100" dirty="0"/>
          </a:p>
        </p:txBody>
      </p:sp>
      <p:sp>
        <p:nvSpPr>
          <p:cNvPr id="25" name="Text 23"/>
          <p:cNvSpPr/>
          <p:nvPr/>
        </p:nvSpPr>
        <p:spPr>
          <a:xfrm>
            <a:off x="365760" y="4251960"/>
            <a:ext cx="4160520" cy="3200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  Executive Summary — One-page overview with key findings and overall Go/No-Go recommendation</a:t>
            </a:r>
            <a:endParaRPr lang="en-US" sz="950" dirty="0"/>
          </a:p>
        </p:txBody>
      </p:sp>
      <p:sp>
        <p:nvSpPr>
          <p:cNvPr id="26" name="Text 24"/>
          <p:cNvSpPr/>
          <p:nvPr/>
        </p:nvSpPr>
        <p:spPr>
          <a:xfrm>
            <a:off x="365760" y="4599432"/>
            <a:ext cx="4160520" cy="3200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  Pricing Strategy — Subscription tiers, price points, psychology, discounting rules</a:t>
            </a:r>
            <a:endParaRPr lang="en-US" sz="950" dirty="0"/>
          </a:p>
        </p:txBody>
      </p:sp>
      <p:sp>
        <p:nvSpPr>
          <p:cNvPr id="27" name="Text 25"/>
          <p:cNvSpPr/>
          <p:nvPr/>
        </p:nvSpPr>
        <p:spPr>
          <a:xfrm>
            <a:off x="4663440" y="4251960"/>
            <a:ext cx="4160520" cy="3200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  3-Year Revenue Projections — CAC, LTV, break-even analysis, path to profitability</a:t>
            </a:r>
            <a:endParaRPr lang="en-US" sz="950" dirty="0"/>
          </a:p>
        </p:txBody>
      </p:sp>
      <p:sp>
        <p:nvSpPr>
          <p:cNvPr id="28" name="Text 26"/>
          <p:cNvSpPr/>
          <p:nvPr/>
        </p:nvSpPr>
        <p:spPr>
          <a:xfrm>
            <a:off x="4663440" y="4599432"/>
            <a:ext cx="4160520" cy="3200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  Risk Matrix — Market, competitive, technical, financial risks with mitigation plans</a:t>
            </a:r>
            <a:endParaRPr lang="en-US" sz="950" dirty="0"/>
          </a:p>
        </p:txBody>
      </p:sp>
      <p:sp>
        <p:nvSpPr>
          <p:cNvPr id="29" name="Shape 27"/>
          <p:cNvSpPr/>
          <p:nvPr/>
        </p:nvSpPr>
        <p:spPr>
          <a:xfrm>
            <a:off x="320040" y="4937760"/>
            <a:ext cx="8503920" cy="411480"/>
          </a:xfrm>
          <a:prstGeom prst="rect">
            <a:avLst/>
          </a:prstGeom>
          <a:solidFill>
            <a:srgbClr val="FEF3C7"/>
          </a:solidFill>
          <a:ln w="12700">
            <a:solidFill>
              <a:srgbClr val="93C5FD"/>
            </a:solidFill>
            <a:prstDash val="solid"/>
          </a:ln>
        </p:spPr>
      </p:sp>
      <p:sp>
        <p:nvSpPr>
          <p:cNvPr id="30" name="Text 28"/>
          <p:cNvSpPr/>
          <p:nvPr/>
        </p:nvSpPr>
        <p:spPr>
          <a:xfrm>
            <a:off x="411480" y="4983480"/>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The output_file='reports/report.md' parameter in crew.py tells CrewAI to automatically save the final agent's output to that file.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Project Structure — Folder &amp; File Layout</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Understanding where each file lives before writing any code</a:t>
            </a:r>
            <a:endParaRPr lang="en-US" sz="1100" dirty="0"/>
          </a:p>
        </p:txBody>
      </p:sp>
      <p:sp>
        <p:nvSpPr>
          <p:cNvPr id="6" name="Shape 4"/>
          <p:cNvSpPr/>
          <p:nvPr/>
        </p:nvSpPr>
        <p:spPr>
          <a:xfrm>
            <a:off x="320040" y="1115568"/>
            <a:ext cx="4160520" cy="3749040"/>
          </a:xfrm>
          <a:prstGeom prst="rect">
            <a:avLst/>
          </a:prstGeom>
          <a:solidFill>
            <a:srgbClr val="1E293B"/>
          </a:solidFill>
          <a:ln w="12700">
            <a:solidFill>
              <a:srgbClr val="334155"/>
            </a:solidFill>
            <a:prstDash val="solid"/>
          </a:ln>
        </p:spPr>
      </p:sp>
      <p:sp>
        <p:nvSpPr>
          <p:cNvPr id="7" name="Text 5"/>
          <p:cNvSpPr/>
          <p:nvPr/>
        </p:nvSpPr>
        <p:spPr>
          <a:xfrm>
            <a:off x="411480" y="1161288"/>
            <a:ext cx="3977640" cy="256032"/>
          </a:xfrm>
          <a:prstGeom prst="rect">
            <a:avLst/>
          </a:prstGeom>
          <a:noFill/>
          <a:ln/>
        </p:spPr>
        <p:txBody>
          <a:bodyPr wrap="square" lIns="0" tIns="0" rIns="0" bIns="0" rtlCol="0" anchor="ctr"/>
          <a:lstStyle/>
          <a:p>
            <a:pPr indent="0" marL="0">
              <a:buNone/>
            </a:pPr>
            <a:r>
              <a:rPr lang="en-US" sz="1000" b="1" dirty="0">
                <a:solidFill>
                  <a:srgbClr val="A5B4FC"/>
                </a:solidFill>
                <a:latin typeface="Consolas" pitchFamily="34" charset="0"/>
                <a:ea typeface="Consolas" pitchFamily="34" charset="-122"/>
                <a:cs typeface="Consolas" pitchFamily="34" charset="-120"/>
              </a:rPr>
              <a:t>📁  Folder Layout (after crewai create)</a:t>
            </a:r>
            <a:endParaRPr lang="en-US" sz="1000" dirty="0"/>
          </a:p>
        </p:txBody>
      </p:sp>
      <p:sp>
        <p:nvSpPr>
          <p:cNvPr id="8" name="Text 6"/>
          <p:cNvSpPr/>
          <p:nvPr/>
        </p:nvSpPr>
        <p:spPr>
          <a:xfrm>
            <a:off x="457200" y="1463040"/>
            <a:ext cx="3931920" cy="22860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market_research_crew/</a:t>
            </a:r>
            <a:endParaRPr lang="en-US" sz="900" dirty="0"/>
          </a:p>
        </p:txBody>
      </p:sp>
      <p:sp>
        <p:nvSpPr>
          <p:cNvPr id="9" name="Text 7"/>
          <p:cNvSpPr/>
          <p:nvPr/>
        </p:nvSpPr>
        <p:spPr>
          <a:xfrm>
            <a:off x="457200" y="1691640"/>
            <a:ext cx="3931920" cy="22860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  ├── src/</a:t>
            </a:r>
            <a:endParaRPr lang="en-US" sz="900" dirty="0"/>
          </a:p>
        </p:txBody>
      </p:sp>
      <p:sp>
        <p:nvSpPr>
          <p:cNvPr id="10" name="Text 8"/>
          <p:cNvSpPr/>
          <p:nvPr/>
        </p:nvSpPr>
        <p:spPr>
          <a:xfrm>
            <a:off x="457200" y="1920240"/>
            <a:ext cx="3931920" cy="22860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  │   └── market_research_crew/</a:t>
            </a:r>
            <a:endParaRPr lang="en-US" sz="900" dirty="0"/>
          </a:p>
        </p:txBody>
      </p:sp>
      <p:sp>
        <p:nvSpPr>
          <p:cNvPr id="11" name="Text 9"/>
          <p:cNvSpPr/>
          <p:nvPr/>
        </p:nvSpPr>
        <p:spPr>
          <a:xfrm>
            <a:off x="457200" y="2148840"/>
            <a:ext cx="3931920" cy="22860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  │       ├── config/</a:t>
            </a:r>
            <a:endParaRPr lang="en-US" sz="900" dirty="0"/>
          </a:p>
        </p:txBody>
      </p:sp>
      <p:sp>
        <p:nvSpPr>
          <p:cNvPr id="12" name="Text 10"/>
          <p:cNvSpPr/>
          <p:nvPr/>
        </p:nvSpPr>
        <p:spPr>
          <a:xfrm>
            <a:off x="457200" y="2377440"/>
            <a:ext cx="3931920" cy="228600"/>
          </a:xfrm>
          <a:prstGeom prst="rect">
            <a:avLst/>
          </a:prstGeom>
          <a:noFill/>
          <a:ln/>
        </p:spPr>
        <p:txBody>
          <a:bodyPr wrap="square" lIns="0" tIns="0" rIns="0" bIns="0" rtlCol="0" anchor="ctr"/>
          <a:lstStyle/>
          <a:p>
            <a:pPr indent="0" marL="0">
              <a:buNone/>
            </a:pPr>
            <a:r>
              <a:rPr lang="en-US" sz="900" b="1" dirty="0">
                <a:solidFill>
                  <a:srgbClr val="7DD3FC"/>
                </a:solidFill>
                <a:latin typeface="Consolas" pitchFamily="34" charset="0"/>
                <a:ea typeface="Consolas" pitchFamily="34" charset="-122"/>
                <a:cs typeface="Consolas" pitchFamily="34" charset="-120"/>
              </a:rPr>
              <a:t>  │       │   ├── agents.yaml  ◄ edit this</a:t>
            </a:r>
            <a:endParaRPr lang="en-US" sz="900" dirty="0"/>
          </a:p>
        </p:txBody>
      </p:sp>
      <p:sp>
        <p:nvSpPr>
          <p:cNvPr id="13" name="Text 11"/>
          <p:cNvSpPr/>
          <p:nvPr/>
        </p:nvSpPr>
        <p:spPr>
          <a:xfrm>
            <a:off x="457200" y="2606040"/>
            <a:ext cx="3931920" cy="228600"/>
          </a:xfrm>
          <a:prstGeom prst="rect">
            <a:avLst/>
          </a:prstGeom>
          <a:noFill/>
          <a:ln/>
        </p:spPr>
        <p:txBody>
          <a:bodyPr wrap="square" lIns="0" tIns="0" rIns="0" bIns="0" rtlCol="0" anchor="ctr"/>
          <a:lstStyle/>
          <a:p>
            <a:pPr indent="0" marL="0">
              <a:buNone/>
            </a:pPr>
            <a:r>
              <a:rPr lang="en-US" sz="900" b="1" dirty="0">
                <a:solidFill>
                  <a:srgbClr val="7DD3FC"/>
                </a:solidFill>
                <a:latin typeface="Consolas" pitchFamily="34" charset="0"/>
                <a:ea typeface="Consolas" pitchFamily="34" charset="-122"/>
                <a:cs typeface="Consolas" pitchFamily="34" charset="-120"/>
              </a:rPr>
              <a:t>  │       │   └── tasks.yaml   ◄ edit this</a:t>
            </a:r>
            <a:endParaRPr lang="en-US" sz="900" dirty="0"/>
          </a:p>
        </p:txBody>
      </p:sp>
      <p:sp>
        <p:nvSpPr>
          <p:cNvPr id="14" name="Text 12"/>
          <p:cNvSpPr/>
          <p:nvPr/>
        </p:nvSpPr>
        <p:spPr>
          <a:xfrm>
            <a:off x="457200" y="2834640"/>
            <a:ext cx="3931920" cy="22860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  │       ├── __init__.py</a:t>
            </a:r>
            <a:endParaRPr lang="en-US" sz="900" dirty="0"/>
          </a:p>
        </p:txBody>
      </p:sp>
      <p:sp>
        <p:nvSpPr>
          <p:cNvPr id="15" name="Text 13"/>
          <p:cNvSpPr/>
          <p:nvPr/>
        </p:nvSpPr>
        <p:spPr>
          <a:xfrm>
            <a:off x="457200" y="3063240"/>
            <a:ext cx="3931920" cy="228600"/>
          </a:xfrm>
          <a:prstGeom prst="rect">
            <a:avLst/>
          </a:prstGeom>
          <a:noFill/>
          <a:ln/>
        </p:spPr>
        <p:txBody>
          <a:bodyPr wrap="square" lIns="0" tIns="0" rIns="0" bIns="0" rtlCol="0" anchor="ctr"/>
          <a:lstStyle/>
          <a:p>
            <a:pPr indent="0" marL="0">
              <a:buNone/>
            </a:pPr>
            <a:r>
              <a:rPr lang="en-US" sz="900" b="1" dirty="0">
                <a:solidFill>
                  <a:srgbClr val="7DD3FC"/>
                </a:solidFill>
                <a:latin typeface="Consolas" pitchFamily="34" charset="0"/>
                <a:ea typeface="Consolas" pitchFamily="34" charset="-122"/>
                <a:cs typeface="Consolas" pitchFamily="34" charset="-120"/>
              </a:rPr>
              <a:t>  │       ├── crew.py          ◄ edit this</a:t>
            </a:r>
            <a:endParaRPr lang="en-US" sz="900" dirty="0"/>
          </a:p>
        </p:txBody>
      </p:sp>
      <p:sp>
        <p:nvSpPr>
          <p:cNvPr id="16" name="Text 14"/>
          <p:cNvSpPr/>
          <p:nvPr/>
        </p:nvSpPr>
        <p:spPr>
          <a:xfrm>
            <a:off x="457200" y="3291840"/>
            <a:ext cx="3931920" cy="228600"/>
          </a:xfrm>
          <a:prstGeom prst="rect">
            <a:avLst/>
          </a:prstGeom>
          <a:noFill/>
          <a:ln/>
        </p:spPr>
        <p:txBody>
          <a:bodyPr wrap="square" lIns="0" tIns="0" rIns="0" bIns="0" rtlCol="0" anchor="ctr"/>
          <a:lstStyle/>
          <a:p>
            <a:pPr indent="0" marL="0">
              <a:buNone/>
            </a:pPr>
            <a:r>
              <a:rPr lang="en-US" sz="900" b="1" dirty="0">
                <a:solidFill>
                  <a:srgbClr val="7DD3FC"/>
                </a:solidFill>
                <a:latin typeface="Consolas" pitchFamily="34" charset="0"/>
                <a:ea typeface="Consolas" pitchFamily="34" charset="-122"/>
                <a:cs typeface="Consolas" pitchFamily="34" charset="-120"/>
              </a:rPr>
              <a:t>  │       └── main.py          ◄ edit this</a:t>
            </a:r>
            <a:endParaRPr lang="en-US" sz="900" dirty="0"/>
          </a:p>
        </p:txBody>
      </p:sp>
      <p:sp>
        <p:nvSpPr>
          <p:cNvPr id="17" name="Text 15"/>
          <p:cNvSpPr/>
          <p:nvPr/>
        </p:nvSpPr>
        <p:spPr>
          <a:xfrm>
            <a:off x="457200" y="3520440"/>
            <a:ext cx="3931920" cy="22860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  ├── knowledge/</a:t>
            </a:r>
            <a:endParaRPr lang="en-US" sz="900" dirty="0"/>
          </a:p>
        </p:txBody>
      </p:sp>
      <p:sp>
        <p:nvSpPr>
          <p:cNvPr id="18" name="Text 16"/>
          <p:cNvSpPr/>
          <p:nvPr/>
        </p:nvSpPr>
        <p:spPr>
          <a:xfrm>
            <a:off x="457200" y="3749040"/>
            <a:ext cx="3931920" cy="22860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  ├── tests/</a:t>
            </a:r>
            <a:endParaRPr lang="en-US" sz="900" dirty="0"/>
          </a:p>
        </p:txBody>
      </p:sp>
      <p:sp>
        <p:nvSpPr>
          <p:cNvPr id="19" name="Text 17"/>
          <p:cNvSpPr/>
          <p:nvPr/>
        </p:nvSpPr>
        <p:spPr>
          <a:xfrm>
            <a:off x="457200" y="3977640"/>
            <a:ext cx="3931920" cy="228600"/>
          </a:xfrm>
          <a:prstGeom prst="rect">
            <a:avLst/>
          </a:prstGeom>
          <a:noFill/>
          <a:ln/>
        </p:spPr>
        <p:txBody>
          <a:bodyPr wrap="square" lIns="0" tIns="0" rIns="0" bIns="0" rtlCol="0" anchor="ctr"/>
          <a:lstStyle/>
          <a:p>
            <a:pPr indent="0" marL="0">
              <a:buNone/>
            </a:pPr>
            <a:r>
              <a:rPr lang="en-US" sz="900" dirty="0">
                <a:solidFill>
                  <a:srgbClr val="FCD34D"/>
                </a:solidFill>
                <a:latin typeface="Consolas" pitchFamily="34" charset="0"/>
                <a:ea typeface="Consolas" pitchFamily="34" charset="-122"/>
                <a:cs typeface="Consolas" pitchFamily="34" charset="-120"/>
              </a:rPr>
              <a:t>  ├── reports/    ← output saved here</a:t>
            </a:r>
            <a:endParaRPr lang="en-US" sz="900" dirty="0"/>
          </a:p>
        </p:txBody>
      </p:sp>
      <p:sp>
        <p:nvSpPr>
          <p:cNvPr id="20" name="Text 18"/>
          <p:cNvSpPr/>
          <p:nvPr/>
        </p:nvSpPr>
        <p:spPr>
          <a:xfrm>
            <a:off x="457200" y="4206240"/>
            <a:ext cx="3931920" cy="228600"/>
          </a:xfrm>
          <a:prstGeom prst="rect">
            <a:avLst/>
          </a:prstGeom>
          <a:noFill/>
          <a:ln/>
        </p:spPr>
        <p:txBody>
          <a:bodyPr wrap="square" lIns="0" tIns="0" rIns="0" bIns="0" rtlCol="0" anchor="ctr"/>
          <a:lstStyle/>
          <a:p>
            <a:pPr indent="0" marL="0">
              <a:buNone/>
            </a:pPr>
            <a:r>
              <a:rPr lang="en-US" sz="900" dirty="0">
                <a:solidFill>
                  <a:srgbClr val="FCD34D"/>
                </a:solidFill>
                <a:latin typeface="Consolas" pitchFamily="34" charset="0"/>
                <a:ea typeface="Consolas" pitchFamily="34" charset="-122"/>
                <a:cs typeface="Consolas" pitchFamily="34" charset="-120"/>
              </a:rPr>
              <a:t>  ├── .env        ← API keys here</a:t>
            </a:r>
            <a:endParaRPr lang="en-US" sz="900" dirty="0"/>
          </a:p>
        </p:txBody>
      </p:sp>
      <p:sp>
        <p:nvSpPr>
          <p:cNvPr id="21" name="Text 19"/>
          <p:cNvSpPr/>
          <p:nvPr/>
        </p:nvSpPr>
        <p:spPr>
          <a:xfrm>
            <a:off x="457200" y="4434840"/>
            <a:ext cx="3931920" cy="228600"/>
          </a:xfrm>
          <a:prstGeom prst="rect">
            <a:avLst/>
          </a:prstGeom>
          <a:noFill/>
          <a:ln/>
        </p:spPr>
        <p:txBody>
          <a:bodyPr wrap="square" lIns="0" tIns="0" rIns="0" bIns="0" rtlCol="0" anchor="ctr"/>
          <a:lstStyle/>
          <a:p>
            <a:pPr indent="0" marL="0">
              <a:buNone/>
            </a:pPr>
            <a:r>
              <a:rPr lang="en-US" sz="900" dirty="0">
                <a:solidFill>
                  <a:srgbClr val="94A3B8"/>
                </a:solidFill>
                <a:latin typeface="Consolas" pitchFamily="34" charset="0"/>
                <a:ea typeface="Consolas" pitchFamily="34" charset="-122"/>
                <a:cs typeface="Consolas" pitchFamily="34" charset="-120"/>
              </a:rPr>
              <a:t>  └── pyproject.toml</a:t>
            </a:r>
            <a:endParaRPr lang="en-US" sz="900" dirty="0"/>
          </a:p>
        </p:txBody>
      </p:sp>
      <p:sp>
        <p:nvSpPr>
          <p:cNvPr id="22" name="Shape 20"/>
          <p:cNvSpPr/>
          <p:nvPr/>
        </p:nvSpPr>
        <p:spPr>
          <a:xfrm>
            <a:off x="4663440" y="1115568"/>
            <a:ext cx="4160520" cy="768096"/>
          </a:xfrm>
          <a:prstGeom prst="rect">
            <a:avLst/>
          </a:prstGeom>
          <a:solidFill>
            <a:srgbClr val="EDE9FE"/>
          </a:solidFill>
          <a:ln w="12700">
            <a:solidFill>
              <a:srgbClr val="7C3AED"/>
            </a:solidFill>
            <a:prstDash val="solid"/>
          </a:ln>
        </p:spPr>
      </p:sp>
      <p:sp>
        <p:nvSpPr>
          <p:cNvPr id="23" name="Shape 21"/>
          <p:cNvSpPr/>
          <p:nvPr/>
        </p:nvSpPr>
        <p:spPr>
          <a:xfrm>
            <a:off x="4663440" y="1115568"/>
            <a:ext cx="64008" cy="768096"/>
          </a:xfrm>
          <a:prstGeom prst="rect">
            <a:avLst/>
          </a:prstGeom>
          <a:solidFill>
            <a:srgbClr val="7C3AED"/>
          </a:solidFill>
          <a:ln w="12700">
            <a:solidFill>
              <a:srgbClr val="7C3AED"/>
            </a:solidFill>
            <a:prstDash val="solid"/>
          </a:ln>
        </p:spPr>
      </p:sp>
      <p:sp>
        <p:nvSpPr>
          <p:cNvPr id="24" name="Text 22"/>
          <p:cNvSpPr/>
          <p:nvPr/>
        </p:nvSpPr>
        <p:spPr>
          <a:xfrm>
            <a:off x="4800600" y="1188720"/>
            <a:ext cx="3931920" cy="237744"/>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  agents.yaml</a:t>
            </a:r>
            <a:endParaRPr lang="en-US" sz="1100" dirty="0"/>
          </a:p>
        </p:txBody>
      </p:sp>
      <p:sp>
        <p:nvSpPr>
          <p:cNvPr id="25" name="Text 23"/>
          <p:cNvSpPr/>
          <p:nvPr/>
        </p:nvSpPr>
        <p:spPr>
          <a:xfrm>
            <a:off x="4800600" y="1426464"/>
            <a:ext cx="3931920" cy="40233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Defines role, goal, and backstory for each agent. Think of it as each agent's job description that shapes how the LLM behaves.</a:t>
            </a:r>
            <a:endParaRPr lang="en-US" sz="900" dirty="0"/>
          </a:p>
        </p:txBody>
      </p:sp>
      <p:sp>
        <p:nvSpPr>
          <p:cNvPr id="26" name="Shape 24"/>
          <p:cNvSpPr/>
          <p:nvPr/>
        </p:nvSpPr>
        <p:spPr>
          <a:xfrm>
            <a:off x="4663440" y="1965960"/>
            <a:ext cx="4160520" cy="768096"/>
          </a:xfrm>
          <a:prstGeom prst="rect">
            <a:avLst/>
          </a:prstGeom>
          <a:solidFill>
            <a:srgbClr val="E0F2FE"/>
          </a:solidFill>
          <a:ln w="12700">
            <a:solidFill>
              <a:srgbClr val="0EA5E9"/>
            </a:solidFill>
            <a:prstDash val="solid"/>
          </a:ln>
        </p:spPr>
      </p:sp>
      <p:sp>
        <p:nvSpPr>
          <p:cNvPr id="27" name="Shape 25"/>
          <p:cNvSpPr/>
          <p:nvPr/>
        </p:nvSpPr>
        <p:spPr>
          <a:xfrm>
            <a:off x="4663440" y="1965960"/>
            <a:ext cx="64008" cy="768096"/>
          </a:xfrm>
          <a:prstGeom prst="rect">
            <a:avLst/>
          </a:prstGeom>
          <a:solidFill>
            <a:srgbClr val="0EA5E9"/>
          </a:solidFill>
          <a:ln w="12700">
            <a:solidFill>
              <a:srgbClr val="0EA5E9"/>
            </a:solidFill>
            <a:prstDash val="solid"/>
          </a:ln>
        </p:spPr>
      </p:sp>
      <p:sp>
        <p:nvSpPr>
          <p:cNvPr id="28" name="Text 26"/>
          <p:cNvSpPr/>
          <p:nvPr/>
        </p:nvSpPr>
        <p:spPr>
          <a:xfrm>
            <a:off x="4800600" y="2039112"/>
            <a:ext cx="3931920" cy="237744"/>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  tasks.yaml</a:t>
            </a:r>
            <a:endParaRPr lang="en-US" sz="1100" dirty="0"/>
          </a:p>
        </p:txBody>
      </p:sp>
      <p:sp>
        <p:nvSpPr>
          <p:cNvPr id="29" name="Text 27"/>
          <p:cNvSpPr/>
          <p:nvPr/>
        </p:nvSpPr>
        <p:spPr>
          <a:xfrm>
            <a:off x="4800600" y="2276856"/>
            <a:ext cx="3931920" cy="40233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Defines the task description, expected output format, and which agent runs it. The {product_idea} placeholder gets filled at runtime.</a:t>
            </a:r>
            <a:endParaRPr lang="en-US" sz="900" dirty="0"/>
          </a:p>
        </p:txBody>
      </p:sp>
      <p:sp>
        <p:nvSpPr>
          <p:cNvPr id="30" name="Shape 28"/>
          <p:cNvSpPr/>
          <p:nvPr/>
        </p:nvSpPr>
        <p:spPr>
          <a:xfrm>
            <a:off x="4663440" y="2816352"/>
            <a:ext cx="4160520" cy="768096"/>
          </a:xfrm>
          <a:prstGeom prst="rect">
            <a:avLst/>
          </a:prstGeom>
          <a:solidFill>
            <a:srgbClr val="DCFCE7"/>
          </a:solidFill>
          <a:ln w="12700">
            <a:solidFill>
              <a:srgbClr val="22C55E"/>
            </a:solidFill>
            <a:prstDash val="solid"/>
          </a:ln>
        </p:spPr>
      </p:sp>
      <p:sp>
        <p:nvSpPr>
          <p:cNvPr id="31" name="Shape 29"/>
          <p:cNvSpPr/>
          <p:nvPr/>
        </p:nvSpPr>
        <p:spPr>
          <a:xfrm>
            <a:off x="4663440" y="2816352"/>
            <a:ext cx="64008" cy="768096"/>
          </a:xfrm>
          <a:prstGeom prst="rect">
            <a:avLst/>
          </a:prstGeom>
          <a:solidFill>
            <a:srgbClr val="22C55E"/>
          </a:solidFill>
          <a:ln w="12700">
            <a:solidFill>
              <a:srgbClr val="22C55E"/>
            </a:solidFill>
            <a:prstDash val="solid"/>
          </a:ln>
        </p:spPr>
      </p:sp>
      <p:sp>
        <p:nvSpPr>
          <p:cNvPr id="32" name="Text 30"/>
          <p:cNvSpPr/>
          <p:nvPr/>
        </p:nvSpPr>
        <p:spPr>
          <a:xfrm>
            <a:off x="4800600" y="2889504"/>
            <a:ext cx="3931920" cy="237744"/>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  crew.py</a:t>
            </a:r>
            <a:endParaRPr lang="en-US" sz="1100" dirty="0"/>
          </a:p>
        </p:txBody>
      </p:sp>
      <p:sp>
        <p:nvSpPr>
          <p:cNvPr id="33" name="Text 31"/>
          <p:cNvSpPr/>
          <p:nvPr/>
        </p:nvSpPr>
        <p:spPr>
          <a:xfrm>
            <a:off x="4800600" y="3127248"/>
            <a:ext cx="3931920" cy="40233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The wiring file — imports tools, creates agent objects, wires tasks with context, and defines Process.sequential to run them in order.</a:t>
            </a:r>
            <a:endParaRPr lang="en-US" sz="900" dirty="0"/>
          </a:p>
        </p:txBody>
      </p:sp>
      <p:sp>
        <p:nvSpPr>
          <p:cNvPr id="34" name="Shape 32"/>
          <p:cNvSpPr/>
          <p:nvPr/>
        </p:nvSpPr>
        <p:spPr>
          <a:xfrm>
            <a:off x="4663440" y="3666744"/>
            <a:ext cx="4160520" cy="768096"/>
          </a:xfrm>
          <a:prstGeom prst="rect">
            <a:avLst/>
          </a:prstGeom>
          <a:solidFill>
            <a:srgbClr val="FEF3C7"/>
          </a:solidFill>
          <a:ln w="12700">
            <a:solidFill>
              <a:srgbClr val="F59E0B"/>
            </a:solidFill>
            <a:prstDash val="solid"/>
          </a:ln>
        </p:spPr>
      </p:sp>
      <p:sp>
        <p:nvSpPr>
          <p:cNvPr id="35" name="Shape 33"/>
          <p:cNvSpPr/>
          <p:nvPr/>
        </p:nvSpPr>
        <p:spPr>
          <a:xfrm>
            <a:off x="4663440" y="3666744"/>
            <a:ext cx="64008" cy="768096"/>
          </a:xfrm>
          <a:prstGeom prst="rect">
            <a:avLst/>
          </a:prstGeom>
          <a:solidFill>
            <a:srgbClr val="F59E0B"/>
          </a:solidFill>
          <a:ln w="12700">
            <a:solidFill>
              <a:srgbClr val="F59E0B"/>
            </a:solidFill>
            <a:prstDash val="solid"/>
          </a:ln>
        </p:spPr>
      </p:sp>
      <p:sp>
        <p:nvSpPr>
          <p:cNvPr id="36" name="Text 34"/>
          <p:cNvSpPr/>
          <p:nvPr/>
        </p:nvSpPr>
        <p:spPr>
          <a:xfrm>
            <a:off x="4800600" y="3739896"/>
            <a:ext cx="3931920" cy="237744"/>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  main.py</a:t>
            </a:r>
            <a:endParaRPr lang="en-US" sz="1100" dirty="0"/>
          </a:p>
        </p:txBody>
      </p:sp>
      <p:sp>
        <p:nvSpPr>
          <p:cNvPr id="37" name="Text 35"/>
          <p:cNvSpPr/>
          <p:nvPr/>
        </p:nvSpPr>
        <p:spPr>
          <a:xfrm>
            <a:off x="4800600" y="3977640"/>
            <a:ext cx="3931920" cy="402336"/>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The entry point. Set your product_idea string here and call crew().kickoff() to launch the entire pipeline.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Step 1: Install uv — The Fast Python Package Manager</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uv replaces pip + virtualenv. Written in Rust, much faster. CrewAI recommends it.</a:t>
            </a:r>
            <a:endParaRPr lang="en-US" sz="1100" dirty="0"/>
          </a:p>
        </p:txBody>
      </p:sp>
      <p:sp>
        <p:nvSpPr>
          <p:cNvPr id="6" name="Text 4"/>
          <p:cNvSpPr/>
          <p:nvPr/>
        </p:nvSpPr>
        <p:spPr>
          <a:xfrm>
            <a:off x="365760" y="1115568"/>
            <a:ext cx="82296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What is uv and why use it?</a:t>
            </a:r>
            <a:endParaRPr lang="en-US" sz="1300" dirty="0"/>
          </a:p>
        </p:txBody>
      </p:sp>
      <p:sp>
        <p:nvSpPr>
          <p:cNvPr id="7" name="Text 5"/>
          <p:cNvSpPr/>
          <p:nvPr/>
        </p:nvSpPr>
        <p:spPr>
          <a:xfrm>
            <a:off x="365760" y="1417320"/>
            <a:ext cx="8412480" cy="420624"/>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uv is a blazing-fast Python package + project manager. It replaces pip, virtualenv, and pyenv. When you run  crewai create crew ...  it uses uv internally to set up virtual environments and manage dependencies automatically.</a:t>
            </a:r>
            <a:endParaRPr lang="en-US" sz="1050" dirty="0"/>
          </a:p>
        </p:txBody>
      </p:sp>
      <p:sp>
        <p:nvSpPr>
          <p:cNvPr id="8" name="Text 6"/>
          <p:cNvSpPr/>
          <p:nvPr/>
        </p:nvSpPr>
        <p:spPr>
          <a:xfrm>
            <a:off x="365760" y="1901952"/>
            <a:ext cx="82296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Installation — choose your OS:</a:t>
            </a:r>
            <a:endParaRPr lang="en-US" sz="1100" dirty="0"/>
          </a:p>
        </p:txBody>
      </p:sp>
      <p:sp>
        <p:nvSpPr>
          <p:cNvPr id="9" name="Shape 7"/>
          <p:cNvSpPr/>
          <p:nvPr/>
        </p:nvSpPr>
        <p:spPr>
          <a:xfrm>
            <a:off x="320040" y="2194560"/>
            <a:ext cx="4160520" cy="1207008"/>
          </a:xfrm>
          <a:prstGeom prst="rect">
            <a:avLst/>
          </a:prstGeom>
          <a:solidFill>
            <a:srgbClr val="F0FDF4"/>
          </a:solidFill>
          <a:ln w="12700">
            <a:solidFill>
              <a:srgbClr val="86EFAC"/>
            </a:solidFill>
            <a:prstDash val="solid"/>
          </a:ln>
        </p:spPr>
      </p:sp>
      <p:sp>
        <p:nvSpPr>
          <p:cNvPr id="10" name="Shape 8"/>
          <p:cNvSpPr/>
          <p:nvPr/>
        </p:nvSpPr>
        <p:spPr>
          <a:xfrm>
            <a:off x="320040" y="2194560"/>
            <a:ext cx="4160520" cy="274320"/>
          </a:xfrm>
          <a:prstGeom prst="rect">
            <a:avLst/>
          </a:prstGeom>
          <a:solidFill>
            <a:srgbClr val="16A34A"/>
          </a:solidFill>
          <a:ln w="12700">
            <a:solidFill>
              <a:srgbClr val="16A34A"/>
            </a:solidFill>
            <a:prstDash val="solid"/>
          </a:ln>
        </p:spPr>
      </p:sp>
      <p:sp>
        <p:nvSpPr>
          <p:cNvPr id="11" name="Text 9"/>
          <p:cNvSpPr/>
          <p:nvPr/>
        </p:nvSpPr>
        <p:spPr>
          <a:xfrm>
            <a:off x="411480" y="2194560"/>
            <a:ext cx="397764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macOS / Linux</a:t>
            </a:r>
            <a:endParaRPr lang="en-US" sz="1000" dirty="0"/>
          </a:p>
        </p:txBody>
      </p:sp>
      <p:sp>
        <p:nvSpPr>
          <p:cNvPr id="12" name="Shape 10"/>
          <p:cNvSpPr/>
          <p:nvPr/>
        </p:nvSpPr>
        <p:spPr>
          <a:xfrm>
            <a:off x="384048" y="2505456"/>
            <a:ext cx="4041648" cy="365760"/>
          </a:xfrm>
          <a:prstGeom prst="rect">
            <a:avLst/>
          </a:prstGeom>
          <a:solidFill>
            <a:srgbClr val="1E293B"/>
          </a:solidFill>
          <a:ln w="12700">
            <a:solidFill>
              <a:srgbClr val="334155"/>
            </a:solidFill>
            <a:prstDash val="solid"/>
          </a:ln>
        </p:spPr>
      </p:sp>
      <p:sp>
        <p:nvSpPr>
          <p:cNvPr id="13" name="Text 11"/>
          <p:cNvSpPr/>
          <p:nvPr/>
        </p:nvSpPr>
        <p:spPr>
          <a:xfrm>
            <a:off x="493776" y="2578608"/>
            <a:ext cx="3822192" cy="219456"/>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curl -LsSf https://astral.sh/uv/install.sh | sh</a:t>
            </a:r>
            <a:endParaRPr lang="en-US" sz="950" dirty="0"/>
          </a:p>
        </p:txBody>
      </p:sp>
      <p:sp>
        <p:nvSpPr>
          <p:cNvPr id="14" name="Text 12"/>
          <p:cNvSpPr/>
          <p:nvPr/>
        </p:nvSpPr>
        <p:spPr>
          <a:xfrm>
            <a:off x="411480" y="2907792"/>
            <a:ext cx="3977640" cy="201168"/>
          </a:xfrm>
          <a:prstGeom prst="rect">
            <a:avLst/>
          </a:prstGeom>
          <a:noFill/>
          <a:ln/>
        </p:spPr>
        <p:txBody>
          <a:bodyPr wrap="square" lIns="0" tIns="0" rIns="0" bIns="0" rtlCol="0" anchor="ctr"/>
          <a:lstStyle/>
          <a:p>
            <a:pPr indent="0" marL="0">
              <a:buNone/>
            </a:pPr>
            <a:r>
              <a:rPr lang="en-US" sz="900" i="1" dirty="0">
                <a:solidFill>
                  <a:srgbClr val="166534"/>
                </a:solidFill>
                <a:latin typeface="Calibri" pitchFamily="34" charset="0"/>
                <a:ea typeface="Calibri" pitchFamily="34" charset="-122"/>
                <a:cs typeface="Calibri" pitchFamily="34" charset="-120"/>
              </a:rPr>
              <a:t>Then restart your terminal after running this.</a:t>
            </a:r>
            <a:endParaRPr lang="en-US" sz="900" dirty="0"/>
          </a:p>
        </p:txBody>
      </p:sp>
      <p:sp>
        <p:nvSpPr>
          <p:cNvPr id="15" name="Shape 13"/>
          <p:cNvSpPr/>
          <p:nvPr/>
        </p:nvSpPr>
        <p:spPr>
          <a:xfrm>
            <a:off x="4663440" y="2194560"/>
            <a:ext cx="4160520" cy="1207008"/>
          </a:xfrm>
          <a:prstGeom prst="rect">
            <a:avLst/>
          </a:prstGeom>
          <a:solidFill>
            <a:srgbClr val="EFF6FF"/>
          </a:solidFill>
          <a:ln w="12700">
            <a:solidFill>
              <a:srgbClr val="93C5FD"/>
            </a:solidFill>
            <a:prstDash val="solid"/>
          </a:ln>
        </p:spPr>
      </p:sp>
      <p:sp>
        <p:nvSpPr>
          <p:cNvPr id="16" name="Shape 14"/>
          <p:cNvSpPr/>
          <p:nvPr/>
        </p:nvSpPr>
        <p:spPr>
          <a:xfrm>
            <a:off x="4663440" y="2194560"/>
            <a:ext cx="4160520" cy="274320"/>
          </a:xfrm>
          <a:prstGeom prst="rect">
            <a:avLst/>
          </a:prstGeom>
          <a:solidFill>
            <a:srgbClr val="1D4ED8"/>
          </a:solidFill>
          <a:ln w="12700">
            <a:solidFill>
              <a:srgbClr val="1D4ED8"/>
            </a:solidFill>
            <a:prstDash val="solid"/>
          </a:ln>
        </p:spPr>
      </p:sp>
      <p:sp>
        <p:nvSpPr>
          <p:cNvPr id="17" name="Text 15"/>
          <p:cNvSpPr/>
          <p:nvPr/>
        </p:nvSpPr>
        <p:spPr>
          <a:xfrm>
            <a:off x="4754880" y="2194560"/>
            <a:ext cx="397764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  Windows (PowerShell as Admin)</a:t>
            </a:r>
            <a:endParaRPr lang="en-US" sz="1000" dirty="0"/>
          </a:p>
        </p:txBody>
      </p:sp>
      <p:sp>
        <p:nvSpPr>
          <p:cNvPr id="18" name="Shape 16"/>
          <p:cNvSpPr/>
          <p:nvPr/>
        </p:nvSpPr>
        <p:spPr>
          <a:xfrm>
            <a:off x="4727448" y="2505456"/>
            <a:ext cx="4041648" cy="365760"/>
          </a:xfrm>
          <a:prstGeom prst="rect">
            <a:avLst/>
          </a:prstGeom>
          <a:solidFill>
            <a:srgbClr val="1E293B"/>
          </a:solidFill>
          <a:ln w="12700">
            <a:solidFill>
              <a:srgbClr val="334155"/>
            </a:solidFill>
            <a:prstDash val="solid"/>
          </a:ln>
        </p:spPr>
      </p:sp>
      <p:sp>
        <p:nvSpPr>
          <p:cNvPr id="19" name="Text 17"/>
          <p:cNvSpPr/>
          <p:nvPr/>
        </p:nvSpPr>
        <p:spPr>
          <a:xfrm>
            <a:off x="4837176" y="2578608"/>
            <a:ext cx="3822192" cy="219456"/>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powershell -c "irm https://astral.sh/uv/install.ps1 | iex"</a:t>
            </a:r>
            <a:endParaRPr lang="en-US" sz="950" dirty="0"/>
          </a:p>
        </p:txBody>
      </p:sp>
      <p:sp>
        <p:nvSpPr>
          <p:cNvPr id="20" name="Text 18"/>
          <p:cNvSpPr/>
          <p:nvPr/>
        </p:nvSpPr>
        <p:spPr>
          <a:xfrm>
            <a:off x="4754880" y="2907792"/>
            <a:ext cx="3977640" cy="201168"/>
          </a:xfrm>
          <a:prstGeom prst="rect">
            <a:avLst/>
          </a:prstGeom>
          <a:noFill/>
          <a:ln/>
        </p:spPr>
        <p:txBody>
          <a:bodyPr wrap="square" lIns="0" tIns="0" rIns="0" bIns="0" rtlCol="0" anchor="ctr"/>
          <a:lstStyle/>
          <a:p>
            <a:pPr indent="0" marL="0">
              <a:buNone/>
            </a:pPr>
            <a:r>
              <a:rPr lang="en-US" sz="900" i="1" dirty="0">
                <a:solidFill>
                  <a:srgbClr val="1E3A8A"/>
                </a:solidFill>
                <a:latin typeface="Calibri" pitchFamily="34" charset="0"/>
                <a:ea typeface="Calibri" pitchFamily="34" charset="-122"/>
                <a:cs typeface="Calibri" pitchFamily="34" charset="-120"/>
              </a:rPr>
              <a:t>Run PowerShell as Administrator for this command.</a:t>
            </a:r>
            <a:endParaRPr lang="en-US" sz="900" dirty="0"/>
          </a:p>
        </p:txBody>
      </p:sp>
      <p:sp>
        <p:nvSpPr>
          <p:cNvPr id="21" name="Text 19"/>
          <p:cNvSpPr/>
          <p:nvPr/>
        </p:nvSpPr>
        <p:spPr>
          <a:xfrm>
            <a:off x="365760" y="3493008"/>
            <a:ext cx="9144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Verify:</a:t>
            </a:r>
            <a:endParaRPr lang="en-US" sz="1100" dirty="0"/>
          </a:p>
        </p:txBody>
      </p:sp>
      <p:sp>
        <p:nvSpPr>
          <p:cNvPr id="22" name="Shape 20"/>
          <p:cNvSpPr/>
          <p:nvPr/>
        </p:nvSpPr>
        <p:spPr>
          <a:xfrm>
            <a:off x="320040" y="3767328"/>
            <a:ext cx="5029200" cy="347472"/>
          </a:xfrm>
          <a:prstGeom prst="rect">
            <a:avLst/>
          </a:prstGeom>
          <a:solidFill>
            <a:srgbClr val="1E293B"/>
          </a:solidFill>
          <a:ln w="12700">
            <a:solidFill>
              <a:srgbClr val="334155"/>
            </a:solidFill>
            <a:prstDash val="solid"/>
          </a:ln>
        </p:spPr>
      </p:sp>
      <p:sp>
        <p:nvSpPr>
          <p:cNvPr id="23" name="Text 21"/>
          <p:cNvSpPr/>
          <p:nvPr/>
        </p:nvSpPr>
        <p:spPr>
          <a:xfrm>
            <a:off x="429768" y="3840480"/>
            <a:ext cx="4809744" cy="201168"/>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uv --version      # Expected: uv 0.x.x</a:t>
            </a:r>
            <a:endParaRPr lang="en-US" sz="950" dirty="0"/>
          </a:p>
        </p:txBody>
      </p:sp>
      <p:sp>
        <p:nvSpPr>
          <p:cNvPr id="24" name="Text 22"/>
          <p:cNvSpPr/>
          <p:nvPr/>
        </p:nvSpPr>
        <p:spPr>
          <a:xfrm>
            <a:off x="365760" y="4187952"/>
            <a:ext cx="22860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Then install CrewAI:</a:t>
            </a:r>
            <a:endParaRPr lang="en-US" sz="1100" dirty="0"/>
          </a:p>
        </p:txBody>
      </p:sp>
      <p:sp>
        <p:nvSpPr>
          <p:cNvPr id="25" name="Shape 23"/>
          <p:cNvSpPr/>
          <p:nvPr/>
        </p:nvSpPr>
        <p:spPr>
          <a:xfrm>
            <a:off x="320040" y="4462272"/>
            <a:ext cx="5029200" cy="320040"/>
          </a:xfrm>
          <a:prstGeom prst="rect">
            <a:avLst/>
          </a:prstGeom>
          <a:solidFill>
            <a:srgbClr val="1E293B"/>
          </a:solidFill>
          <a:ln w="12700">
            <a:solidFill>
              <a:srgbClr val="334155"/>
            </a:solidFill>
            <a:prstDash val="solid"/>
          </a:ln>
        </p:spPr>
      </p:sp>
      <p:sp>
        <p:nvSpPr>
          <p:cNvPr id="26" name="Text 24"/>
          <p:cNvSpPr/>
          <p:nvPr/>
        </p:nvSpPr>
        <p:spPr>
          <a:xfrm>
            <a:off x="429768" y="4535424"/>
            <a:ext cx="4809744" cy="173736"/>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pip install crewai crewai-tools</a:t>
            </a:r>
            <a:endParaRPr lang="en-US" sz="950" dirty="0"/>
          </a:p>
        </p:txBody>
      </p:sp>
      <p:sp>
        <p:nvSpPr>
          <p:cNvPr id="27" name="Shape 25"/>
          <p:cNvSpPr/>
          <p:nvPr/>
        </p:nvSpPr>
        <p:spPr>
          <a:xfrm>
            <a:off x="5486400" y="3767328"/>
            <a:ext cx="3337560" cy="411480"/>
          </a:xfrm>
          <a:prstGeom prst="rect">
            <a:avLst/>
          </a:prstGeom>
          <a:solidFill>
            <a:srgbClr val="FEF3C7"/>
          </a:solidFill>
          <a:ln w="12700">
            <a:solidFill>
              <a:srgbClr val="93C5FD"/>
            </a:solidFill>
            <a:prstDash val="solid"/>
          </a:ln>
        </p:spPr>
      </p:sp>
      <p:sp>
        <p:nvSpPr>
          <p:cNvPr id="28" name="Text 26"/>
          <p:cNvSpPr/>
          <p:nvPr/>
        </p:nvSpPr>
        <p:spPr>
          <a:xfrm>
            <a:off x="5577840" y="3813048"/>
            <a:ext cx="315468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If 'uv' is not found after install, close and fully reopen your terminal — the PATH needs to refresh.</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Step 2: Create the CrewAI Project</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The CLI will ask you to choose a provider and model, then scaffold all files automatically</a:t>
            </a:r>
            <a:endParaRPr lang="en-US" sz="1100" dirty="0"/>
          </a:p>
        </p:txBody>
      </p:sp>
      <p:sp>
        <p:nvSpPr>
          <p:cNvPr id="6" name="Text 4"/>
          <p:cNvSpPr/>
          <p:nvPr/>
        </p:nvSpPr>
        <p:spPr>
          <a:xfrm>
            <a:off x="365760" y="1115568"/>
            <a:ext cx="822960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Run the create command:</a:t>
            </a:r>
            <a:endParaRPr lang="en-US" sz="1200" dirty="0"/>
          </a:p>
        </p:txBody>
      </p:sp>
      <p:sp>
        <p:nvSpPr>
          <p:cNvPr id="7" name="Shape 5"/>
          <p:cNvSpPr/>
          <p:nvPr/>
        </p:nvSpPr>
        <p:spPr>
          <a:xfrm>
            <a:off x="320040" y="1399032"/>
            <a:ext cx="8503920" cy="347472"/>
          </a:xfrm>
          <a:prstGeom prst="rect">
            <a:avLst/>
          </a:prstGeom>
          <a:solidFill>
            <a:srgbClr val="1E293B"/>
          </a:solidFill>
          <a:ln w="12700">
            <a:solidFill>
              <a:srgbClr val="334155"/>
            </a:solidFill>
            <a:prstDash val="solid"/>
          </a:ln>
        </p:spPr>
      </p:sp>
      <p:sp>
        <p:nvSpPr>
          <p:cNvPr id="8" name="Text 6"/>
          <p:cNvSpPr/>
          <p:nvPr/>
        </p:nvSpPr>
        <p:spPr>
          <a:xfrm>
            <a:off x="429768" y="1472184"/>
            <a:ext cx="8284464" cy="201168"/>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crewai create crew market_research_crew</a:t>
            </a:r>
            <a:endParaRPr lang="en-US" sz="950" dirty="0"/>
          </a:p>
        </p:txBody>
      </p:sp>
      <p:sp>
        <p:nvSpPr>
          <p:cNvPr id="9" name="Text 7"/>
          <p:cNvSpPr/>
          <p:nvPr/>
        </p:nvSpPr>
        <p:spPr>
          <a:xfrm>
            <a:off x="365760" y="1828800"/>
            <a:ext cx="82296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The CLI will ask you two questions:</a:t>
            </a:r>
            <a:endParaRPr lang="en-US" sz="1100" dirty="0"/>
          </a:p>
        </p:txBody>
      </p:sp>
      <p:sp>
        <p:nvSpPr>
          <p:cNvPr id="10" name="Shape 8"/>
          <p:cNvSpPr/>
          <p:nvPr/>
        </p:nvSpPr>
        <p:spPr>
          <a:xfrm>
            <a:off x="320040" y="2121408"/>
            <a:ext cx="4160520" cy="1298448"/>
          </a:xfrm>
          <a:prstGeom prst="rect">
            <a:avLst/>
          </a:prstGeom>
          <a:solidFill>
            <a:srgbClr val="EDE9FE"/>
          </a:solidFill>
          <a:ln w="12700">
            <a:solidFill>
              <a:srgbClr val="4F46E5"/>
            </a:solidFill>
            <a:prstDash val="solid"/>
          </a:ln>
        </p:spPr>
      </p:sp>
      <p:sp>
        <p:nvSpPr>
          <p:cNvPr id="11" name="Shape 9"/>
          <p:cNvSpPr/>
          <p:nvPr/>
        </p:nvSpPr>
        <p:spPr>
          <a:xfrm>
            <a:off x="320040" y="2121408"/>
            <a:ext cx="4160520" cy="256032"/>
          </a:xfrm>
          <a:prstGeom prst="rect">
            <a:avLst/>
          </a:prstGeom>
          <a:solidFill>
            <a:srgbClr val="4F46E5"/>
          </a:solidFill>
          <a:ln w="12700">
            <a:solidFill>
              <a:srgbClr val="4F46E5"/>
            </a:solidFill>
            <a:prstDash val="solid"/>
          </a:ln>
        </p:spPr>
      </p:sp>
      <p:sp>
        <p:nvSpPr>
          <p:cNvPr id="12" name="Text 10"/>
          <p:cNvSpPr/>
          <p:nvPr/>
        </p:nvSpPr>
        <p:spPr>
          <a:xfrm>
            <a:off x="411480" y="2121408"/>
            <a:ext cx="39776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Question 1 — Choose LLM Provider</a:t>
            </a:r>
            <a:endParaRPr lang="en-US" sz="1000" dirty="0"/>
          </a:p>
        </p:txBody>
      </p:sp>
      <p:sp>
        <p:nvSpPr>
          <p:cNvPr id="13" name="Text 11"/>
          <p:cNvSpPr/>
          <p:nvPr/>
        </p:nvSpPr>
        <p:spPr>
          <a:xfrm>
            <a:off x="438912" y="2414016"/>
            <a:ext cx="3977640" cy="932688"/>
          </a:xfrm>
          <a:prstGeom prst="rect">
            <a:avLst/>
          </a:prstGeom>
          <a:noFill/>
          <a:ln/>
        </p:spPr>
        <p:txBody>
          <a:bodyPr wrap="square" lIns="0" tIns="0" rIns="0" bIns="0" rtlCol="0" anchor="ctr"/>
          <a:lstStyle/>
          <a:p>
            <a:pPr indent="0" marL="0">
              <a:buNone/>
            </a:pPr>
            <a:r>
              <a:rPr lang="en-US" sz="950" dirty="0">
                <a:solidFill>
                  <a:srgbClr val="1E293B"/>
                </a:solidFill>
                <a:latin typeface="Consolas" pitchFamily="34" charset="0"/>
                <a:ea typeface="Consolas" pitchFamily="34" charset="-122"/>
                <a:cs typeface="Consolas" pitchFamily="34" charset="-120"/>
              </a:rPr>
              <a:t>Select a provider to use for the LLM:</a:t>
            </a:r>
            <a:endParaRPr lang="en-US" sz="950" dirty="0"/>
          </a:p>
          <a:p>
            <a:pPr indent="0" marL="0">
              <a:buNone/>
            </a:pPr>
            <a:r>
              <a:rPr lang="en-US" sz="950" dirty="0">
                <a:solidFill>
                  <a:srgbClr val="1E293B"/>
                </a:solidFill>
                <a:latin typeface="Consolas" pitchFamily="34" charset="0"/>
                <a:ea typeface="Consolas" pitchFamily="34" charset="-122"/>
                <a:cs typeface="Consolas" pitchFamily="34" charset="-120"/>
              </a:rPr>
              <a:t>1. openai  ← select this</a:t>
            </a:r>
            <a:endParaRPr lang="en-US" sz="950" dirty="0"/>
          </a:p>
          <a:p>
            <a:pPr indent="0" marL="0">
              <a:buNone/>
            </a:pPr>
            <a:r>
              <a:rPr lang="en-US" sz="950" dirty="0">
                <a:solidFill>
                  <a:srgbClr val="1E293B"/>
                </a:solidFill>
                <a:latin typeface="Consolas" pitchFamily="34" charset="0"/>
                <a:ea typeface="Consolas" pitchFamily="34" charset="-122"/>
                <a:cs typeface="Consolas" pitchFamily="34" charset="-120"/>
              </a:rPr>
              <a:t>2. anthropic</a:t>
            </a:r>
            <a:endParaRPr lang="en-US" sz="950" dirty="0"/>
          </a:p>
          <a:p>
            <a:pPr indent="0" marL="0">
              <a:buNone/>
            </a:pPr>
            <a:r>
              <a:rPr lang="en-US" sz="950" dirty="0">
                <a:solidFill>
                  <a:srgbClr val="1E293B"/>
                </a:solidFill>
                <a:latin typeface="Consolas" pitchFamily="34" charset="0"/>
                <a:ea typeface="Consolas" pitchFamily="34" charset="-122"/>
                <a:cs typeface="Consolas" pitchFamily="34" charset="-120"/>
              </a:rPr>
              <a:t>3. google</a:t>
            </a:r>
            <a:endParaRPr lang="en-US" sz="950" dirty="0"/>
          </a:p>
          <a:p>
            <a:pPr indent="0" marL="0">
              <a:buNone/>
            </a:pPr>
            <a:r>
              <a:rPr lang="en-US" sz="950" dirty="0">
                <a:solidFill>
                  <a:srgbClr val="1E293B"/>
                </a:solidFill>
                <a:latin typeface="Consolas" pitchFamily="34" charset="0"/>
                <a:ea typeface="Consolas" pitchFamily="34" charset="-122"/>
                <a:cs typeface="Consolas" pitchFamily="34" charset="-120"/>
              </a:rPr>
              <a:t>...</a:t>
            </a:r>
            <a:endParaRPr lang="en-US" sz="950" dirty="0"/>
          </a:p>
        </p:txBody>
      </p:sp>
      <p:sp>
        <p:nvSpPr>
          <p:cNvPr id="14" name="Shape 12"/>
          <p:cNvSpPr/>
          <p:nvPr/>
        </p:nvSpPr>
        <p:spPr>
          <a:xfrm>
            <a:off x="4663440" y="2121408"/>
            <a:ext cx="4160520" cy="1298448"/>
          </a:xfrm>
          <a:prstGeom prst="rect">
            <a:avLst/>
          </a:prstGeom>
          <a:solidFill>
            <a:srgbClr val="DCFCE7"/>
          </a:solidFill>
          <a:ln w="12700">
            <a:solidFill>
              <a:srgbClr val="22C55E"/>
            </a:solidFill>
            <a:prstDash val="solid"/>
          </a:ln>
        </p:spPr>
      </p:sp>
      <p:sp>
        <p:nvSpPr>
          <p:cNvPr id="15" name="Shape 13"/>
          <p:cNvSpPr/>
          <p:nvPr/>
        </p:nvSpPr>
        <p:spPr>
          <a:xfrm>
            <a:off x="4663440" y="2121408"/>
            <a:ext cx="4160520" cy="256032"/>
          </a:xfrm>
          <a:prstGeom prst="rect">
            <a:avLst/>
          </a:prstGeom>
          <a:solidFill>
            <a:srgbClr val="16A34A"/>
          </a:solidFill>
          <a:ln w="12700">
            <a:solidFill>
              <a:srgbClr val="16A34A"/>
            </a:solidFill>
            <a:prstDash val="solid"/>
          </a:ln>
        </p:spPr>
      </p:sp>
      <p:sp>
        <p:nvSpPr>
          <p:cNvPr id="16" name="Text 14"/>
          <p:cNvSpPr/>
          <p:nvPr/>
        </p:nvSpPr>
        <p:spPr>
          <a:xfrm>
            <a:off x="4754880" y="2121408"/>
            <a:ext cx="397764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Question 2 — Choose Model</a:t>
            </a:r>
            <a:endParaRPr lang="en-US" sz="1000" dirty="0"/>
          </a:p>
        </p:txBody>
      </p:sp>
      <p:sp>
        <p:nvSpPr>
          <p:cNvPr id="17" name="Text 15"/>
          <p:cNvSpPr/>
          <p:nvPr/>
        </p:nvSpPr>
        <p:spPr>
          <a:xfrm>
            <a:off x="4754880" y="2414016"/>
            <a:ext cx="3977640" cy="932688"/>
          </a:xfrm>
          <a:prstGeom prst="rect">
            <a:avLst/>
          </a:prstGeom>
          <a:noFill/>
          <a:ln/>
        </p:spPr>
        <p:txBody>
          <a:bodyPr wrap="square" lIns="0" tIns="0" rIns="0" bIns="0" rtlCol="0" anchor="ctr"/>
          <a:lstStyle/>
          <a:p>
            <a:pPr indent="0" marL="0">
              <a:buNone/>
            </a:pPr>
            <a:r>
              <a:rPr lang="en-US" sz="950" dirty="0">
                <a:solidFill>
                  <a:srgbClr val="1E293B"/>
                </a:solidFill>
                <a:latin typeface="Consolas" pitchFamily="34" charset="0"/>
                <a:ea typeface="Consolas" pitchFamily="34" charset="-122"/>
                <a:cs typeface="Consolas" pitchFamily="34" charset="-120"/>
              </a:rPr>
              <a:t>Select a model for OpenAI:</a:t>
            </a:r>
            <a:endParaRPr lang="en-US" sz="950" dirty="0"/>
          </a:p>
          <a:p>
            <a:pPr indent="0" marL="0">
              <a:buNone/>
            </a:pPr>
            <a:r>
              <a:rPr lang="en-US" sz="950" dirty="0">
                <a:solidFill>
                  <a:srgbClr val="1E293B"/>
                </a:solidFill>
                <a:latin typeface="Consolas" pitchFamily="34" charset="0"/>
                <a:ea typeface="Consolas" pitchFamily="34" charset="-122"/>
                <a:cs typeface="Consolas" pitchFamily="34" charset="-120"/>
              </a:rPr>
              <a:t>1. gpt-4</a:t>
            </a:r>
            <a:endParaRPr lang="en-US" sz="950" dirty="0"/>
          </a:p>
          <a:p>
            <a:pPr indent="0" marL="0">
              <a:buNone/>
            </a:pPr>
            <a:r>
              <a:rPr lang="en-US" sz="950" dirty="0">
                <a:solidFill>
                  <a:srgbClr val="1E293B"/>
                </a:solidFill>
                <a:latin typeface="Consolas" pitchFamily="34" charset="0"/>
                <a:ea typeface="Consolas" pitchFamily="34" charset="-122"/>
                <a:cs typeface="Consolas" pitchFamily="34" charset="-120"/>
              </a:rPr>
              <a:t>2. gpt-4.1</a:t>
            </a:r>
            <a:endParaRPr lang="en-US" sz="950" dirty="0"/>
          </a:p>
          <a:p>
            <a:pPr indent="0" marL="0">
              <a:buNone/>
            </a:pPr>
            <a:r>
              <a:rPr lang="en-US" sz="950" dirty="0">
                <a:solidFill>
                  <a:srgbClr val="1E293B"/>
                </a:solidFill>
                <a:latin typeface="Consolas" pitchFamily="34" charset="0"/>
                <a:ea typeface="Consolas" pitchFamily="34" charset="-122"/>
                <a:cs typeface="Consolas" pitchFamily="34" charset="-120"/>
              </a:rPr>
              <a:t>3. gpt-4.1-mini  ← instructor chose this</a:t>
            </a:r>
            <a:endParaRPr lang="en-US" sz="950" dirty="0"/>
          </a:p>
          <a:p>
            <a:pPr indent="0" marL="0">
              <a:buNone/>
            </a:pPr>
            <a:r>
              <a:rPr lang="en-US" sz="950" dirty="0">
                <a:solidFill>
                  <a:srgbClr val="1E293B"/>
                </a:solidFill>
                <a:latin typeface="Consolas" pitchFamily="34" charset="0"/>
                <a:ea typeface="Consolas" pitchFamily="34" charset="-122"/>
                <a:cs typeface="Consolas" pitchFamily="34" charset="-120"/>
              </a:rPr>
              <a:t>4. gpt-4.1-nano</a:t>
            </a:r>
            <a:endParaRPr lang="en-US" sz="950" dirty="0"/>
          </a:p>
          <a:p>
            <a:pPr indent="0" marL="0">
              <a:buNone/>
            </a:pPr>
            <a:r>
              <a:rPr lang="en-US" sz="950" dirty="0">
                <a:solidFill>
                  <a:srgbClr val="1E293B"/>
                </a:solidFill>
                <a:latin typeface="Consolas" pitchFamily="34" charset="0"/>
                <a:ea typeface="Consolas" pitchFamily="34" charset="-122"/>
                <a:cs typeface="Consolas" pitchFamily="34" charset="-120"/>
              </a:rPr>
              <a:t>5. gpt-4o</a:t>
            </a:r>
            <a:endParaRPr lang="en-US" sz="950" dirty="0"/>
          </a:p>
        </p:txBody>
      </p:sp>
      <p:sp>
        <p:nvSpPr>
          <p:cNvPr id="18" name="Text 16"/>
          <p:cNvSpPr/>
          <p:nvPr/>
        </p:nvSpPr>
        <p:spPr>
          <a:xfrm>
            <a:off x="365760" y="3520440"/>
            <a:ext cx="841248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What gets auto-created (from the actual terminal output in the screenshots):</a:t>
            </a:r>
            <a:endParaRPr lang="en-US" sz="1100" dirty="0"/>
          </a:p>
        </p:txBody>
      </p:sp>
      <p:sp>
        <p:nvSpPr>
          <p:cNvPr id="19" name="Shape 17"/>
          <p:cNvSpPr/>
          <p:nvPr/>
        </p:nvSpPr>
        <p:spPr>
          <a:xfrm>
            <a:off x="320040" y="3794760"/>
            <a:ext cx="8503920" cy="1005840"/>
          </a:xfrm>
          <a:prstGeom prst="rect">
            <a:avLst/>
          </a:prstGeom>
          <a:solidFill>
            <a:srgbClr val="1E293B"/>
          </a:solidFill>
          <a:ln w="12700">
            <a:solidFill>
              <a:srgbClr val="334155"/>
            </a:solidFill>
            <a:prstDash val="solid"/>
          </a:ln>
        </p:spPr>
      </p:sp>
      <p:sp>
        <p:nvSpPr>
          <p:cNvPr id="20" name="Text 18"/>
          <p:cNvSpPr/>
          <p:nvPr/>
        </p:nvSpPr>
        <p:spPr>
          <a:xfrm>
            <a:off x="429768" y="3867912"/>
            <a:ext cx="8284464" cy="859536"/>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 Created market_research_crew\.gitignore</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Created market_research_crew\pyproject.toml</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Created market_research_crew\src\market_research_crew\__init__.py</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Created market_research_crew\src\market_research_crew\main.py</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Created market_research_crew\src\market_research_crew\crew.py</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Created market_research_crew\src\market_research_crew\config\agents.yaml</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Created market_research_crew\src\market_research_crew\config\tasks.yaml</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Crew market-research-crew created successfully!</a:t>
            </a:r>
            <a:endParaRPr lang="en-US" sz="950" dirty="0"/>
          </a:p>
        </p:txBody>
      </p:sp>
      <p:sp>
        <p:nvSpPr>
          <p:cNvPr id="21" name="Shape 19"/>
          <p:cNvSpPr/>
          <p:nvPr/>
        </p:nvSpPr>
        <p:spPr>
          <a:xfrm>
            <a:off x="320040" y="4892040"/>
            <a:ext cx="8503920" cy="411480"/>
          </a:xfrm>
          <a:prstGeom prst="rect">
            <a:avLst/>
          </a:prstGeom>
          <a:solidFill>
            <a:srgbClr val="E0F2FE"/>
          </a:solidFill>
          <a:ln w="12700">
            <a:solidFill>
              <a:srgbClr val="93C5FD"/>
            </a:solidFill>
            <a:prstDash val="solid"/>
          </a:ln>
        </p:spPr>
      </p:sp>
      <p:sp>
        <p:nvSpPr>
          <p:cNvPr id="22" name="Text 20"/>
          <p:cNvSpPr/>
          <p:nvPr/>
        </p:nvSpPr>
        <p:spPr>
          <a:xfrm>
            <a:off x="411480" y="4937760"/>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After creation, run  cd market_research_crew  then  ls  to confirm the folder structure. You should see: knowledge/, src/, tests/, .env, pyproject.toml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Step 3: Install Dependencies — Including Selenium</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Screenshots 11 &amp; 12 show the full installation process the instructor followed</a:t>
            </a:r>
            <a:endParaRPr lang="en-US" sz="1100" dirty="0"/>
          </a:p>
        </p:txBody>
      </p:sp>
      <p:sp>
        <p:nvSpPr>
          <p:cNvPr id="6" name="Text 4"/>
          <p:cNvSpPr/>
          <p:nvPr/>
        </p:nvSpPr>
        <p:spPr>
          <a:xfrm>
            <a:off x="365760" y="1115568"/>
            <a:ext cx="822960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Run crewai install first:</a:t>
            </a:r>
            <a:endParaRPr lang="en-US" sz="1200" dirty="0"/>
          </a:p>
        </p:txBody>
      </p:sp>
      <p:sp>
        <p:nvSpPr>
          <p:cNvPr id="7" name="Shape 5"/>
          <p:cNvSpPr/>
          <p:nvPr/>
        </p:nvSpPr>
        <p:spPr>
          <a:xfrm>
            <a:off x="320040" y="1399032"/>
            <a:ext cx="3657600" cy="347472"/>
          </a:xfrm>
          <a:prstGeom prst="rect">
            <a:avLst/>
          </a:prstGeom>
          <a:solidFill>
            <a:srgbClr val="1E293B"/>
          </a:solidFill>
          <a:ln w="12700">
            <a:solidFill>
              <a:srgbClr val="334155"/>
            </a:solidFill>
            <a:prstDash val="solid"/>
          </a:ln>
        </p:spPr>
      </p:sp>
      <p:sp>
        <p:nvSpPr>
          <p:cNvPr id="8" name="Text 6"/>
          <p:cNvSpPr/>
          <p:nvPr/>
        </p:nvSpPr>
        <p:spPr>
          <a:xfrm>
            <a:off x="429768" y="1472184"/>
            <a:ext cx="3438144" cy="201168"/>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crewai install</a:t>
            </a:r>
            <a:endParaRPr lang="en-US" sz="950" dirty="0"/>
          </a:p>
        </p:txBody>
      </p:sp>
      <p:sp>
        <p:nvSpPr>
          <p:cNvPr id="9" name="Text 7"/>
          <p:cNvSpPr/>
          <p:nvPr/>
        </p:nvSpPr>
        <p:spPr>
          <a:xfrm>
            <a:off x="4114800" y="1399032"/>
            <a:ext cx="4709160" cy="347472"/>
          </a:xfrm>
          <a:prstGeom prst="rect">
            <a:avLst/>
          </a:prstGeom>
          <a:noFill/>
          <a:ln/>
        </p:spPr>
        <p:txBody>
          <a:bodyPr wrap="square" lIns="0" tIns="0" rIns="0" bIns="0" rtlCol="0" anchor="ctr"/>
          <a:lstStyle/>
          <a:p>
            <a:pPr indent="0" marL="0">
              <a:buNone/>
            </a:pPr>
            <a:r>
              <a:rPr lang="en-US" sz="950" i="1" dirty="0">
                <a:solidFill>
                  <a:srgbClr val="475569"/>
                </a:solidFill>
                <a:latin typeface="Calibri" pitchFamily="34" charset="0"/>
                <a:ea typeface="Calibri" pitchFamily="34" charset="-122"/>
                <a:cs typeface="Calibri" pitchFamily="34" charset="-120"/>
              </a:rPr>
              <a:t>Installs all dependencies from pyproject.toml using uv. You will see a long list of packages being installed (rich, tenacity, tiktoken, etc.)</a:t>
            </a:r>
            <a:endParaRPr lang="en-US" sz="950" dirty="0"/>
          </a:p>
        </p:txBody>
      </p:sp>
      <p:sp>
        <p:nvSpPr>
          <p:cNvPr id="10" name="Shape 8"/>
          <p:cNvSpPr/>
          <p:nvPr/>
        </p:nvSpPr>
        <p:spPr>
          <a:xfrm>
            <a:off x="320040" y="1847088"/>
            <a:ext cx="8503920" cy="292608"/>
          </a:xfrm>
          <a:prstGeom prst="rect">
            <a:avLst/>
          </a:prstGeom>
          <a:solidFill>
            <a:srgbClr val="EF4444"/>
          </a:solidFill>
          <a:ln w="12700">
            <a:solidFill>
              <a:srgbClr val="EF4444"/>
            </a:solidFill>
            <a:prstDash val="solid"/>
          </a:ln>
        </p:spPr>
      </p:sp>
      <p:sp>
        <p:nvSpPr>
          <p:cNvPr id="11" name="Text 9"/>
          <p:cNvSpPr/>
          <p:nvPr/>
        </p:nvSpPr>
        <p:spPr>
          <a:xfrm>
            <a:off x="457200" y="1847088"/>
            <a:ext cx="832104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CRITICAL STEP STUDENTS MISS — Install Selenium WebDriver Manager separately!</a:t>
            </a:r>
            <a:endParaRPr lang="en-US" sz="1100" dirty="0"/>
          </a:p>
        </p:txBody>
      </p:sp>
      <p:sp>
        <p:nvSpPr>
          <p:cNvPr id="12" name="Text 10"/>
          <p:cNvSpPr/>
          <p:nvPr/>
        </p:nvSpPr>
        <p:spPr>
          <a:xfrm>
            <a:off x="365760" y="2194560"/>
            <a:ext cx="8412480" cy="347472"/>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 SeleniumScrapingTool used in crew.py needs selenium and webdriver-manager to be installed. The instructor ran this command after crewai install:</a:t>
            </a:r>
            <a:endParaRPr lang="en-US" sz="1050" dirty="0"/>
          </a:p>
        </p:txBody>
      </p:sp>
      <p:sp>
        <p:nvSpPr>
          <p:cNvPr id="13" name="Shape 11"/>
          <p:cNvSpPr/>
          <p:nvPr/>
        </p:nvSpPr>
        <p:spPr>
          <a:xfrm>
            <a:off x="320040" y="2578608"/>
            <a:ext cx="8503920" cy="384048"/>
          </a:xfrm>
          <a:prstGeom prst="rect">
            <a:avLst/>
          </a:prstGeom>
          <a:solidFill>
            <a:srgbClr val="1E293B"/>
          </a:solidFill>
          <a:ln w="12700">
            <a:solidFill>
              <a:srgbClr val="334155"/>
            </a:solidFill>
            <a:prstDash val="solid"/>
          </a:ln>
        </p:spPr>
      </p:sp>
      <p:sp>
        <p:nvSpPr>
          <p:cNvPr id="14" name="Text 12"/>
          <p:cNvSpPr/>
          <p:nvPr/>
        </p:nvSpPr>
        <p:spPr>
          <a:xfrm>
            <a:off x="429768" y="2651760"/>
            <a:ext cx="8284464" cy="237744"/>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uv add selenium webdriver-manager</a:t>
            </a:r>
            <a:endParaRPr lang="en-US" sz="950" dirty="0"/>
          </a:p>
        </p:txBody>
      </p:sp>
      <p:sp>
        <p:nvSpPr>
          <p:cNvPr id="15" name="Text 13"/>
          <p:cNvSpPr/>
          <p:nvPr/>
        </p:nvSpPr>
        <p:spPr>
          <a:xfrm>
            <a:off x="365760" y="3063240"/>
            <a:ext cx="822960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What each package does:</a:t>
            </a:r>
            <a:endParaRPr lang="en-US" sz="1200" dirty="0"/>
          </a:p>
        </p:txBody>
      </p:sp>
      <p:sp>
        <p:nvSpPr>
          <p:cNvPr id="16" name="Shape 14"/>
          <p:cNvSpPr/>
          <p:nvPr/>
        </p:nvSpPr>
        <p:spPr>
          <a:xfrm>
            <a:off x="320040" y="3364992"/>
            <a:ext cx="8503920" cy="475488"/>
          </a:xfrm>
          <a:prstGeom prst="rect">
            <a:avLst/>
          </a:prstGeom>
          <a:solidFill>
            <a:srgbClr val="E0F2FE"/>
          </a:solidFill>
          <a:ln w="12700">
            <a:solidFill>
              <a:srgbClr val="0EA5E9"/>
            </a:solidFill>
            <a:prstDash val="solid"/>
          </a:ln>
        </p:spPr>
      </p:sp>
      <p:sp>
        <p:nvSpPr>
          <p:cNvPr id="17" name="Shape 15"/>
          <p:cNvSpPr/>
          <p:nvPr/>
        </p:nvSpPr>
        <p:spPr>
          <a:xfrm>
            <a:off x="320040" y="3364992"/>
            <a:ext cx="64008" cy="475488"/>
          </a:xfrm>
          <a:prstGeom prst="rect">
            <a:avLst/>
          </a:prstGeom>
          <a:solidFill>
            <a:srgbClr val="0EA5E9"/>
          </a:solidFill>
          <a:ln w="12700">
            <a:solidFill>
              <a:srgbClr val="0EA5E9"/>
            </a:solidFill>
            <a:prstDash val="solid"/>
          </a:ln>
        </p:spPr>
      </p:sp>
      <p:sp>
        <p:nvSpPr>
          <p:cNvPr id="18" name="Text 16"/>
          <p:cNvSpPr/>
          <p:nvPr/>
        </p:nvSpPr>
        <p:spPr>
          <a:xfrm>
            <a:off x="457200" y="3410712"/>
            <a:ext cx="1463040" cy="219456"/>
          </a:xfrm>
          <a:prstGeom prst="rect">
            <a:avLst/>
          </a:prstGeom>
          <a:noFill/>
          <a:ln/>
        </p:spPr>
        <p:txBody>
          <a:bodyPr wrap="square" lIns="0" tIns="0" rIns="0" bIns="0" rtlCol="0" anchor="ctr"/>
          <a:lstStyle/>
          <a:p>
            <a:pPr indent="0" marL="0">
              <a:buNone/>
            </a:pPr>
            <a:r>
              <a:rPr lang="en-US" sz="1050" b="1" dirty="0">
                <a:solidFill>
                  <a:srgbClr val="1E293B"/>
                </a:solidFill>
                <a:latin typeface="Consolas" pitchFamily="34" charset="0"/>
                <a:ea typeface="Consolas" pitchFamily="34" charset="-122"/>
                <a:cs typeface="Consolas" pitchFamily="34" charset="-120"/>
              </a:rPr>
              <a:t>selenium</a:t>
            </a:r>
            <a:endParaRPr lang="en-US" sz="1050" dirty="0"/>
          </a:p>
        </p:txBody>
      </p:sp>
      <p:sp>
        <p:nvSpPr>
          <p:cNvPr id="19" name="Text 17"/>
          <p:cNvSpPr/>
          <p:nvPr/>
        </p:nvSpPr>
        <p:spPr>
          <a:xfrm>
            <a:off x="2011680" y="3419856"/>
            <a:ext cx="6675120" cy="34747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Browser automation library. Allows Python to control a real Chrome/Firefox browser programmatically to load JavaScript-heavy pages that basic HTTP scrapers cannot access.</a:t>
            </a:r>
            <a:endParaRPr lang="en-US" sz="950" dirty="0"/>
          </a:p>
        </p:txBody>
      </p:sp>
      <p:sp>
        <p:nvSpPr>
          <p:cNvPr id="20" name="Shape 18"/>
          <p:cNvSpPr/>
          <p:nvPr/>
        </p:nvSpPr>
        <p:spPr>
          <a:xfrm>
            <a:off x="320040" y="3913632"/>
            <a:ext cx="8503920" cy="475488"/>
          </a:xfrm>
          <a:prstGeom prst="rect">
            <a:avLst/>
          </a:prstGeom>
          <a:solidFill>
            <a:srgbClr val="DCFCE7"/>
          </a:solidFill>
          <a:ln w="12700">
            <a:solidFill>
              <a:srgbClr val="22C55E"/>
            </a:solidFill>
            <a:prstDash val="solid"/>
          </a:ln>
        </p:spPr>
      </p:sp>
      <p:sp>
        <p:nvSpPr>
          <p:cNvPr id="21" name="Shape 19"/>
          <p:cNvSpPr/>
          <p:nvPr/>
        </p:nvSpPr>
        <p:spPr>
          <a:xfrm>
            <a:off x="320040" y="3913632"/>
            <a:ext cx="64008" cy="475488"/>
          </a:xfrm>
          <a:prstGeom prst="rect">
            <a:avLst/>
          </a:prstGeom>
          <a:solidFill>
            <a:srgbClr val="22C55E"/>
          </a:solidFill>
          <a:ln w="12700">
            <a:solidFill>
              <a:srgbClr val="22C55E"/>
            </a:solidFill>
            <a:prstDash val="solid"/>
          </a:ln>
        </p:spPr>
      </p:sp>
      <p:sp>
        <p:nvSpPr>
          <p:cNvPr id="22" name="Text 20"/>
          <p:cNvSpPr/>
          <p:nvPr/>
        </p:nvSpPr>
        <p:spPr>
          <a:xfrm>
            <a:off x="457200" y="3959352"/>
            <a:ext cx="1463040" cy="219456"/>
          </a:xfrm>
          <a:prstGeom prst="rect">
            <a:avLst/>
          </a:prstGeom>
          <a:noFill/>
          <a:ln/>
        </p:spPr>
        <p:txBody>
          <a:bodyPr wrap="square" lIns="0" tIns="0" rIns="0" bIns="0" rtlCol="0" anchor="ctr"/>
          <a:lstStyle/>
          <a:p>
            <a:pPr indent="0" marL="0">
              <a:buNone/>
            </a:pPr>
            <a:r>
              <a:rPr lang="en-US" sz="1050" b="1" dirty="0">
                <a:solidFill>
                  <a:srgbClr val="1E293B"/>
                </a:solidFill>
                <a:latin typeface="Consolas" pitchFamily="34" charset="0"/>
                <a:ea typeface="Consolas" pitchFamily="34" charset="-122"/>
                <a:cs typeface="Consolas" pitchFamily="34" charset="-120"/>
              </a:rPr>
              <a:t>webdriver-manager</a:t>
            </a:r>
            <a:endParaRPr lang="en-US" sz="1050" dirty="0"/>
          </a:p>
        </p:txBody>
      </p:sp>
      <p:sp>
        <p:nvSpPr>
          <p:cNvPr id="23" name="Text 21"/>
          <p:cNvSpPr/>
          <p:nvPr/>
        </p:nvSpPr>
        <p:spPr>
          <a:xfrm>
            <a:off x="2011680" y="3968496"/>
            <a:ext cx="6675120" cy="34747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Automatically downloads and manages the correct ChromeDriver binary for your Chrome version. Without this, Selenium cannot launch a browser.</a:t>
            </a:r>
            <a:endParaRPr lang="en-US" sz="950" dirty="0"/>
          </a:p>
        </p:txBody>
      </p:sp>
      <p:sp>
        <p:nvSpPr>
          <p:cNvPr id="24" name="Shape 22"/>
          <p:cNvSpPr/>
          <p:nvPr/>
        </p:nvSpPr>
        <p:spPr>
          <a:xfrm>
            <a:off x="320040" y="4462272"/>
            <a:ext cx="8503920" cy="475488"/>
          </a:xfrm>
          <a:prstGeom prst="rect">
            <a:avLst/>
          </a:prstGeom>
          <a:solidFill>
            <a:srgbClr val="EDE9FE"/>
          </a:solidFill>
          <a:ln w="12700">
            <a:solidFill>
              <a:srgbClr val="7C3AED"/>
            </a:solidFill>
            <a:prstDash val="solid"/>
          </a:ln>
        </p:spPr>
      </p:sp>
      <p:sp>
        <p:nvSpPr>
          <p:cNvPr id="25" name="Shape 23"/>
          <p:cNvSpPr/>
          <p:nvPr/>
        </p:nvSpPr>
        <p:spPr>
          <a:xfrm>
            <a:off x="320040" y="4462272"/>
            <a:ext cx="64008" cy="475488"/>
          </a:xfrm>
          <a:prstGeom prst="rect">
            <a:avLst/>
          </a:prstGeom>
          <a:solidFill>
            <a:srgbClr val="7C3AED"/>
          </a:solidFill>
          <a:ln w="12700">
            <a:solidFill>
              <a:srgbClr val="7C3AED"/>
            </a:solidFill>
            <a:prstDash val="solid"/>
          </a:ln>
        </p:spPr>
      </p:sp>
      <p:sp>
        <p:nvSpPr>
          <p:cNvPr id="26" name="Text 24"/>
          <p:cNvSpPr/>
          <p:nvPr/>
        </p:nvSpPr>
        <p:spPr>
          <a:xfrm>
            <a:off x="457200" y="4507992"/>
            <a:ext cx="1463040" cy="219456"/>
          </a:xfrm>
          <a:prstGeom prst="rect">
            <a:avLst/>
          </a:prstGeom>
          <a:noFill/>
          <a:ln/>
        </p:spPr>
        <p:txBody>
          <a:bodyPr wrap="square" lIns="0" tIns="0" rIns="0" bIns="0" rtlCol="0" anchor="ctr"/>
          <a:lstStyle/>
          <a:p>
            <a:pPr indent="0" marL="0">
              <a:buNone/>
            </a:pPr>
            <a:r>
              <a:rPr lang="en-US" sz="1050" b="1" dirty="0">
                <a:solidFill>
                  <a:srgbClr val="1E293B"/>
                </a:solidFill>
                <a:latin typeface="Consolas" pitchFamily="34" charset="0"/>
                <a:ea typeface="Consolas" pitchFamily="34" charset="-122"/>
                <a:cs typeface="Consolas" pitchFamily="34" charset="-120"/>
              </a:rPr>
              <a:t>SeleniumScrapingTool</a:t>
            </a:r>
            <a:endParaRPr lang="en-US" sz="1050" dirty="0"/>
          </a:p>
        </p:txBody>
      </p:sp>
      <p:sp>
        <p:nvSpPr>
          <p:cNvPr id="27" name="Text 25"/>
          <p:cNvSpPr/>
          <p:nvPr/>
        </p:nvSpPr>
        <p:spPr>
          <a:xfrm>
            <a:off x="2011680" y="4517136"/>
            <a:ext cx="6675120" cy="34747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The CrewAI wrapper around selenium. It lets agents scrape any website by launching a real browser session. Used as part of the toolkit in crew.py.</a:t>
            </a:r>
            <a:endParaRPr lang="en-US" sz="950" dirty="0"/>
          </a:p>
        </p:txBody>
      </p:sp>
      <p:sp>
        <p:nvSpPr>
          <p:cNvPr id="28" name="Shape 26"/>
          <p:cNvSpPr/>
          <p:nvPr/>
        </p:nvSpPr>
        <p:spPr>
          <a:xfrm>
            <a:off x="320040" y="5029200"/>
            <a:ext cx="8503920" cy="411480"/>
          </a:xfrm>
          <a:prstGeom prst="rect">
            <a:avLst/>
          </a:prstGeom>
          <a:solidFill>
            <a:srgbClr val="FEE2E2"/>
          </a:solidFill>
          <a:ln w="12700">
            <a:solidFill>
              <a:srgbClr val="93C5FD"/>
            </a:solidFill>
            <a:prstDash val="solid"/>
          </a:ln>
        </p:spPr>
      </p:sp>
      <p:sp>
        <p:nvSpPr>
          <p:cNvPr id="29" name="Text 27"/>
          <p:cNvSpPr/>
          <p:nvPr/>
        </p:nvSpPr>
        <p:spPr>
          <a:xfrm>
            <a:off x="411480" y="5074920"/>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If you skip  uv add selenium webdriver-manager  the SeleniumScrapingTool will throw an ImportError when the crew runs.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Step 4: Set Up API Keys in .env</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The agents need two API keys to function — OpenAI for the LLM, Serper for web search</a:t>
            </a:r>
            <a:endParaRPr lang="en-US" sz="1100" dirty="0"/>
          </a:p>
        </p:txBody>
      </p:sp>
      <p:sp>
        <p:nvSpPr>
          <p:cNvPr id="6" name="Text 4"/>
          <p:cNvSpPr/>
          <p:nvPr/>
        </p:nvSpPr>
        <p:spPr>
          <a:xfrm>
            <a:off x="365760" y="1115568"/>
            <a:ext cx="8412480" cy="25603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 .env file is already created by  crewai create  — just fill in the values:</a:t>
            </a:r>
            <a:endParaRPr lang="en-US" sz="1100" dirty="0"/>
          </a:p>
        </p:txBody>
      </p:sp>
      <p:sp>
        <p:nvSpPr>
          <p:cNvPr id="7" name="Shape 5"/>
          <p:cNvSpPr/>
          <p:nvPr/>
        </p:nvSpPr>
        <p:spPr>
          <a:xfrm>
            <a:off x="320040" y="1417320"/>
            <a:ext cx="8503920" cy="1005840"/>
          </a:xfrm>
          <a:prstGeom prst="rect">
            <a:avLst/>
          </a:prstGeom>
          <a:solidFill>
            <a:srgbClr val="1E293B"/>
          </a:solidFill>
          <a:ln w="12700">
            <a:solidFill>
              <a:srgbClr val="334155"/>
            </a:solidFill>
            <a:prstDash val="solid"/>
          </a:ln>
        </p:spPr>
      </p:sp>
      <p:sp>
        <p:nvSpPr>
          <p:cNvPr id="8" name="Text 6"/>
          <p:cNvSpPr/>
          <p:nvPr/>
        </p:nvSpPr>
        <p:spPr>
          <a:xfrm>
            <a:off x="429768" y="1490472"/>
            <a:ext cx="8284464" cy="859536"/>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 .env  (already exists in your project root)</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OPENAI_API_KEY=sk-proj-xxxxxxxxxxxxxxxxxxxxxxxxxxxxxxxxxxxxxxxx</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SERPER_API_KEY=xxxxxxxxxxxxxxxxxxxxxxxxxxxxxxxxxxxxxxxxxxxxxxxx</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The model was set when you ran: crewai create crew</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It is stored as MODEL=gpt-4.1-mini-2025-04-14  (or whichever you chose)</a:t>
            </a:r>
            <a:endParaRPr lang="en-US" sz="950" dirty="0"/>
          </a:p>
        </p:txBody>
      </p:sp>
      <p:sp>
        <p:nvSpPr>
          <p:cNvPr id="9" name="Shape 7"/>
          <p:cNvSpPr/>
          <p:nvPr/>
        </p:nvSpPr>
        <p:spPr>
          <a:xfrm>
            <a:off x="320040" y="2532888"/>
            <a:ext cx="4160520" cy="2148840"/>
          </a:xfrm>
          <a:prstGeom prst="rect">
            <a:avLst/>
          </a:prstGeom>
          <a:solidFill>
            <a:srgbClr val="EDE9FE"/>
          </a:solidFill>
          <a:ln w="12700">
            <a:solidFill>
              <a:srgbClr val="7C3AED"/>
            </a:solidFill>
            <a:prstDash val="solid"/>
          </a:ln>
        </p:spPr>
      </p:sp>
      <p:sp>
        <p:nvSpPr>
          <p:cNvPr id="10" name="Shape 8"/>
          <p:cNvSpPr/>
          <p:nvPr/>
        </p:nvSpPr>
        <p:spPr>
          <a:xfrm>
            <a:off x="320040" y="2532888"/>
            <a:ext cx="4160520" cy="274320"/>
          </a:xfrm>
          <a:prstGeom prst="rect">
            <a:avLst/>
          </a:prstGeom>
          <a:solidFill>
            <a:srgbClr val="7C3AED"/>
          </a:solidFill>
          <a:ln w="12700">
            <a:solidFill>
              <a:srgbClr val="7C3AED"/>
            </a:solidFill>
            <a:prstDash val="solid"/>
          </a:ln>
        </p:spPr>
      </p:sp>
      <p:sp>
        <p:nvSpPr>
          <p:cNvPr id="11" name="Text 9"/>
          <p:cNvSpPr/>
          <p:nvPr/>
        </p:nvSpPr>
        <p:spPr>
          <a:xfrm>
            <a:off x="411480" y="2532888"/>
            <a:ext cx="397764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OpenAI API Key</a:t>
            </a:r>
            <a:endParaRPr lang="en-US" sz="1050" dirty="0"/>
          </a:p>
        </p:txBody>
      </p:sp>
      <p:sp>
        <p:nvSpPr>
          <p:cNvPr id="12" name="Text 10"/>
          <p:cNvSpPr/>
          <p:nvPr/>
        </p:nvSpPr>
        <p:spPr>
          <a:xfrm>
            <a:off x="457200" y="2852928"/>
            <a:ext cx="3886200" cy="320040"/>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1.  </a:t>
            </a:r>
            <a:pPr indent="0" marL="0">
              <a:buNone/>
            </a:pPr>
            <a:r>
              <a:rPr lang="en-US" sz="950" dirty="0">
                <a:solidFill>
                  <a:srgbClr val="1E293B"/>
                </a:solidFill>
                <a:latin typeface="Calibri" pitchFamily="34" charset="0"/>
                <a:ea typeface="Calibri" pitchFamily="34" charset="-122"/>
                <a:cs typeface="Calibri" pitchFamily="34" charset="-120"/>
              </a:rPr>
              <a:t>Go to  platform.openai.com</a:t>
            </a:r>
            <a:endParaRPr lang="en-US" sz="950" dirty="0"/>
          </a:p>
        </p:txBody>
      </p:sp>
      <p:sp>
        <p:nvSpPr>
          <p:cNvPr id="13" name="Text 11"/>
          <p:cNvSpPr/>
          <p:nvPr/>
        </p:nvSpPr>
        <p:spPr>
          <a:xfrm>
            <a:off x="457200" y="3200400"/>
            <a:ext cx="3886200" cy="320040"/>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2.  </a:t>
            </a:r>
            <a:pPr indent="0" marL="0">
              <a:buNone/>
            </a:pPr>
            <a:r>
              <a:rPr lang="en-US" sz="950" dirty="0">
                <a:solidFill>
                  <a:srgbClr val="1E293B"/>
                </a:solidFill>
                <a:latin typeface="Calibri" pitchFamily="34" charset="0"/>
                <a:ea typeface="Calibri" pitchFamily="34" charset="-122"/>
                <a:cs typeface="Calibri" pitchFamily="34" charset="-120"/>
              </a:rPr>
              <a:t>Sign in or create account</a:t>
            </a:r>
            <a:endParaRPr lang="en-US" sz="950" dirty="0"/>
          </a:p>
        </p:txBody>
      </p:sp>
      <p:sp>
        <p:nvSpPr>
          <p:cNvPr id="14" name="Text 12"/>
          <p:cNvSpPr/>
          <p:nvPr/>
        </p:nvSpPr>
        <p:spPr>
          <a:xfrm>
            <a:off x="457200" y="3547872"/>
            <a:ext cx="3886200" cy="320040"/>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3.  </a:t>
            </a:r>
            <a:pPr indent="0" marL="0">
              <a:buNone/>
            </a:pPr>
            <a:r>
              <a:rPr lang="en-US" sz="950" dirty="0">
                <a:solidFill>
                  <a:srgbClr val="1E293B"/>
                </a:solidFill>
                <a:latin typeface="Calibri" pitchFamily="34" charset="0"/>
                <a:ea typeface="Calibri" pitchFamily="34" charset="-122"/>
                <a:cs typeface="Calibri" pitchFamily="34" charset="-120"/>
              </a:rPr>
              <a:t>Click  API Keys  in sidebar</a:t>
            </a:r>
            <a:endParaRPr lang="en-US" sz="950" dirty="0"/>
          </a:p>
        </p:txBody>
      </p:sp>
      <p:sp>
        <p:nvSpPr>
          <p:cNvPr id="15" name="Text 13"/>
          <p:cNvSpPr/>
          <p:nvPr/>
        </p:nvSpPr>
        <p:spPr>
          <a:xfrm>
            <a:off x="457200" y="3895344"/>
            <a:ext cx="3886200" cy="320040"/>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4.  </a:t>
            </a:r>
            <a:pPr indent="0" marL="0">
              <a:buNone/>
            </a:pPr>
            <a:r>
              <a:rPr lang="en-US" sz="950" dirty="0">
                <a:solidFill>
                  <a:srgbClr val="1E293B"/>
                </a:solidFill>
                <a:latin typeface="Calibri" pitchFamily="34" charset="0"/>
                <a:ea typeface="Calibri" pitchFamily="34" charset="-122"/>
                <a:cs typeface="Calibri" pitchFamily="34" charset="-120"/>
              </a:rPr>
              <a:t>Create new secret key</a:t>
            </a:r>
            <a:endParaRPr lang="en-US" sz="950" dirty="0"/>
          </a:p>
        </p:txBody>
      </p:sp>
      <p:sp>
        <p:nvSpPr>
          <p:cNvPr id="16" name="Text 14"/>
          <p:cNvSpPr/>
          <p:nvPr/>
        </p:nvSpPr>
        <p:spPr>
          <a:xfrm>
            <a:off x="457200" y="4242816"/>
            <a:ext cx="3886200" cy="320040"/>
          </a:xfrm>
          <a:prstGeom prst="rect">
            <a:avLst/>
          </a:prstGeom>
          <a:noFill/>
          <a:ln/>
        </p:spPr>
        <p:txBody>
          <a:bodyPr wrap="square" lIns="0" tIns="0" rIns="0" bIns="0" rtlCol="0" anchor="ctr"/>
          <a:lstStyle/>
          <a:p>
            <a:pPr indent="0" marL="0">
              <a:buNone/>
            </a:pPr>
            <a:r>
              <a:rPr lang="en-US" sz="950" b="1" dirty="0">
                <a:solidFill>
                  <a:srgbClr val="7C3AED"/>
                </a:solidFill>
                <a:latin typeface="Calibri" pitchFamily="34" charset="0"/>
                <a:ea typeface="Calibri" pitchFamily="34" charset="-122"/>
                <a:cs typeface="Calibri" pitchFamily="34" charset="-120"/>
              </a:rPr>
              <a:t>5.  </a:t>
            </a:r>
            <a:pPr indent="0" marL="0">
              <a:buNone/>
            </a:pPr>
            <a:r>
              <a:rPr lang="en-US" sz="950" dirty="0">
                <a:solidFill>
                  <a:srgbClr val="1E293B"/>
                </a:solidFill>
                <a:latin typeface="Calibri" pitchFamily="34" charset="0"/>
                <a:ea typeface="Calibri" pitchFamily="34" charset="-122"/>
                <a:cs typeface="Calibri" pitchFamily="34" charset="-120"/>
              </a:rPr>
              <a:t>Copy → paste as OPENAI_API_KEY</a:t>
            </a:r>
            <a:endParaRPr lang="en-US" sz="950" dirty="0"/>
          </a:p>
        </p:txBody>
      </p:sp>
      <p:sp>
        <p:nvSpPr>
          <p:cNvPr id="17" name="Shape 15"/>
          <p:cNvSpPr/>
          <p:nvPr/>
        </p:nvSpPr>
        <p:spPr>
          <a:xfrm>
            <a:off x="4709160" y="2532888"/>
            <a:ext cx="4160520" cy="2148840"/>
          </a:xfrm>
          <a:prstGeom prst="rect">
            <a:avLst/>
          </a:prstGeom>
          <a:solidFill>
            <a:srgbClr val="E0F2FE"/>
          </a:solidFill>
          <a:ln w="12700">
            <a:solidFill>
              <a:srgbClr val="0EA5E9"/>
            </a:solidFill>
            <a:prstDash val="solid"/>
          </a:ln>
        </p:spPr>
      </p:sp>
      <p:sp>
        <p:nvSpPr>
          <p:cNvPr id="18" name="Shape 16"/>
          <p:cNvSpPr/>
          <p:nvPr/>
        </p:nvSpPr>
        <p:spPr>
          <a:xfrm>
            <a:off x="4709160" y="2532888"/>
            <a:ext cx="4160520" cy="274320"/>
          </a:xfrm>
          <a:prstGeom prst="rect">
            <a:avLst/>
          </a:prstGeom>
          <a:solidFill>
            <a:srgbClr val="0EA5E9"/>
          </a:solidFill>
          <a:ln w="12700">
            <a:solidFill>
              <a:srgbClr val="0EA5E9"/>
            </a:solidFill>
            <a:prstDash val="solid"/>
          </a:ln>
        </p:spPr>
      </p:sp>
      <p:sp>
        <p:nvSpPr>
          <p:cNvPr id="19" name="Text 17"/>
          <p:cNvSpPr/>
          <p:nvPr/>
        </p:nvSpPr>
        <p:spPr>
          <a:xfrm>
            <a:off x="4800600" y="2532888"/>
            <a:ext cx="3977640" cy="2743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  Serper API Key  (for web search)</a:t>
            </a:r>
            <a:endParaRPr lang="en-US" sz="1050" dirty="0"/>
          </a:p>
        </p:txBody>
      </p:sp>
      <p:sp>
        <p:nvSpPr>
          <p:cNvPr id="20" name="Text 18"/>
          <p:cNvSpPr/>
          <p:nvPr/>
        </p:nvSpPr>
        <p:spPr>
          <a:xfrm>
            <a:off x="4846320" y="2852928"/>
            <a:ext cx="3886200" cy="320040"/>
          </a:xfrm>
          <a:prstGeom prst="rect">
            <a:avLst/>
          </a:prstGeom>
          <a:noFill/>
          <a:ln/>
        </p:spPr>
        <p:txBody>
          <a:bodyPr wrap="square" lIns="0" tIns="0" rIns="0" bIns="0" rtlCol="0" anchor="ctr"/>
          <a:lstStyle/>
          <a:p>
            <a:pPr indent="0" marL="0">
              <a:buNone/>
            </a:pPr>
            <a:r>
              <a:rPr lang="en-US" sz="950" b="1" dirty="0">
                <a:solidFill>
                  <a:srgbClr val="0EA5E9"/>
                </a:solidFill>
                <a:latin typeface="Calibri" pitchFamily="34" charset="0"/>
                <a:ea typeface="Calibri" pitchFamily="34" charset="-122"/>
                <a:cs typeface="Calibri" pitchFamily="34" charset="-120"/>
              </a:rPr>
              <a:t>1.  </a:t>
            </a:r>
            <a:pPr indent="0" marL="0">
              <a:buNone/>
            </a:pPr>
            <a:r>
              <a:rPr lang="en-US" sz="950" dirty="0">
                <a:solidFill>
                  <a:srgbClr val="1E293B"/>
                </a:solidFill>
                <a:latin typeface="Calibri" pitchFamily="34" charset="0"/>
                <a:ea typeface="Calibri" pitchFamily="34" charset="-122"/>
                <a:cs typeface="Calibri" pitchFamily="34" charset="-120"/>
              </a:rPr>
              <a:t>Go to  serper.dev</a:t>
            </a:r>
            <a:endParaRPr lang="en-US" sz="950" dirty="0"/>
          </a:p>
        </p:txBody>
      </p:sp>
      <p:sp>
        <p:nvSpPr>
          <p:cNvPr id="21" name="Text 19"/>
          <p:cNvSpPr/>
          <p:nvPr/>
        </p:nvSpPr>
        <p:spPr>
          <a:xfrm>
            <a:off x="4846320" y="3200400"/>
            <a:ext cx="3886200" cy="320040"/>
          </a:xfrm>
          <a:prstGeom prst="rect">
            <a:avLst/>
          </a:prstGeom>
          <a:noFill/>
          <a:ln/>
        </p:spPr>
        <p:txBody>
          <a:bodyPr wrap="square" lIns="0" tIns="0" rIns="0" bIns="0" rtlCol="0" anchor="ctr"/>
          <a:lstStyle/>
          <a:p>
            <a:pPr indent="0" marL="0">
              <a:buNone/>
            </a:pPr>
            <a:r>
              <a:rPr lang="en-US" sz="950" b="1" dirty="0">
                <a:solidFill>
                  <a:srgbClr val="0EA5E9"/>
                </a:solidFill>
                <a:latin typeface="Calibri" pitchFamily="34" charset="0"/>
                <a:ea typeface="Calibri" pitchFamily="34" charset="-122"/>
                <a:cs typeface="Calibri" pitchFamily="34" charset="-120"/>
              </a:rPr>
              <a:t>2.  </a:t>
            </a:r>
            <a:pPr indent="0" marL="0">
              <a:buNone/>
            </a:pPr>
            <a:r>
              <a:rPr lang="en-US" sz="950" dirty="0">
                <a:solidFill>
                  <a:srgbClr val="1E293B"/>
                </a:solidFill>
                <a:latin typeface="Calibri" pitchFamily="34" charset="0"/>
                <a:ea typeface="Calibri" pitchFamily="34" charset="-122"/>
                <a:cs typeface="Calibri" pitchFamily="34" charset="-120"/>
              </a:rPr>
              <a:t>Sign up — free tier available</a:t>
            </a:r>
            <a:endParaRPr lang="en-US" sz="950" dirty="0"/>
          </a:p>
        </p:txBody>
      </p:sp>
      <p:sp>
        <p:nvSpPr>
          <p:cNvPr id="22" name="Text 20"/>
          <p:cNvSpPr/>
          <p:nvPr/>
        </p:nvSpPr>
        <p:spPr>
          <a:xfrm>
            <a:off x="4846320" y="3547872"/>
            <a:ext cx="3886200" cy="320040"/>
          </a:xfrm>
          <a:prstGeom prst="rect">
            <a:avLst/>
          </a:prstGeom>
          <a:noFill/>
          <a:ln/>
        </p:spPr>
        <p:txBody>
          <a:bodyPr wrap="square" lIns="0" tIns="0" rIns="0" bIns="0" rtlCol="0" anchor="ctr"/>
          <a:lstStyle/>
          <a:p>
            <a:pPr indent="0" marL="0">
              <a:buNone/>
            </a:pPr>
            <a:r>
              <a:rPr lang="en-US" sz="950" b="1" dirty="0">
                <a:solidFill>
                  <a:srgbClr val="0EA5E9"/>
                </a:solidFill>
                <a:latin typeface="Calibri" pitchFamily="34" charset="0"/>
                <a:ea typeface="Calibri" pitchFamily="34" charset="-122"/>
                <a:cs typeface="Calibri" pitchFamily="34" charset="-120"/>
              </a:rPr>
              <a:t>3.  </a:t>
            </a:r>
            <a:pPr indent="0" marL="0">
              <a:buNone/>
            </a:pPr>
            <a:r>
              <a:rPr lang="en-US" sz="950" dirty="0">
                <a:solidFill>
                  <a:srgbClr val="1E293B"/>
                </a:solidFill>
                <a:latin typeface="Calibri" pitchFamily="34" charset="0"/>
                <a:ea typeface="Calibri" pitchFamily="34" charset="-122"/>
                <a:cs typeface="Calibri" pitchFamily="34" charset="-120"/>
              </a:rPr>
              <a:t>Free: 2,500 searches/month</a:t>
            </a:r>
            <a:endParaRPr lang="en-US" sz="950" dirty="0"/>
          </a:p>
        </p:txBody>
      </p:sp>
      <p:sp>
        <p:nvSpPr>
          <p:cNvPr id="23" name="Text 21"/>
          <p:cNvSpPr/>
          <p:nvPr/>
        </p:nvSpPr>
        <p:spPr>
          <a:xfrm>
            <a:off x="4846320" y="3895344"/>
            <a:ext cx="3886200" cy="320040"/>
          </a:xfrm>
          <a:prstGeom prst="rect">
            <a:avLst/>
          </a:prstGeom>
          <a:noFill/>
          <a:ln/>
        </p:spPr>
        <p:txBody>
          <a:bodyPr wrap="square" lIns="0" tIns="0" rIns="0" bIns="0" rtlCol="0" anchor="ctr"/>
          <a:lstStyle/>
          <a:p>
            <a:pPr indent="0" marL="0">
              <a:buNone/>
            </a:pPr>
            <a:r>
              <a:rPr lang="en-US" sz="950" b="1" dirty="0">
                <a:solidFill>
                  <a:srgbClr val="0EA5E9"/>
                </a:solidFill>
                <a:latin typeface="Calibri" pitchFamily="34" charset="0"/>
                <a:ea typeface="Calibri" pitchFamily="34" charset="-122"/>
                <a:cs typeface="Calibri" pitchFamily="34" charset="-120"/>
              </a:rPr>
              <a:t>4.  </a:t>
            </a:r>
            <a:pPr indent="0" marL="0">
              <a:buNone/>
            </a:pPr>
            <a:r>
              <a:rPr lang="en-US" sz="950" dirty="0">
                <a:solidFill>
                  <a:srgbClr val="1E293B"/>
                </a:solidFill>
                <a:latin typeface="Calibri" pitchFamily="34" charset="0"/>
                <a:ea typeface="Calibri" pitchFamily="34" charset="-122"/>
                <a:cs typeface="Calibri" pitchFamily="34" charset="-120"/>
              </a:rPr>
              <a:t>Copy API key from dashboard</a:t>
            </a:r>
            <a:endParaRPr lang="en-US" sz="950" dirty="0"/>
          </a:p>
        </p:txBody>
      </p:sp>
      <p:sp>
        <p:nvSpPr>
          <p:cNvPr id="24" name="Text 22"/>
          <p:cNvSpPr/>
          <p:nvPr/>
        </p:nvSpPr>
        <p:spPr>
          <a:xfrm>
            <a:off x="4846320" y="4242816"/>
            <a:ext cx="3886200" cy="320040"/>
          </a:xfrm>
          <a:prstGeom prst="rect">
            <a:avLst/>
          </a:prstGeom>
          <a:noFill/>
          <a:ln/>
        </p:spPr>
        <p:txBody>
          <a:bodyPr wrap="square" lIns="0" tIns="0" rIns="0" bIns="0" rtlCol="0" anchor="ctr"/>
          <a:lstStyle/>
          <a:p>
            <a:pPr indent="0" marL="0">
              <a:buNone/>
            </a:pPr>
            <a:r>
              <a:rPr lang="en-US" sz="950" b="1" dirty="0">
                <a:solidFill>
                  <a:srgbClr val="0EA5E9"/>
                </a:solidFill>
                <a:latin typeface="Calibri" pitchFamily="34" charset="0"/>
                <a:ea typeface="Calibri" pitchFamily="34" charset="-122"/>
                <a:cs typeface="Calibri" pitchFamily="34" charset="-120"/>
              </a:rPr>
              <a:t>5.  </a:t>
            </a:r>
            <a:pPr indent="0" marL="0">
              <a:buNone/>
            </a:pPr>
            <a:r>
              <a:rPr lang="en-US" sz="950" dirty="0">
                <a:solidFill>
                  <a:srgbClr val="1E293B"/>
                </a:solidFill>
                <a:latin typeface="Calibri" pitchFamily="34" charset="0"/>
                <a:ea typeface="Calibri" pitchFamily="34" charset="-122"/>
                <a:cs typeface="Calibri" pitchFamily="34" charset="-120"/>
              </a:rPr>
              <a:t>Paste as SERPER_API_KEY</a:t>
            </a:r>
            <a:endParaRPr lang="en-US" sz="950" dirty="0"/>
          </a:p>
        </p:txBody>
      </p:sp>
      <p:sp>
        <p:nvSpPr>
          <p:cNvPr id="25" name="Shape 23"/>
          <p:cNvSpPr/>
          <p:nvPr/>
        </p:nvSpPr>
        <p:spPr>
          <a:xfrm>
            <a:off x="320040" y="4773168"/>
            <a:ext cx="8503920" cy="411480"/>
          </a:xfrm>
          <a:prstGeom prst="rect">
            <a:avLst/>
          </a:prstGeom>
          <a:solidFill>
            <a:srgbClr val="FEF3C7"/>
          </a:solidFill>
          <a:ln w="12700">
            <a:solidFill>
              <a:srgbClr val="93C5FD"/>
            </a:solidFill>
            <a:prstDash val="solid"/>
          </a:ln>
        </p:spPr>
      </p:sp>
      <p:sp>
        <p:nvSpPr>
          <p:cNvPr id="26" name="Text 24"/>
          <p:cNvSpPr/>
          <p:nvPr/>
        </p:nvSpPr>
        <p:spPr>
          <a:xfrm>
            <a:off x="411480" y="4818888"/>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Never commit .env to Git! It is already in .gitignore by default. Never share your API keys.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Step 5: Open in VS Code &amp; Edit agents.yaml (Part 1 of 2)</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The instructor used  code .  to open the project. Edit config/agents.yaml</a:t>
            </a:r>
            <a:endParaRPr lang="en-US" sz="1100" dirty="0"/>
          </a:p>
        </p:txBody>
      </p:sp>
      <p:sp>
        <p:nvSpPr>
          <p:cNvPr id="6" name="Text 4"/>
          <p:cNvSpPr/>
          <p:nvPr/>
        </p:nvSpPr>
        <p:spPr>
          <a:xfrm>
            <a:off x="365760" y="1115568"/>
            <a:ext cx="45720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Open VS Code from the terminal:</a:t>
            </a:r>
            <a:endParaRPr lang="en-US" sz="1100" dirty="0"/>
          </a:p>
        </p:txBody>
      </p:sp>
      <p:sp>
        <p:nvSpPr>
          <p:cNvPr id="7" name="Shape 5"/>
          <p:cNvSpPr/>
          <p:nvPr/>
        </p:nvSpPr>
        <p:spPr>
          <a:xfrm>
            <a:off x="320040" y="1399032"/>
            <a:ext cx="8503920" cy="329184"/>
          </a:xfrm>
          <a:prstGeom prst="rect">
            <a:avLst/>
          </a:prstGeom>
          <a:solidFill>
            <a:srgbClr val="1E293B"/>
          </a:solidFill>
          <a:ln w="12700">
            <a:solidFill>
              <a:srgbClr val="334155"/>
            </a:solidFill>
            <a:prstDash val="solid"/>
          </a:ln>
        </p:spPr>
      </p:sp>
      <p:sp>
        <p:nvSpPr>
          <p:cNvPr id="8" name="Text 6"/>
          <p:cNvSpPr/>
          <p:nvPr/>
        </p:nvSpPr>
        <p:spPr>
          <a:xfrm>
            <a:off x="429768" y="1472184"/>
            <a:ext cx="8284464" cy="182880"/>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code .      # opens the whole project in VS Code</a:t>
            </a:r>
            <a:endParaRPr lang="en-US" sz="950" dirty="0"/>
          </a:p>
        </p:txBody>
      </p:sp>
      <p:sp>
        <p:nvSpPr>
          <p:cNvPr id="9" name="Text 7"/>
          <p:cNvSpPr/>
          <p:nvPr/>
        </p:nvSpPr>
        <p:spPr>
          <a:xfrm>
            <a:off x="365760" y="1810512"/>
            <a:ext cx="8412480" cy="256032"/>
          </a:xfrm>
          <a:prstGeom prst="rect">
            <a:avLst/>
          </a:prstGeom>
          <a:noFill/>
          <a:ln/>
        </p:spPr>
        <p:txBody>
          <a:bodyPr wrap="square" lIns="0" tIns="0" rIns="0" bIns="0" rtlCol="0" anchor="ctr"/>
          <a:lstStyle/>
          <a:p>
            <a:pPr indent="0" marL="0">
              <a:buNone/>
            </a:pPr>
            <a:r>
              <a:rPr lang="en-US" sz="1050" i="1" dirty="0">
                <a:solidFill>
                  <a:srgbClr val="334155"/>
                </a:solidFill>
                <a:latin typeface="Calibri" pitchFamily="34" charset="0"/>
                <a:ea typeface="Calibri" pitchFamily="34" charset="-122"/>
                <a:cs typeface="Calibri" pitchFamily="34" charset="-120"/>
              </a:rPr>
              <a:t>Now open  src/market_research_crew/config/agents.yaml  and replace ALL content with:</a:t>
            </a:r>
            <a:endParaRPr lang="en-US" sz="1050" dirty="0"/>
          </a:p>
        </p:txBody>
      </p:sp>
      <p:sp>
        <p:nvSpPr>
          <p:cNvPr id="10" name="Shape 8"/>
          <p:cNvSpPr/>
          <p:nvPr/>
        </p:nvSpPr>
        <p:spPr>
          <a:xfrm>
            <a:off x="320040" y="2103120"/>
            <a:ext cx="8503920" cy="2926080"/>
          </a:xfrm>
          <a:prstGeom prst="rect">
            <a:avLst/>
          </a:prstGeom>
          <a:solidFill>
            <a:srgbClr val="1E293B"/>
          </a:solidFill>
          <a:ln w="12700">
            <a:solidFill>
              <a:srgbClr val="334155"/>
            </a:solidFill>
            <a:prstDash val="solid"/>
          </a:ln>
        </p:spPr>
      </p:sp>
      <p:sp>
        <p:nvSpPr>
          <p:cNvPr id="11" name="Text 9"/>
          <p:cNvSpPr/>
          <p:nvPr/>
        </p:nvSpPr>
        <p:spPr>
          <a:xfrm>
            <a:off x="429768" y="2176272"/>
            <a:ext cx="8284464" cy="2779776"/>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market_research_specialist: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role: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Market Research Specialist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goal: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Conduct comprehensive market analysis for the AI product idea to understand</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market size, growth trends, industry dynamics, and technology adoption patterns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backstory: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You are a seasoned market research analyst with 15+ years of experience in</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the AI and technology sector. You have a proven track record of identifying</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market opportunities and trends before they become mainstream. Your expertise</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includes quantitative market sizing, industry trend analysis, and regulatory</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landscape assessment. You've advised numerous startups on market entry</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strategies and have deep knowledge of AI adoption patterns across various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industries. Your analytical rigor and data-driven approach have helped</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companies make informed decisions about market opportunities.</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competitive_intelligence_analyst: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role: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Competitive Intelligence Analyst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goal: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Identify and analyze all direct and indirect competitors, their offerings,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strengths, weaknesses, and market positioning to uncover competitive gaps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and opportunities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backstory: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You are an expert competitive intelligence analyst specializing in the AI</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and SaaS market. With 12+ years of experience, you have developed sophisticated</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frameworks for competitive analysis and market positioning. You excel at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reverse-engineering competitor strategies, identifying product features,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pricing models, and go-to-market approaches. Your work has helped numerous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startups find their unique positioning in crowded markets.</a:t>
            </a:r>
            <a:endParaRPr lang="en-US" sz="950" dirty="0"/>
          </a:p>
        </p:txBody>
      </p:sp>
      <p:sp>
        <p:nvSpPr>
          <p:cNvPr id="12" name="Shape 10"/>
          <p:cNvSpPr/>
          <p:nvPr/>
        </p:nvSpPr>
        <p:spPr>
          <a:xfrm>
            <a:off x="320040" y="5102352"/>
            <a:ext cx="8503920" cy="411480"/>
          </a:xfrm>
          <a:prstGeom prst="rect">
            <a:avLst/>
          </a:prstGeom>
          <a:solidFill>
            <a:srgbClr val="FEF3C7"/>
          </a:solidFill>
          <a:ln w="12700">
            <a:solidFill>
              <a:srgbClr val="93C5FD"/>
            </a:solidFill>
            <a:prstDash val="solid"/>
          </a:ln>
        </p:spPr>
      </p:sp>
      <p:sp>
        <p:nvSpPr>
          <p:cNvPr id="13" name="Text 11"/>
          <p:cNvSpPr/>
          <p:nvPr/>
        </p:nvSpPr>
        <p:spPr>
          <a:xfrm>
            <a:off x="411480" y="5148072"/>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YAML uses spaces only — never tabs. Each level must be indented by exactly 2 spaces. The  &gt;  symbol means the text continues on the next indented line.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Step 5: agents.yaml — Remaining 3 Agents (Part 2 of 2)</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Continue adding to the same agents.yaml file — do not delete what you already added</a:t>
            </a:r>
            <a:endParaRPr lang="en-US" sz="1100" dirty="0"/>
          </a:p>
        </p:txBody>
      </p:sp>
      <p:sp>
        <p:nvSpPr>
          <p:cNvPr id="6" name="Shape 4"/>
          <p:cNvSpPr/>
          <p:nvPr/>
        </p:nvSpPr>
        <p:spPr>
          <a:xfrm>
            <a:off x="320040" y="1078992"/>
            <a:ext cx="8503920" cy="3657600"/>
          </a:xfrm>
          <a:prstGeom prst="rect">
            <a:avLst/>
          </a:prstGeom>
          <a:solidFill>
            <a:srgbClr val="1E293B"/>
          </a:solidFill>
          <a:ln w="12700">
            <a:solidFill>
              <a:srgbClr val="334155"/>
            </a:solidFill>
            <a:prstDash val="solid"/>
          </a:ln>
        </p:spPr>
      </p:sp>
      <p:sp>
        <p:nvSpPr>
          <p:cNvPr id="7" name="Text 5"/>
          <p:cNvSpPr/>
          <p:nvPr/>
        </p:nvSpPr>
        <p:spPr>
          <a:xfrm>
            <a:off x="429768" y="1152144"/>
            <a:ext cx="8284464" cy="3511296"/>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customer_insights_researcher:</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role: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Customer Insights Researcher</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goal: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Develop deep understanding of target customer segments, their pain points,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needs, behaviors, and willingness to pay for the AI product solution</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backstory: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You are a customer research expert with 10+ years of experience in B2B and</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B2C technology markets. You specialize in creating detailed customer personas,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conducting needs analysis, and identifying customer acquisition channels.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Your background includes both qualitative research (interviews, focus groups)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and quantitative analysis (surveys, data analytics).</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product_strategy_advisor:</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role: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Product Strategy Advisor</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goal: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Design comprehensive product strategy including MVP feature prioritization,</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differentiation strategy, technical feasibility assessment, and development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roadmap based on market, competitive, and customer insights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backstory: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You are a veteran product strategist with 15+ years of experience building</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and launching AI products. You have served as CPO for multiple successful AI</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startups and have deep expertise in product-market fit and feature prioritization.</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business_analyst: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role: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Business Analyst and Report Synthesizer</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goal: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Synthesize all research findings into a comprehensive business report with</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pricing strategy, revenue model, risk analysis, and go/no-go recommendation</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backstory: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You are a senior business analyst with 12+ years of experience in strategic</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planning and financial modeling for AI startups. You have an MBA from a top</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business school and have worked with venture capital firms evaluating startup</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opportunities. Your reports have influenced millions of dollars of investment.</a:t>
            </a:r>
            <a:endParaRPr lang="en-US" sz="950" dirty="0"/>
          </a:p>
        </p:txBody>
      </p:sp>
      <p:sp>
        <p:nvSpPr>
          <p:cNvPr id="8" name="Shape 6"/>
          <p:cNvSpPr/>
          <p:nvPr/>
        </p:nvSpPr>
        <p:spPr>
          <a:xfrm>
            <a:off x="320040" y="4828032"/>
            <a:ext cx="8503920" cy="411480"/>
          </a:xfrm>
          <a:prstGeom prst="rect">
            <a:avLst/>
          </a:prstGeom>
          <a:solidFill>
            <a:srgbClr val="DCFCE7"/>
          </a:solidFill>
          <a:ln w="12700">
            <a:solidFill>
              <a:srgbClr val="93C5FD"/>
            </a:solidFill>
            <a:prstDash val="solid"/>
          </a:ln>
        </p:spPr>
      </p:sp>
      <p:sp>
        <p:nvSpPr>
          <p:cNvPr id="9" name="Text 7"/>
          <p:cNvSpPr/>
          <p:nvPr/>
        </p:nvSpPr>
        <p:spPr>
          <a:xfrm>
            <a:off x="411480" y="4873752"/>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Final check: agents.yaml should have exactly 5 top-level keys matching exactly what crew.py references. Save the file before moving 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Step 6: Edit tasks.yaml (Part 1 of 3)</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Open  config/tasks.yaml  and replace all content. First task below:</a:t>
            </a:r>
            <a:endParaRPr lang="en-US" sz="1100" dirty="0"/>
          </a:p>
        </p:txBody>
      </p:sp>
      <p:sp>
        <p:nvSpPr>
          <p:cNvPr id="6" name="Text 4"/>
          <p:cNvSpPr/>
          <p:nvPr/>
        </p:nvSpPr>
        <p:spPr>
          <a:xfrm>
            <a:off x="365760" y="1115568"/>
            <a:ext cx="8412480" cy="256032"/>
          </a:xfrm>
          <a:prstGeom prst="rect">
            <a:avLst/>
          </a:prstGeom>
          <a:noFill/>
          <a:ln/>
        </p:spPr>
        <p:txBody>
          <a:bodyPr wrap="square" lIns="0" tIns="0" rIns="0" bIns="0" rtlCol="0" anchor="ctr"/>
          <a:lstStyle/>
          <a:p>
            <a:pPr indent="0" marL="0">
              <a:buNone/>
            </a:pPr>
            <a:r>
              <a:rPr lang="en-US" sz="1000" i="1" dirty="0">
                <a:solidFill>
                  <a:srgbClr val="334155"/>
                </a:solidFill>
                <a:latin typeface="Calibri" pitchFamily="34" charset="0"/>
                <a:ea typeface="Calibri" pitchFamily="34" charset="-122"/>
                <a:cs typeface="Calibri" pitchFamily="34" charset="-120"/>
              </a:rPr>
              <a:t>The {product_idea} placeholder is replaced at runtime by whatever string you put in main.py inputs dict.</a:t>
            </a:r>
            <a:endParaRPr lang="en-US" sz="1000" dirty="0"/>
          </a:p>
        </p:txBody>
      </p:sp>
      <p:sp>
        <p:nvSpPr>
          <p:cNvPr id="7" name="Shape 5"/>
          <p:cNvSpPr/>
          <p:nvPr/>
        </p:nvSpPr>
        <p:spPr>
          <a:xfrm>
            <a:off x="320040" y="1417320"/>
            <a:ext cx="8503920" cy="3547872"/>
          </a:xfrm>
          <a:prstGeom prst="rect">
            <a:avLst/>
          </a:prstGeom>
          <a:solidFill>
            <a:srgbClr val="1E293B"/>
          </a:solidFill>
          <a:ln w="12700">
            <a:solidFill>
              <a:srgbClr val="334155"/>
            </a:solidFill>
            <a:prstDash val="solid"/>
          </a:ln>
        </p:spPr>
      </p:sp>
      <p:sp>
        <p:nvSpPr>
          <p:cNvPr id="8" name="Text 6"/>
          <p:cNvSpPr/>
          <p:nvPr/>
        </p:nvSpPr>
        <p:spPr>
          <a:xfrm>
            <a:off x="429768" y="1490472"/>
            <a:ext cx="8284464" cy="3401568"/>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market_research_task: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description: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Conduct comprehensive market research for the AI product idea: {product_idea}.</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Your analysis must include:</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1. Market Size and Growth:</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Total Addressable Market (TAM), Serviceable Addressable Market (SAM),</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and Serviceable Obtainable Market (SOM)</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Historical growth rates and future projections (3-5 years)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Market maturity stage and growth drivers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2. Industry Trends and Dynamics: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Key technology trends shaping the market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AI adoption patterns in the target industry</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Emerging opportunities and threats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3. Regulatory Landscape:</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Relevant regulations and compliance requirements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Data privacy and security considerations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4. Technology Readiness: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Current state of enabling technologies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Infrastructure requirements and availability</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Use web search to gather the most current market data and industry reports.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Cite all sources and provide data-backed conclusions.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expected_output: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 detailed market research report (1500-2000 words) with:</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Executive summary of market opportunity</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Quantitative market sizing with sources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Industry trend analysis, regulatory overview, technology readiness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Format with clear sections and bullet points. Include all data sources.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agent: market_research_specialist</a:t>
            </a:r>
            <a:endParaRPr lang="en-US" sz="950" dirty="0"/>
          </a:p>
        </p:txBody>
      </p:sp>
      <p:sp>
        <p:nvSpPr>
          <p:cNvPr id="9" name="Shape 7"/>
          <p:cNvSpPr/>
          <p:nvPr/>
        </p:nvSpPr>
        <p:spPr>
          <a:xfrm>
            <a:off x="320040" y="5047488"/>
            <a:ext cx="8503920" cy="411480"/>
          </a:xfrm>
          <a:prstGeom prst="rect">
            <a:avLst/>
          </a:prstGeom>
          <a:solidFill>
            <a:srgbClr val="FEF3C7"/>
          </a:solidFill>
          <a:ln w="12700">
            <a:solidFill>
              <a:srgbClr val="93C5FD"/>
            </a:solidFill>
            <a:prstDash val="solid"/>
          </a:ln>
        </p:spPr>
      </p:sp>
      <p:sp>
        <p:nvSpPr>
          <p:cNvPr id="10" name="Text 8"/>
          <p:cNvSpPr/>
          <p:nvPr/>
        </p:nvSpPr>
        <p:spPr>
          <a:xfrm>
            <a:off x="411480" y="5093208"/>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The  agent:  value at the bottom must exactly match the key name in agents.yaml — spelling and underscores must be identical.</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Step 6: tasks.yaml — Tasks 2 &amp; 3 (Part 2 of 3)</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Add the competitive intelligence and customer insights tasks</a:t>
            </a:r>
            <a:endParaRPr lang="en-US" sz="1100" dirty="0"/>
          </a:p>
        </p:txBody>
      </p:sp>
      <p:sp>
        <p:nvSpPr>
          <p:cNvPr id="6" name="Shape 4"/>
          <p:cNvSpPr/>
          <p:nvPr/>
        </p:nvSpPr>
        <p:spPr>
          <a:xfrm>
            <a:off x="320040" y="1078992"/>
            <a:ext cx="8503920" cy="3822192"/>
          </a:xfrm>
          <a:prstGeom prst="rect">
            <a:avLst/>
          </a:prstGeom>
          <a:solidFill>
            <a:srgbClr val="1E293B"/>
          </a:solidFill>
          <a:ln w="12700">
            <a:solidFill>
              <a:srgbClr val="334155"/>
            </a:solidFill>
            <a:prstDash val="solid"/>
          </a:ln>
        </p:spPr>
      </p:sp>
      <p:sp>
        <p:nvSpPr>
          <p:cNvPr id="7" name="Text 5"/>
          <p:cNvSpPr/>
          <p:nvPr/>
        </p:nvSpPr>
        <p:spPr>
          <a:xfrm>
            <a:off x="429768" y="1152144"/>
            <a:ext cx="8284464" cy="3675888"/>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competitive_intelligence_task: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description: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Conduct thorough competitive intelligence analysis for: {product_idea}.</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1. Competitor Identification: direct, indirect, adjacent, and emerging startups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2. Competitive Analysis Matrix: funding, team, features, pricing, strengths/weaknesses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3. Market Positioning: how competitors position and their UVP</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4. Competitive Gaps: under-served needs, feature gaps, pricing opportunities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5. Threats: barriers to entry, network effects, potential responses to new entrant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Use web search to research each competitor's website, reviews, and recent news.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expected_output: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 competitive intelligence report (2000-2500 words) with at least 5-7 competitor</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profiles, a comparison matrix (table format), market positioning map, and strategic</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differentiation recommendations. Include links and sources for all claims.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agent: competitive_intelligence_analyst</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customer_insights_task: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description: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Develop deep customer insights for the AI product idea: {product_idea}.</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1. Target Customer Segmentation: identify 3-4 distinct segments with sizing</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2. Detailed Customer Personas: demographics, roles, goals, workflows, budgets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3. Pain Points and Needs Analysis: urgency and severity of current problems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4. Customer Journey: Awareness → Consideration → Purchase → Adoption stages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5. Value Proposition: what outcomes customers care about, willingness to pay</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6. Customer Acquisition Channels: where customers are found, influencers, partners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Use web search to find customer reviews of competitor products and forum discussions.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expected_output: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 customer insights report (2000-2500 words) with customer segmentation,</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detailed personas for 2-3 primary segments, pain points matrix, journey maps,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value proposition framework, and acquisition strategy recommendations.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Include real customer quotes from reviews and forums where possible.</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agent: customer_insights_researcher</a:t>
            </a:r>
            <a:endParaRPr lang="en-US" sz="950" dirty="0"/>
          </a:p>
        </p:txBody>
      </p:sp>
      <p:sp>
        <p:nvSpPr>
          <p:cNvPr id="8" name="Shape 6"/>
          <p:cNvSpPr/>
          <p:nvPr/>
        </p:nvSpPr>
        <p:spPr>
          <a:xfrm>
            <a:off x="320040" y="4983480"/>
            <a:ext cx="8503920" cy="411480"/>
          </a:xfrm>
          <a:prstGeom prst="rect">
            <a:avLst/>
          </a:prstGeom>
          <a:solidFill>
            <a:srgbClr val="E0F2FE"/>
          </a:solidFill>
          <a:ln w="12700">
            <a:solidFill>
              <a:srgbClr val="93C5FD"/>
            </a:solidFill>
            <a:prstDash val="solid"/>
          </a:ln>
        </p:spPr>
      </p:sp>
      <p:sp>
        <p:nvSpPr>
          <p:cNvPr id="9" name="Text 7"/>
          <p:cNvSpPr/>
          <p:nvPr/>
        </p:nvSpPr>
        <p:spPr>
          <a:xfrm>
            <a:off x="411480" y="5029200"/>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Notice tasks ② and ③ do not have  context=[]  in tasks.yaml — context is added in crew.py where the task objects are created in Python.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Step 6: tasks.yaml — Tasks 4 &amp; 5 (Part 3 of 3)</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Final two tasks including the business analyst task that saves the report</a:t>
            </a:r>
            <a:endParaRPr lang="en-US" sz="1100" dirty="0"/>
          </a:p>
        </p:txBody>
      </p:sp>
      <p:sp>
        <p:nvSpPr>
          <p:cNvPr id="6" name="Shape 4"/>
          <p:cNvSpPr/>
          <p:nvPr/>
        </p:nvSpPr>
        <p:spPr>
          <a:xfrm>
            <a:off x="320040" y="1078992"/>
            <a:ext cx="8503920" cy="3657600"/>
          </a:xfrm>
          <a:prstGeom prst="rect">
            <a:avLst/>
          </a:prstGeom>
          <a:solidFill>
            <a:srgbClr val="1E293B"/>
          </a:solidFill>
          <a:ln w="12700">
            <a:solidFill>
              <a:srgbClr val="334155"/>
            </a:solidFill>
            <a:prstDash val="solid"/>
          </a:ln>
        </p:spPr>
      </p:sp>
      <p:sp>
        <p:nvSpPr>
          <p:cNvPr id="7" name="Text 5"/>
          <p:cNvSpPr/>
          <p:nvPr/>
        </p:nvSpPr>
        <p:spPr>
          <a:xfrm>
            <a:off x="429768" y="1152144"/>
            <a:ext cx="8284464" cy="3511296"/>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product_strategy_task: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description: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Develop a comprehensive product strategy for: {product_idea}.</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1. Product Vision and Positioning: clear vision statement and UVP</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2. MVP Feature Prioritization: must-haves, should-haves, and post-MVP deferrals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3. Differentiation Strategy vs each major competitor</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4. Technical Feasibility: stack recommendations, risks, integration requirements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5. Development Roadmap: Phase 1 MVP (0-3 months), Phase 2 PMF (3-6 months),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Phase 3 Scale (6-12 months) with milestones and success metrics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expected_output: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 product strategy document (2500-3000 words) with MVP feature list,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prioritization matrix, differentiation strategy, 12-month roadmap, and KPIs.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agent: product_strategy_advisor</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business_analyst_task: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description: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Create a comprehensive business analysis for: {product_idea}.</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Synthesize ALL prior research and include:</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1. Executive Summary: key findings and Go/No-Go recommendation</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2. Pricing Strategy: model, tiers, price points with rationale</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3. Revenue Model: CAC, LTV, 3-year projections, break-even analysis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4. Go-to-Market Strategy: launch plan, sales model, marketing channels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5. Resource Requirements: team, infrastructure costs, funding needed</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6. Risk Analysis: market, competitive, technical, financial risks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7. Final Recommendation: clear Go/No-Go with critical next steps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expected_output: &gt;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 business analysis report (3000-4000 words) formatted as an investment memo</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with pricing table, 3-year financial projections, risk matrix, and final</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recommendation — ready to present to investors or executive leadership.</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agent: business_analyst</a:t>
            </a:r>
            <a:endParaRPr lang="en-US" sz="950" dirty="0"/>
          </a:p>
        </p:txBody>
      </p:sp>
      <p:sp>
        <p:nvSpPr>
          <p:cNvPr id="8" name="Shape 6"/>
          <p:cNvSpPr/>
          <p:nvPr/>
        </p:nvSpPr>
        <p:spPr>
          <a:xfrm>
            <a:off x="320040" y="4828032"/>
            <a:ext cx="8503920" cy="411480"/>
          </a:xfrm>
          <a:prstGeom prst="rect">
            <a:avLst/>
          </a:prstGeom>
          <a:solidFill>
            <a:srgbClr val="DCFCE7"/>
          </a:solidFill>
          <a:ln w="12700">
            <a:solidFill>
              <a:srgbClr val="93C5FD"/>
            </a:solidFill>
            <a:prstDash val="solid"/>
          </a:ln>
        </p:spPr>
      </p:sp>
      <p:sp>
        <p:nvSpPr>
          <p:cNvPr id="9" name="Text 7"/>
          <p:cNvSpPr/>
          <p:nvPr/>
        </p:nvSpPr>
        <p:spPr>
          <a:xfrm>
            <a:off x="411480" y="4873752"/>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business_analyst_task has  output_file='reports/report.md'  in crew.py (not in tasks.yaml) — this tells CrewAI to save its final output to that file.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Step 7: Edit crew.py — Part 1 (Imports, Tools &amp; Agents)</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Replace the content of  src/market_research_crew/crew.py  with the code below</a:t>
            </a:r>
            <a:endParaRPr lang="en-US" sz="1100" dirty="0"/>
          </a:p>
        </p:txBody>
      </p:sp>
      <p:sp>
        <p:nvSpPr>
          <p:cNvPr id="6" name="Shape 4"/>
          <p:cNvSpPr/>
          <p:nvPr/>
        </p:nvSpPr>
        <p:spPr>
          <a:xfrm>
            <a:off x="320040" y="1078992"/>
            <a:ext cx="8503920" cy="3822192"/>
          </a:xfrm>
          <a:prstGeom prst="rect">
            <a:avLst/>
          </a:prstGeom>
          <a:solidFill>
            <a:srgbClr val="1E293B"/>
          </a:solidFill>
          <a:ln w="12700">
            <a:solidFill>
              <a:srgbClr val="334155"/>
            </a:solidFill>
            <a:prstDash val="solid"/>
          </a:ln>
        </p:spPr>
      </p:sp>
      <p:sp>
        <p:nvSpPr>
          <p:cNvPr id="7" name="Text 5"/>
          <p:cNvSpPr/>
          <p:nvPr/>
        </p:nvSpPr>
        <p:spPr>
          <a:xfrm>
            <a:off x="429768" y="1152144"/>
            <a:ext cx="8284464" cy="3675888"/>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from crewai import Agent, Crew, Process,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from crewai.project import CrewBase, agent, crew,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from crewai.agents.agent_builder.base_agent import BaseAgent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from typing import List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from crewai_tools import SerperDevTool, ScrapeWebsiteTool, SeleniumScrapingTool</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from dotenv import load_dotenv</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load_dotenv()   # loads .env file so API keys are available</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Create the tools for the agents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web_search_tool = SerperDevTool()          # Google search via Serper API</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web_scraping_tool = ScrapeWebsiteTool()   # Basic HTTP scraping for most sites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selenium_scraping_tool = SeleniumScrapingTool()  # Full browser for JS-heavy sites</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toolkit = [web_search_tool, web_scraping_tool, selenium_scraping_tool]</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@CrewBase</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class MarketResearchCrew():</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"""MarketResearchCrew crew"""</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agents: List[BaseAgent]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tasks: List[Task]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agents_config = "config/agents.yaml"   # path relative to this file</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tasks_config = "config/tasks.yaml"</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 Agents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@agent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def market_research_specialist(self) -&gt; Agent: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return Agent(config=self.agents_config["market_research_specialist"], tools=toolkit)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@agent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def competitive_intelligence_analyst(self) -&gt; Agent: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return Agent(config=self.agents_config["competitive_intelligence_analyst"], tools=toolkit)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@agent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def customer_insights_researcher(self) -&gt; Agent: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return Agent(config=self.agents_config["customer_insights_researcher"], tools=toolkit)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@agent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def product_strategy_advisor(self) -&gt; Agent: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return Agent(config=self.agents_config["product_strategy_advisor"], tools=toolkit)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@agent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def business_analyst(self) -&gt; Agent: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return Agent(config=self.agents_config["business_analyst"], tools=toolkit)</a:t>
            </a:r>
            <a:endParaRPr lang="en-US" sz="950" dirty="0"/>
          </a:p>
        </p:txBody>
      </p:sp>
      <p:sp>
        <p:nvSpPr>
          <p:cNvPr id="8" name="Shape 6"/>
          <p:cNvSpPr/>
          <p:nvPr/>
        </p:nvSpPr>
        <p:spPr>
          <a:xfrm>
            <a:off x="320040" y="4983480"/>
            <a:ext cx="8503920" cy="411480"/>
          </a:xfrm>
          <a:prstGeom prst="rect">
            <a:avLst/>
          </a:prstGeom>
          <a:solidFill>
            <a:srgbClr val="E0F2FE"/>
          </a:solidFill>
          <a:ln w="12700">
            <a:solidFill>
              <a:srgbClr val="93C5FD"/>
            </a:solidFill>
            <a:prstDash val="solid"/>
          </a:ln>
        </p:spPr>
      </p:sp>
      <p:sp>
        <p:nvSpPr>
          <p:cNvPr id="9" name="Text 7"/>
          <p:cNvSpPr/>
          <p:nvPr/>
        </p:nvSpPr>
        <p:spPr>
          <a:xfrm>
            <a:off x="411480" y="5029200"/>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@CrewBase auto-loads YAML configs.  @agent  registers a method as an agent factory.  toolkit  gives all 5 agents web search + 2 scraping tools.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Step 7: crew.py — Part 2 (Tasks with Context &amp; Crew)</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Continue adding this to the bottom of crew.py inside the class</a:t>
            </a:r>
            <a:endParaRPr lang="en-US" sz="1100" dirty="0"/>
          </a:p>
        </p:txBody>
      </p:sp>
      <p:sp>
        <p:nvSpPr>
          <p:cNvPr id="6" name="Shape 4"/>
          <p:cNvSpPr/>
          <p:nvPr/>
        </p:nvSpPr>
        <p:spPr>
          <a:xfrm>
            <a:off x="320040" y="1078992"/>
            <a:ext cx="8503920" cy="3794760"/>
          </a:xfrm>
          <a:prstGeom prst="rect">
            <a:avLst/>
          </a:prstGeom>
          <a:solidFill>
            <a:srgbClr val="1E293B"/>
          </a:solidFill>
          <a:ln w="12700">
            <a:solidFill>
              <a:srgbClr val="334155"/>
            </a:solidFill>
            <a:prstDash val="solid"/>
          </a:ln>
        </p:spPr>
      </p:sp>
      <p:sp>
        <p:nvSpPr>
          <p:cNvPr id="7" name="Text 5"/>
          <p:cNvSpPr/>
          <p:nvPr/>
        </p:nvSpPr>
        <p:spPr>
          <a:xfrm>
            <a:off x="429768" y="1152144"/>
            <a:ext cx="8284464" cy="3648456"/>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    # ── Tasks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def market_research_task(self) -&gt;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return Task(config=self.tasks_config["market_research_task"])</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def competitive_intelligence_task(self) -&gt;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return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config=self.tasks_config["competitive_intelligence_task"],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context=[self.market_research_task()]      # ← gets task ① output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def customer_insights_task(self) -&gt;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return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config=self.tasks_config["customer_insights_task"],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context=[self.market_research_task(),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self.competitive_intelligence_task()] # ← gets tasks ① + ② output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def product_strategy_task(self) -&gt;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return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config=self.tasks_config["product_strategy_task"],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context=[self.market_research_task(), self.competitive_intelligence_task(),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self.customer_insights_task()] # ← gets tasks ①+②+③ output</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def business_analyst_task(self) -&gt;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return 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config=self.tasks_config["business_analyst_task"],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context=[self.market_research_task(), self.competitive_intelligence_task(),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self.customer_insights_task(), self.product_strategy_task()],</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output_file="reports/report.md"    # ← saves final report here</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 ── Crew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@crew</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def crew(self) -&gt; Crew:</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return Crew(agents=self.agents, tasks=self.tasks, process=Process.sequential)</a:t>
            </a:r>
            <a:endParaRPr lang="en-US" sz="950" dirty="0"/>
          </a:p>
        </p:txBody>
      </p:sp>
      <p:sp>
        <p:nvSpPr>
          <p:cNvPr id="8" name="Shape 6"/>
          <p:cNvSpPr/>
          <p:nvPr/>
        </p:nvSpPr>
        <p:spPr>
          <a:xfrm>
            <a:off x="320040" y="4956048"/>
            <a:ext cx="8503920" cy="411480"/>
          </a:xfrm>
          <a:prstGeom prst="rect">
            <a:avLst/>
          </a:prstGeom>
          <a:solidFill>
            <a:srgbClr val="FEF3C7"/>
          </a:solidFill>
          <a:ln w="12700">
            <a:solidFill>
              <a:srgbClr val="93C5FD"/>
            </a:solidFill>
            <a:prstDash val="solid"/>
          </a:ln>
        </p:spPr>
      </p:sp>
      <p:sp>
        <p:nvSpPr>
          <p:cNvPr id="9" name="Text 7"/>
          <p:cNvSpPr/>
          <p:nvPr/>
        </p:nvSpPr>
        <p:spPr>
          <a:xfrm>
            <a:off x="411480" y="5001768"/>
            <a:ext cx="8321040" cy="320040"/>
          </a:xfrm>
          <a:prstGeom prst="rect">
            <a:avLst/>
          </a:prstGeom>
          <a:noFill/>
          <a:ln/>
        </p:spPr>
        <p:txBody>
          <a:bodyPr wrap="square" lIns="0" tIns="0" rIns="0" bIns="0" rtlCol="0" anchor="ctr"/>
          <a:lstStyle/>
          <a:p>
            <a:pPr indent="0" marL="0">
              <a:buNone/>
            </a:pPr>
            <a:r>
              <a:rPr lang="en-US" sz="1000" dirty="0">
                <a:solidFill>
                  <a:srgbClr val="1E3A5F"/>
                </a:solidFill>
                <a:latin typeface="Calibri" pitchFamily="34" charset="0"/>
                <a:ea typeface="Calibri" pitchFamily="34" charset="-122"/>
                <a:cs typeface="Calibri" pitchFamily="34" charset="-120"/>
              </a:rPr>
              <a:t>💡  context=[]  is the key to agent collaboration. Process.sequential means each task waits for the previous one to fully complete before starting.</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Step 8: Edit main.py — Set Your Product Idea &amp; Run</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Replace the content of  src/market_research_crew/main.py  with the code below</a:t>
            </a:r>
            <a:endParaRPr lang="en-US" sz="1100" dirty="0"/>
          </a:p>
        </p:txBody>
      </p:sp>
      <p:sp>
        <p:nvSpPr>
          <p:cNvPr id="6" name="Shape 4"/>
          <p:cNvSpPr/>
          <p:nvPr/>
        </p:nvSpPr>
        <p:spPr>
          <a:xfrm>
            <a:off x="320040" y="1078992"/>
            <a:ext cx="8503920" cy="2240280"/>
          </a:xfrm>
          <a:prstGeom prst="rect">
            <a:avLst/>
          </a:prstGeom>
          <a:solidFill>
            <a:srgbClr val="1E293B"/>
          </a:solidFill>
          <a:ln w="12700">
            <a:solidFill>
              <a:srgbClr val="334155"/>
            </a:solidFill>
            <a:prstDash val="solid"/>
          </a:ln>
        </p:spPr>
      </p:sp>
      <p:sp>
        <p:nvSpPr>
          <p:cNvPr id="7" name="Text 5"/>
          <p:cNvSpPr/>
          <p:nvPr/>
        </p:nvSpPr>
        <p:spPr>
          <a:xfrm>
            <a:off x="429768" y="1152144"/>
            <a:ext cx="8284464" cy="2093976"/>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import warnings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from market_research_crew.crew import MarketResearchCrew</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warnings.filterwarnings("ignore", category=SyntaxWarning, module="pysbd")</a:t>
            </a:r>
            <a:endParaRPr lang="en-US" sz="950" dirty="0"/>
          </a:p>
          <a:p>
            <a:pPr indent="0" marL="0">
              <a:buNone/>
            </a:pP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def run():</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Run the crew.</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inputs =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"product_idea": "An AI powered tool that summarizes youtube videos on my channel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"and posts the summary on various social media platforms like "</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"LinkedIn, Instagram, Facebook, X, WhatsApp"</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a:t>
            </a:r>
            <a:endParaRPr lang="en-US" sz="950" dirty="0"/>
          </a:p>
          <a:p>
            <a:pPr indent="0" marL="0">
              <a:buNone/>
            </a:pP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try:</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MarketResearchCrew().crew().kickoff(inputs=inputs)</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except Exception as e:</a:t>
            </a:r>
            <a:endParaRPr lang="en-US" sz="950" dirty="0"/>
          </a:p>
          <a:p>
            <a:pPr indent="0" marL="0">
              <a:buNone/>
            </a:pPr>
            <a:r>
              <a:rPr lang="en-US" sz="950" dirty="0">
                <a:solidFill>
                  <a:srgbClr val="7DD3FC"/>
                </a:solidFill>
                <a:latin typeface="Consolas" pitchFamily="34" charset="0"/>
                <a:ea typeface="Consolas" pitchFamily="34" charset="-122"/>
                <a:cs typeface="Consolas" pitchFamily="34" charset="-120"/>
              </a:rPr>
              <a:t>        raise Exception(f"An error occurred while running the crew: {e}")</a:t>
            </a:r>
            <a:endParaRPr lang="en-US" sz="950" dirty="0"/>
          </a:p>
        </p:txBody>
      </p:sp>
      <p:sp>
        <p:nvSpPr>
          <p:cNvPr id="8" name="Shape 6"/>
          <p:cNvSpPr/>
          <p:nvPr/>
        </p:nvSpPr>
        <p:spPr>
          <a:xfrm>
            <a:off x="320040" y="3401568"/>
            <a:ext cx="8503920" cy="384048"/>
          </a:xfrm>
          <a:prstGeom prst="rect">
            <a:avLst/>
          </a:prstGeom>
          <a:solidFill>
            <a:srgbClr val="EDE9FE"/>
          </a:solidFill>
          <a:ln w="12700">
            <a:solidFill>
              <a:srgbClr val="C7D2FE"/>
            </a:solidFill>
            <a:prstDash val="solid"/>
          </a:ln>
        </p:spPr>
      </p:sp>
      <p:sp>
        <p:nvSpPr>
          <p:cNvPr id="9" name="Text 7"/>
          <p:cNvSpPr/>
          <p:nvPr/>
        </p:nvSpPr>
        <p:spPr>
          <a:xfrm>
            <a:off x="457200" y="3447288"/>
            <a:ext cx="8321040" cy="310896"/>
          </a:xfrm>
          <a:prstGeom prst="rect">
            <a:avLst/>
          </a:prstGeom>
          <a:noFill/>
          <a:ln/>
        </p:spPr>
        <p:txBody>
          <a:bodyPr wrap="square" lIns="0" tIns="0" rIns="0" bIns="0"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product_idea  →  </a:t>
            </a:r>
            <a:pPr indent="0" marL="0">
              <a:buNone/>
            </a:pPr>
            <a:r>
              <a:rPr lang="en-US" sz="950" dirty="0">
                <a:solidFill>
                  <a:srgbClr val="1E293B"/>
                </a:solidFill>
                <a:latin typeface="Calibri" pitchFamily="34" charset="0"/>
                <a:ea typeface="Calibri" pitchFamily="34" charset="-122"/>
                <a:cs typeface="Calibri" pitchFamily="34" charset="-120"/>
              </a:rPr>
              <a:t>Change this to any product or startup idea you want researched. This text replaces every {product_idea} placeholder in tasks.yaml.</a:t>
            </a:r>
            <a:endParaRPr lang="en-US" sz="950" dirty="0"/>
          </a:p>
        </p:txBody>
      </p:sp>
      <p:sp>
        <p:nvSpPr>
          <p:cNvPr id="10" name="Shape 8"/>
          <p:cNvSpPr/>
          <p:nvPr/>
        </p:nvSpPr>
        <p:spPr>
          <a:xfrm>
            <a:off x="320040" y="3840480"/>
            <a:ext cx="8503920" cy="384048"/>
          </a:xfrm>
          <a:prstGeom prst="rect">
            <a:avLst/>
          </a:prstGeom>
          <a:solidFill>
            <a:srgbClr val="E0F2FE"/>
          </a:solidFill>
          <a:ln w="12700">
            <a:solidFill>
              <a:srgbClr val="C7D2FE"/>
            </a:solidFill>
            <a:prstDash val="solid"/>
          </a:ln>
        </p:spPr>
      </p:sp>
      <p:sp>
        <p:nvSpPr>
          <p:cNvPr id="11" name="Text 9"/>
          <p:cNvSpPr/>
          <p:nvPr/>
        </p:nvSpPr>
        <p:spPr>
          <a:xfrm>
            <a:off x="457200" y="3886200"/>
            <a:ext cx="8321040" cy="310896"/>
          </a:xfrm>
          <a:prstGeom prst="rect">
            <a:avLst/>
          </a:prstGeom>
          <a:noFill/>
          <a:ln/>
        </p:spPr>
        <p:txBody>
          <a:bodyPr wrap="square" lIns="0" tIns="0" rIns="0" bIns="0"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kickoff(inputs=inputs)  →  </a:t>
            </a:r>
            <a:pPr indent="0" marL="0">
              <a:buNone/>
            </a:pPr>
            <a:r>
              <a:rPr lang="en-US" sz="950" dirty="0">
                <a:solidFill>
                  <a:srgbClr val="1E293B"/>
                </a:solidFill>
                <a:latin typeface="Calibri" pitchFamily="34" charset="0"/>
                <a:ea typeface="Calibri" pitchFamily="34" charset="-122"/>
                <a:cs typeface="Calibri" pitchFamily="34" charset="-120"/>
              </a:rPr>
              <a:t>Starts the entire pipeline. All 5 agents run one by one, each receiving the outputs of previous tasks as context.</a:t>
            </a:r>
            <a:endParaRPr lang="en-US" sz="950" dirty="0"/>
          </a:p>
        </p:txBody>
      </p:sp>
      <p:sp>
        <p:nvSpPr>
          <p:cNvPr id="12" name="Shape 10"/>
          <p:cNvSpPr/>
          <p:nvPr/>
        </p:nvSpPr>
        <p:spPr>
          <a:xfrm>
            <a:off x="320040" y="4279392"/>
            <a:ext cx="8503920" cy="384048"/>
          </a:xfrm>
          <a:prstGeom prst="rect">
            <a:avLst/>
          </a:prstGeom>
          <a:solidFill>
            <a:srgbClr val="EDE9FE"/>
          </a:solidFill>
          <a:ln w="12700">
            <a:solidFill>
              <a:srgbClr val="C7D2FE"/>
            </a:solidFill>
            <a:prstDash val="solid"/>
          </a:ln>
        </p:spPr>
      </p:sp>
      <p:sp>
        <p:nvSpPr>
          <p:cNvPr id="13" name="Text 11"/>
          <p:cNvSpPr/>
          <p:nvPr/>
        </p:nvSpPr>
        <p:spPr>
          <a:xfrm>
            <a:off x="457200" y="4325112"/>
            <a:ext cx="8321040" cy="310896"/>
          </a:xfrm>
          <a:prstGeom prst="rect">
            <a:avLst/>
          </a:prstGeom>
          <a:noFill/>
          <a:ln/>
        </p:spPr>
        <p:txBody>
          <a:bodyPr wrap="square" lIns="0" tIns="0" rIns="0" bIns="0"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output_file in crew.py  →  </a:t>
            </a:r>
            <a:pPr indent="0" marL="0">
              <a:buNone/>
            </a:pPr>
            <a:r>
              <a:rPr lang="en-US" sz="950" dirty="0">
                <a:solidFill>
                  <a:srgbClr val="1E293B"/>
                </a:solidFill>
                <a:latin typeface="Calibri" pitchFamily="34" charset="0"/>
                <a:ea typeface="Calibri" pitchFamily="34" charset="-122"/>
                <a:cs typeface="Calibri" pitchFamily="34" charset="-120"/>
              </a:rPr>
              <a:t>The final report is saved to reports/report.md — a full investment memo ready to share with stakeholders.</a:t>
            </a:r>
            <a:endParaRPr lang="en-US" sz="950" dirty="0"/>
          </a:p>
        </p:txBody>
      </p:sp>
      <p:sp>
        <p:nvSpPr>
          <p:cNvPr id="14" name="Text 12"/>
          <p:cNvSpPr/>
          <p:nvPr/>
        </p:nvSpPr>
        <p:spPr>
          <a:xfrm>
            <a:off x="365760" y="4718304"/>
            <a:ext cx="1371600" cy="256032"/>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Finally, run:</a:t>
            </a:r>
            <a:endParaRPr lang="en-US" sz="1100" dirty="0"/>
          </a:p>
        </p:txBody>
      </p:sp>
      <p:sp>
        <p:nvSpPr>
          <p:cNvPr id="15" name="Shape 13"/>
          <p:cNvSpPr/>
          <p:nvPr/>
        </p:nvSpPr>
        <p:spPr>
          <a:xfrm>
            <a:off x="1783080" y="4718304"/>
            <a:ext cx="7040880" cy="320040"/>
          </a:xfrm>
          <a:prstGeom prst="rect">
            <a:avLst/>
          </a:prstGeom>
          <a:solidFill>
            <a:srgbClr val="1E293B"/>
          </a:solidFill>
          <a:ln w="12700">
            <a:solidFill>
              <a:srgbClr val="334155"/>
            </a:solidFill>
            <a:prstDash val="solid"/>
          </a:ln>
        </p:spPr>
      </p:sp>
      <p:sp>
        <p:nvSpPr>
          <p:cNvPr id="16" name="Text 14"/>
          <p:cNvSpPr/>
          <p:nvPr/>
        </p:nvSpPr>
        <p:spPr>
          <a:xfrm>
            <a:off x="1892808" y="4791456"/>
            <a:ext cx="6821424" cy="173736"/>
          </a:xfrm>
          <a:prstGeom prst="rect">
            <a:avLst/>
          </a:prstGeom>
          <a:noFill/>
          <a:ln/>
        </p:spPr>
        <p:txBody>
          <a:bodyPr wrap="square" lIns="0" tIns="0" rIns="0" bIns="0" rtlCol="0" anchor="t"/>
          <a:lstStyle/>
          <a:p>
            <a:pPr indent="0" marL="0">
              <a:buNone/>
            </a:pPr>
            <a:r>
              <a:rPr lang="en-US" sz="950" dirty="0">
                <a:solidFill>
                  <a:srgbClr val="7DD3FC"/>
                </a:solidFill>
                <a:latin typeface="Consolas" pitchFamily="34" charset="0"/>
                <a:ea typeface="Consolas" pitchFamily="34" charset="-122"/>
                <a:cs typeface="Consolas" pitchFamily="34" charset="-120"/>
              </a:rPr>
              <a:t>crewai run      # OR:  python -m market_research_crew.main</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Complete Installation Sequence — All Commands in Order</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Run these commands in your terminal exactly in this sequence</a:t>
            </a:r>
            <a:endParaRPr lang="en-US" sz="1100" dirty="0"/>
          </a:p>
        </p:txBody>
      </p:sp>
      <p:sp>
        <p:nvSpPr>
          <p:cNvPr id="6" name="Shape 4"/>
          <p:cNvSpPr/>
          <p:nvPr/>
        </p:nvSpPr>
        <p:spPr>
          <a:xfrm>
            <a:off x="320040" y="1115568"/>
            <a:ext cx="4160520" cy="694944"/>
          </a:xfrm>
          <a:prstGeom prst="rect">
            <a:avLst/>
          </a:prstGeom>
          <a:solidFill>
            <a:srgbClr val="F8FAFC"/>
          </a:solidFill>
          <a:ln w="12700">
            <a:solidFill>
              <a:srgbClr val="CBD5E1"/>
            </a:solidFill>
            <a:prstDash val="solid"/>
          </a:ln>
        </p:spPr>
      </p:sp>
      <p:sp>
        <p:nvSpPr>
          <p:cNvPr id="7" name="Shape 5"/>
          <p:cNvSpPr/>
          <p:nvPr/>
        </p:nvSpPr>
        <p:spPr>
          <a:xfrm>
            <a:off x="374904" y="1298448"/>
            <a:ext cx="347472" cy="347472"/>
          </a:xfrm>
          <a:prstGeom prst="ellipse">
            <a:avLst/>
          </a:prstGeom>
          <a:solidFill>
            <a:srgbClr val="4F46E5"/>
          </a:solidFill>
          <a:ln w="12700">
            <a:solidFill>
              <a:srgbClr val="4F46E5"/>
            </a:solidFill>
            <a:prstDash val="solid"/>
          </a:ln>
        </p:spPr>
      </p:sp>
      <p:sp>
        <p:nvSpPr>
          <p:cNvPr id="8" name="Text 6"/>
          <p:cNvSpPr/>
          <p:nvPr/>
        </p:nvSpPr>
        <p:spPr>
          <a:xfrm>
            <a:off x="374904" y="130759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822960" y="1152144"/>
            <a:ext cx="3566160" cy="22860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Install uv (macOS/Linux)</a:t>
            </a:r>
            <a:endParaRPr lang="en-US" sz="950" dirty="0"/>
          </a:p>
        </p:txBody>
      </p:sp>
      <p:sp>
        <p:nvSpPr>
          <p:cNvPr id="10" name="Shape 8"/>
          <p:cNvSpPr/>
          <p:nvPr/>
        </p:nvSpPr>
        <p:spPr>
          <a:xfrm>
            <a:off x="822960" y="1389888"/>
            <a:ext cx="3547872" cy="237744"/>
          </a:xfrm>
          <a:prstGeom prst="rect">
            <a:avLst/>
          </a:prstGeom>
          <a:solidFill>
            <a:srgbClr val="1E293B"/>
          </a:solidFill>
          <a:ln w="12700">
            <a:solidFill>
              <a:srgbClr val="334155"/>
            </a:solidFill>
            <a:prstDash val="solid"/>
          </a:ln>
        </p:spPr>
      </p:sp>
      <p:sp>
        <p:nvSpPr>
          <p:cNvPr id="11" name="Text 9"/>
          <p:cNvSpPr/>
          <p:nvPr/>
        </p:nvSpPr>
        <p:spPr>
          <a:xfrm>
            <a:off x="886968" y="1408176"/>
            <a:ext cx="3419856" cy="201168"/>
          </a:xfrm>
          <a:prstGeom prst="rect">
            <a:avLst/>
          </a:prstGeom>
          <a:noFill/>
          <a:ln/>
        </p:spPr>
        <p:txBody>
          <a:bodyPr wrap="square" lIns="0" tIns="0" rIns="0" bIns="0" rtlCol="0" anchor="ctr"/>
          <a:lstStyle/>
          <a:p>
            <a:pPr indent="0" marL="0">
              <a:buNone/>
            </a:pPr>
            <a:r>
              <a:rPr lang="en-US" sz="850" dirty="0">
                <a:solidFill>
                  <a:srgbClr val="7DD3FC"/>
                </a:solidFill>
                <a:latin typeface="Consolas" pitchFamily="34" charset="0"/>
                <a:ea typeface="Consolas" pitchFamily="34" charset="-122"/>
                <a:cs typeface="Consolas" pitchFamily="34" charset="-120"/>
              </a:rPr>
              <a:t>curl -LsSf https://astral.sh/uv/install.sh | sh</a:t>
            </a:r>
            <a:endParaRPr lang="en-US" sz="850" dirty="0"/>
          </a:p>
        </p:txBody>
      </p:sp>
      <p:sp>
        <p:nvSpPr>
          <p:cNvPr id="12" name="Text 10"/>
          <p:cNvSpPr/>
          <p:nvPr/>
        </p:nvSpPr>
        <p:spPr>
          <a:xfrm>
            <a:off x="822960" y="1645920"/>
            <a:ext cx="3566160" cy="16459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Windows: powershell -c "irm https://astral.sh/uv/install.ps1 | iex"</a:t>
            </a:r>
            <a:endParaRPr lang="en-US" sz="750" dirty="0"/>
          </a:p>
        </p:txBody>
      </p:sp>
      <p:sp>
        <p:nvSpPr>
          <p:cNvPr id="13" name="Shape 11"/>
          <p:cNvSpPr/>
          <p:nvPr/>
        </p:nvSpPr>
        <p:spPr>
          <a:xfrm>
            <a:off x="320040" y="1883664"/>
            <a:ext cx="4160520" cy="694944"/>
          </a:xfrm>
          <a:prstGeom prst="rect">
            <a:avLst/>
          </a:prstGeom>
          <a:solidFill>
            <a:srgbClr val="F8FAFC"/>
          </a:solidFill>
          <a:ln w="12700">
            <a:solidFill>
              <a:srgbClr val="CBD5E1"/>
            </a:solidFill>
            <a:prstDash val="solid"/>
          </a:ln>
        </p:spPr>
      </p:sp>
      <p:sp>
        <p:nvSpPr>
          <p:cNvPr id="14" name="Shape 12"/>
          <p:cNvSpPr/>
          <p:nvPr/>
        </p:nvSpPr>
        <p:spPr>
          <a:xfrm>
            <a:off x="374904" y="2066544"/>
            <a:ext cx="347472" cy="347472"/>
          </a:xfrm>
          <a:prstGeom prst="ellipse">
            <a:avLst/>
          </a:prstGeom>
          <a:solidFill>
            <a:srgbClr val="4F46E5"/>
          </a:solidFill>
          <a:ln w="12700">
            <a:solidFill>
              <a:srgbClr val="4F46E5"/>
            </a:solidFill>
            <a:prstDash val="solid"/>
          </a:ln>
        </p:spPr>
      </p:sp>
      <p:sp>
        <p:nvSpPr>
          <p:cNvPr id="15" name="Text 13"/>
          <p:cNvSpPr/>
          <p:nvPr/>
        </p:nvSpPr>
        <p:spPr>
          <a:xfrm>
            <a:off x="374904" y="20756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822960" y="1920240"/>
            <a:ext cx="3566160" cy="22860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Install CrewAI</a:t>
            </a:r>
            <a:endParaRPr lang="en-US" sz="950" dirty="0"/>
          </a:p>
        </p:txBody>
      </p:sp>
      <p:sp>
        <p:nvSpPr>
          <p:cNvPr id="17" name="Shape 15"/>
          <p:cNvSpPr/>
          <p:nvPr/>
        </p:nvSpPr>
        <p:spPr>
          <a:xfrm>
            <a:off x="822960" y="2157984"/>
            <a:ext cx="3547872" cy="237744"/>
          </a:xfrm>
          <a:prstGeom prst="rect">
            <a:avLst/>
          </a:prstGeom>
          <a:solidFill>
            <a:srgbClr val="1E293B"/>
          </a:solidFill>
          <a:ln w="12700">
            <a:solidFill>
              <a:srgbClr val="334155"/>
            </a:solidFill>
            <a:prstDash val="solid"/>
          </a:ln>
        </p:spPr>
      </p:sp>
      <p:sp>
        <p:nvSpPr>
          <p:cNvPr id="18" name="Text 16"/>
          <p:cNvSpPr/>
          <p:nvPr/>
        </p:nvSpPr>
        <p:spPr>
          <a:xfrm>
            <a:off x="886968" y="2176272"/>
            <a:ext cx="3419856" cy="201168"/>
          </a:xfrm>
          <a:prstGeom prst="rect">
            <a:avLst/>
          </a:prstGeom>
          <a:noFill/>
          <a:ln/>
        </p:spPr>
        <p:txBody>
          <a:bodyPr wrap="square" lIns="0" tIns="0" rIns="0" bIns="0" rtlCol="0" anchor="ctr"/>
          <a:lstStyle/>
          <a:p>
            <a:pPr indent="0" marL="0">
              <a:buNone/>
            </a:pPr>
            <a:r>
              <a:rPr lang="en-US" sz="850" dirty="0">
                <a:solidFill>
                  <a:srgbClr val="7DD3FC"/>
                </a:solidFill>
                <a:latin typeface="Consolas" pitchFamily="34" charset="0"/>
                <a:ea typeface="Consolas" pitchFamily="34" charset="-122"/>
                <a:cs typeface="Consolas" pitchFamily="34" charset="-120"/>
              </a:rPr>
              <a:t>pip install crewai crewai-tools</a:t>
            </a:r>
            <a:endParaRPr lang="en-US" sz="850" dirty="0"/>
          </a:p>
        </p:txBody>
      </p:sp>
      <p:sp>
        <p:nvSpPr>
          <p:cNvPr id="19" name="Text 17"/>
          <p:cNvSpPr/>
          <p:nvPr/>
        </p:nvSpPr>
        <p:spPr>
          <a:xfrm>
            <a:off x="822960" y="2414016"/>
            <a:ext cx="3566160" cy="16459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Installs the framework and all built-in tools</a:t>
            </a:r>
            <a:endParaRPr lang="en-US" sz="750" dirty="0"/>
          </a:p>
        </p:txBody>
      </p:sp>
      <p:sp>
        <p:nvSpPr>
          <p:cNvPr id="20" name="Shape 18"/>
          <p:cNvSpPr/>
          <p:nvPr/>
        </p:nvSpPr>
        <p:spPr>
          <a:xfrm>
            <a:off x="320040" y="2651760"/>
            <a:ext cx="4160520" cy="694944"/>
          </a:xfrm>
          <a:prstGeom prst="rect">
            <a:avLst/>
          </a:prstGeom>
          <a:solidFill>
            <a:srgbClr val="F8FAFC"/>
          </a:solidFill>
          <a:ln w="12700">
            <a:solidFill>
              <a:srgbClr val="CBD5E1"/>
            </a:solidFill>
            <a:prstDash val="solid"/>
          </a:ln>
        </p:spPr>
      </p:sp>
      <p:sp>
        <p:nvSpPr>
          <p:cNvPr id="21" name="Shape 19"/>
          <p:cNvSpPr/>
          <p:nvPr/>
        </p:nvSpPr>
        <p:spPr>
          <a:xfrm>
            <a:off x="374904" y="2834640"/>
            <a:ext cx="347472" cy="347472"/>
          </a:xfrm>
          <a:prstGeom prst="ellipse">
            <a:avLst/>
          </a:prstGeom>
          <a:solidFill>
            <a:srgbClr val="4F46E5"/>
          </a:solidFill>
          <a:ln w="12700">
            <a:solidFill>
              <a:srgbClr val="4F46E5"/>
            </a:solidFill>
            <a:prstDash val="solid"/>
          </a:ln>
        </p:spPr>
      </p:sp>
      <p:sp>
        <p:nvSpPr>
          <p:cNvPr id="22" name="Text 20"/>
          <p:cNvSpPr/>
          <p:nvPr/>
        </p:nvSpPr>
        <p:spPr>
          <a:xfrm>
            <a:off x="374904" y="284378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822960" y="2688336"/>
            <a:ext cx="3566160" cy="22860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Create project</a:t>
            </a:r>
            <a:endParaRPr lang="en-US" sz="950" dirty="0"/>
          </a:p>
        </p:txBody>
      </p:sp>
      <p:sp>
        <p:nvSpPr>
          <p:cNvPr id="24" name="Shape 22"/>
          <p:cNvSpPr/>
          <p:nvPr/>
        </p:nvSpPr>
        <p:spPr>
          <a:xfrm>
            <a:off x="822960" y="2926080"/>
            <a:ext cx="3547872" cy="237744"/>
          </a:xfrm>
          <a:prstGeom prst="rect">
            <a:avLst/>
          </a:prstGeom>
          <a:solidFill>
            <a:srgbClr val="1E293B"/>
          </a:solidFill>
          <a:ln w="12700">
            <a:solidFill>
              <a:srgbClr val="334155"/>
            </a:solidFill>
            <a:prstDash val="solid"/>
          </a:ln>
        </p:spPr>
      </p:sp>
      <p:sp>
        <p:nvSpPr>
          <p:cNvPr id="25" name="Text 23"/>
          <p:cNvSpPr/>
          <p:nvPr/>
        </p:nvSpPr>
        <p:spPr>
          <a:xfrm>
            <a:off x="886968" y="2944368"/>
            <a:ext cx="3419856" cy="201168"/>
          </a:xfrm>
          <a:prstGeom prst="rect">
            <a:avLst/>
          </a:prstGeom>
          <a:noFill/>
          <a:ln/>
        </p:spPr>
        <p:txBody>
          <a:bodyPr wrap="square" lIns="0" tIns="0" rIns="0" bIns="0" rtlCol="0" anchor="ctr"/>
          <a:lstStyle/>
          <a:p>
            <a:pPr indent="0" marL="0">
              <a:buNone/>
            </a:pPr>
            <a:r>
              <a:rPr lang="en-US" sz="850" dirty="0">
                <a:solidFill>
                  <a:srgbClr val="7DD3FC"/>
                </a:solidFill>
                <a:latin typeface="Consolas" pitchFamily="34" charset="0"/>
                <a:ea typeface="Consolas" pitchFamily="34" charset="-122"/>
                <a:cs typeface="Consolas" pitchFamily="34" charset="-120"/>
              </a:rPr>
              <a:t>crewai create crew market_research_crew</a:t>
            </a:r>
            <a:endParaRPr lang="en-US" sz="850" dirty="0"/>
          </a:p>
        </p:txBody>
      </p:sp>
      <p:sp>
        <p:nvSpPr>
          <p:cNvPr id="26" name="Text 24"/>
          <p:cNvSpPr/>
          <p:nvPr/>
        </p:nvSpPr>
        <p:spPr>
          <a:xfrm>
            <a:off x="822960" y="3182112"/>
            <a:ext cx="3566160" cy="16459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Choose: 1 (openai) → 3 (gpt-4.1-mini) → Enter to skip key for now</a:t>
            </a:r>
            <a:endParaRPr lang="en-US" sz="750" dirty="0"/>
          </a:p>
        </p:txBody>
      </p:sp>
      <p:sp>
        <p:nvSpPr>
          <p:cNvPr id="27" name="Shape 25"/>
          <p:cNvSpPr/>
          <p:nvPr/>
        </p:nvSpPr>
        <p:spPr>
          <a:xfrm>
            <a:off x="320040" y="3419856"/>
            <a:ext cx="4160520" cy="694944"/>
          </a:xfrm>
          <a:prstGeom prst="rect">
            <a:avLst/>
          </a:prstGeom>
          <a:solidFill>
            <a:srgbClr val="F8FAFC"/>
          </a:solidFill>
          <a:ln w="12700">
            <a:solidFill>
              <a:srgbClr val="CBD5E1"/>
            </a:solidFill>
            <a:prstDash val="solid"/>
          </a:ln>
        </p:spPr>
      </p:sp>
      <p:sp>
        <p:nvSpPr>
          <p:cNvPr id="28" name="Shape 26"/>
          <p:cNvSpPr/>
          <p:nvPr/>
        </p:nvSpPr>
        <p:spPr>
          <a:xfrm>
            <a:off x="374904" y="3602736"/>
            <a:ext cx="347472" cy="347472"/>
          </a:xfrm>
          <a:prstGeom prst="ellipse">
            <a:avLst/>
          </a:prstGeom>
          <a:solidFill>
            <a:srgbClr val="4F46E5"/>
          </a:solidFill>
          <a:ln w="12700">
            <a:solidFill>
              <a:srgbClr val="4F46E5"/>
            </a:solidFill>
            <a:prstDash val="solid"/>
          </a:ln>
        </p:spPr>
      </p:sp>
      <p:sp>
        <p:nvSpPr>
          <p:cNvPr id="29" name="Text 27"/>
          <p:cNvSpPr/>
          <p:nvPr/>
        </p:nvSpPr>
        <p:spPr>
          <a:xfrm>
            <a:off x="374904" y="36118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0" name="Text 28"/>
          <p:cNvSpPr/>
          <p:nvPr/>
        </p:nvSpPr>
        <p:spPr>
          <a:xfrm>
            <a:off x="822960" y="3456432"/>
            <a:ext cx="3566160" cy="22860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Navigate into folder</a:t>
            </a:r>
            <a:endParaRPr lang="en-US" sz="950" dirty="0"/>
          </a:p>
        </p:txBody>
      </p:sp>
      <p:sp>
        <p:nvSpPr>
          <p:cNvPr id="31" name="Shape 29"/>
          <p:cNvSpPr/>
          <p:nvPr/>
        </p:nvSpPr>
        <p:spPr>
          <a:xfrm>
            <a:off x="822960" y="3694176"/>
            <a:ext cx="3547872" cy="237744"/>
          </a:xfrm>
          <a:prstGeom prst="rect">
            <a:avLst/>
          </a:prstGeom>
          <a:solidFill>
            <a:srgbClr val="1E293B"/>
          </a:solidFill>
          <a:ln w="12700">
            <a:solidFill>
              <a:srgbClr val="334155"/>
            </a:solidFill>
            <a:prstDash val="solid"/>
          </a:ln>
        </p:spPr>
      </p:sp>
      <p:sp>
        <p:nvSpPr>
          <p:cNvPr id="32" name="Text 30"/>
          <p:cNvSpPr/>
          <p:nvPr/>
        </p:nvSpPr>
        <p:spPr>
          <a:xfrm>
            <a:off x="886968" y="3712464"/>
            <a:ext cx="3419856" cy="201168"/>
          </a:xfrm>
          <a:prstGeom prst="rect">
            <a:avLst/>
          </a:prstGeom>
          <a:noFill/>
          <a:ln/>
        </p:spPr>
        <p:txBody>
          <a:bodyPr wrap="square" lIns="0" tIns="0" rIns="0" bIns="0" rtlCol="0" anchor="ctr"/>
          <a:lstStyle/>
          <a:p>
            <a:pPr indent="0" marL="0">
              <a:buNone/>
            </a:pPr>
            <a:r>
              <a:rPr lang="en-US" sz="850" dirty="0">
                <a:solidFill>
                  <a:srgbClr val="7DD3FC"/>
                </a:solidFill>
                <a:latin typeface="Consolas" pitchFamily="34" charset="0"/>
                <a:ea typeface="Consolas" pitchFamily="34" charset="-122"/>
                <a:cs typeface="Consolas" pitchFamily="34" charset="-120"/>
              </a:rPr>
              <a:t>cd market_research_crew</a:t>
            </a:r>
            <a:endParaRPr lang="en-US" sz="850" dirty="0"/>
          </a:p>
        </p:txBody>
      </p:sp>
      <p:sp>
        <p:nvSpPr>
          <p:cNvPr id="33" name="Text 31"/>
          <p:cNvSpPr/>
          <p:nvPr/>
        </p:nvSpPr>
        <p:spPr>
          <a:xfrm>
            <a:off x="822960" y="3950208"/>
            <a:ext cx="3566160" cy="16459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All further commands run from inside this folder</a:t>
            </a:r>
            <a:endParaRPr lang="en-US" sz="750" dirty="0"/>
          </a:p>
        </p:txBody>
      </p:sp>
      <p:sp>
        <p:nvSpPr>
          <p:cNvPr id="34" name="Shape 32"/>
          <p:cNvSpPr/>
          <p:nvPr/>
        </p:nvSpPr>
        <p:spPr>
          <a:xfrm>
            <a:off x="320040" y="4187952"/>
            <a:ext cx="4160520" cy="694944"/>
          </a:xfrm>
          <a:prstGeom prst="rect">
            <a:avLst/>
          </a:prstGeom>
          <a:solidFill>
            <a:srgbClr val="F8FAFC"/>
          </a:solidFill>
          <a:ln w="12700">
            <a:solidFill>
              <a:srgbClr val="CBD5E1"/>
            </a:solidFill>
            <a:prstDash val="solid"/>
          </a:ln>
        </p:spPr>
      </p:sp>
      <p:sp>
        <p:nvSpPr>
          <p:cNvPr id="35" name="Shape 33"/>
          <p:cNvSpPr/>
          <p:nvPr/>
        </p:nvSpPr>
        <p:spPr>
          <a:xfrm>
            <a:off x="374904" y="4370832"/>
            <a:ext cx="347472" cy="347472"/>
          </a:xfrm>
          <a:prstGeom prst="ellipse">
            <a:avLst/>
          </a:prstGeom>
          <a:solidFill>
            <a:srgbClr val="4F46E5"/>
          </a:solidFill>
          <a:ln w="12700">
            <a:solidFill>
              <a:srgbClr val="4F46E5"/>
            </a:solidFill>
            <a:prstDash val="solid"/>
          </a:ln>
        </p:spPr>
      </p:sp>
      <p:sp>
        <p:nvSpPr>
          <p:cNvPr id="36" name="Text 34"/>
          <p:cNvSpPr/>
          <p:nvPr/>
        </p:nvSpPr>
        <p:spPr>
          <a:xfrm>
            <a:off x="374904" y="43799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7" name="Text 35"/>
          <p:cNvSpPr/>
          <p:nvPr/>
        </p:nvSpPr>
        <p:spPr>
          <a:xfrm>
            <a:off x="822960" y="4224528"/>
            <a:ext cx="3566160" cy="22860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Install project dependencies</a:t>
            </a:r>
            <a:endParaRPr lang="en-US" sz="950" dirty="0"/>
          </a:p>
        </p:txBody>
      </p:sp>
      <p:sp>
        <p:nvSpPr>
          <p:cNvPr id="38" name="Shape 36"/>
          <p:cNvSpPr/>
          <p:nvPr/>
        </p:nvSpPr>
        <p:spPr>
          <a:xfrm>
            <a:off x="822960" y="4462272"/>
            <a:ext cx="3547872" cy="237744"/>
          </a:xfrm>
          <a:prstGeom prst="rect">
            <a:avLst/>
          </a:prstGeom>
          <a:solidFill>
            <a:srgbClr val="1E293B"/>
          </a:solidFill>
          <a:ln w="12700">
            <a:solidFill>
              <a:srgbClr val="334155"/>
            </a:solidFill>
            <a:prstDash val="solid"/>
          </a:ln>
        </p:spPr>
      </p:sp>
      <p:sp>
        <p:nvSpPr>
          <p:cNvPr id="39" name="Text 37"/>
          <p:cNvSpPr/>
          <p:nvPr/>
        </p:nvSpPr>
        <p:spPr>
          <a:xfrm>
            <a:off x="886968" y="4480560"/>
            <a:ext cx="3419856" cy="201168"/>
          </a:xfrm>
          <a:prstGeom prst="rect">
            <a:avLst/>
          </a:prstGeom>
          <a:noFill/>
          <a:ln/>
        </p:spPr>
        <p:txBody>
          <a:bodyPr wrap="square" lIns="0" tIns="0" rIns="0" bIns="0" rtlCol="0" anchor="ctr"/>
          <a:lstStyle/>
          <a:p>
            <a:pPr indent="0" marL="0">
              <a:buNone/>
            </a:pPr>
            <a:r>
              <a:rPr lang="en-US" sz="850" dirty="0">
                <a:solidFill>
                  <a:srgbClr val="7DD3FC"/>
                </a:solidFill>
                <a:latin typeface="Consolas" pitchFamily="34" charset="0"/>
                <a:ea typeface="Consolas" pitchFamily="34" charset="-122"/>
                <a:cs typeface="Consolas" pitchFamily="34" charset="-120"/>
              </a:rPr>
              <a:t>crewai install</a:t>
            </a:r>
            <a:endParaRPr lang="en-US" sz="850" dirty="0"/>
          </a:p>
        </p:txBody>
      </p:sp>
      <p:sp>
        <p:nvSpPr>
          <p:cNvPr id="40" name="Text 38"/>
          <p:cNvSpPr/>
          <p:nvPr/>
        </p:nvSpPr>
        <p:spPr>
          <a:xfrm>
            <a:off x="822960" y="4718304"/>
            <a:ext cx="3566160" cy="16459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Installs everything in pyproject.toml via uv</a:t>
            </a:r>
            <a:endParaRPr lang="en-US" sz="750" dirty="0"/>
          </a:p>
        </p:txBody>
      </p:sp>
      <p:sp>
        <p:nvSpPr>
          <p:cNvPr id="41" name="Shape 39"/>
          <p:cNvSpPr/>
          <p:nvPr/>
        </p:nvSpPr>
        <p:spPr>
          <a:xfrm>
            <a:off x="4663440" y="1115568"/>
            <a:ext cx="4160520" cy="694944"/>
          </a:xfrm>
          <a:prstGeom prst="rect">
            <a:avLst/>
          </a:prstGeom>
          <a:solidFill>
            <a:srgbClr val="FEE2E2"/>
          </a:solidFill>
          <a:ln w="12700">
            <a:solidFill>
              <a:srgbClr val="EF4444"/>
            </a:solidFill>
            <a:prstDash val="solid"/>
          </a:ln>
        </p:spPr>
      </p:sp>
      <p:sp>
        <p:nvSpPr>
          <p:cNvPr id="42" name="Shape 40"/>
          <p:cNvSpPr/>
          <p:nvPr/>
        </p:nvSpPr>
        <p:spPr>
          <a:xfrm>
            <a:off x="4718304" y="1298448"/>
            <a:ext cx="347472" cy="347472"/>
          </a:xfrm>
          <a:prstGeom prst="ellipse">
            <a:avLst/>
          </a:prstGeom>
          <a:solidFill>
            <a:srgbClr val="4F46E5"/>
          </a:solidFill>
          <a:ln w="12700">
            <a:solidFill>
              <a:srgbClr val="4F46E5"/>
            </a:solidFill>
            <a:prstDash val="solid"/>
          </a:ln>
        </p:spPr>
      </p:sp>
      <p:sp>
        <p:nvSpPr>
          <p:cNvPr id="43" name="Text 41"/>
          <p:cNvSpPr/>
          <p:nvPr/>
        </p:nvSpPr>
        <p:spPr>
          <a:xfrm>
            <a:off x="4718304" y="130759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4" name="Text 42"/>
          <p:cNvSpPr/>
          <p:nvPr/>
        </p:nvSpPr>
        <p:spPr>
          <a:xfrm>
            <a:off x="5166360" y="1152144"/>
            <a:ext cx="3566160" cy="228600"/>
          </a:xfrm>
          <a:prstGeom prst="rect">
            <a:avLst/>
          </a:prstGeom>
          <a:noFill/>
          <a:ln/>
        </p:spPr>
        <p:txBody>
          <a:bodyPr wrap="square" lIns="0" tIns="0" rIns="0" bIns="0" rtlCol="0" anchor="ctr"/>
          <a:lstStyle/>
          <a:p>
            <a:pPr indent="0" marL="0">
              <a:buNone/>
            </a:pPr>
            <a:r>
              <a:rPr lang="en-US" sz="950" b="1" dirty="0">
                <a:solidFill>
                  <a:srgbClr val="991B1B"/>
                </a:solidFill>
                <a:latin typeface="Calibri" pitchFamily="34" charset="0"/>
                <a:ea typeface="Calibri" pitchFamily="34" charset="-122"/>
                <a:cs typeface="Calibri" pitchFamily="34" charset="-120"/>
              </a:rPr>
              <a:t>Install Selenium (IMPORTANT!)</a:t>
            </a:r>
            <a:endParaRPr lang="en-US" sz="950" dirty="0"/>
          </a:p>
        </p:txBody>
      </p:sp>
      <p:sp>
        <p:nvSpPr>
          <p:cNvPr id="45" name="Shape 43"/>
          <p:cNvSpPr/>
          <p:nvPr/>
        </p:nvSpPr>
        <p:spPr>
          <a:xfrm>
            <a:off x="5166360" y="1389888"/>
            <a:ext cx="3547872" cy="237744"/>
          </a:xfrm>
          <a:prstGeom prst="rect">
            <a:avLst/>
          </a:prstGeom>
          <a:solidFill>
            <a:srgbClr val="1E293B"/>
          </a:solidFill>
          <a:ln w="12700">
            <a:solidFill>
              <a:srgbClr val="334155"/>
            </a:solidFill>
            <a:prstDash val="solid"/>
          </a:ln>
        </p:spPr>
      </p:sp>
      <p:sp>
        <p:nvSpPr>
          <p:cNvPr id="46" name="Text 44"/>
          <p:cNvSpPr/>
          <p:nvPr/>
        </p:nvSpPr>
        <p:spPr>
          <a:xfrm>
            <a:off x="5230368" y="1408176"/>
            <a:ext cx="3419856" cy="201168"/>
          </a:xfrm>
          <a:prstGeom prst="rect">
            <a:avLst/>
          </a:prstGeom>
          <a:noFill/>
          <a:ln/>
        </p:spPr>
        <p:txBody>
          <a:bodyPr wrap="square" lIns="0" tIns="0" rIns="0" bIns="0" rtlCol="0" anchor="ctr"/>
          <a:lstStyle/>
          <a:p>
            <a:pPr indent="0" marL="0">
              <a:buNone/>
            </a:pPr>
            <a:r>
              <a:rPr lang="en-US" sz="850" dirty="0">
                <a:solidFill>
                  <a:srgbClr val="7DD3FC"/>
                </a:solidFill>
                <a:latin typeface="Consolas" pitchFamily="34" charset="0"/>
                <a:ea typeface="Consolas" pitchFamily="34" charset="-122"/>
                <a:cs typeface="Consolas" pitchFamily="34" charset="-120"/>
              </a:rPr>
              <a:t>uv add selenium webdriver-manager</a:t>
            </a:r>
            <a:endParaRPr lang="en-US" sz="850" dirty="0"/>
          </a:p>
        </p:txBody>
      </p:sp>
      <p:sp>
        <p:nvSpPr>
          <p:cNvPr id="47" name="Text 45"/>
          <p:cNvSpPr/>
          <p:nvPr/>
        </p:nvSpPr>
        <p:spPr>
          <a:xfrm>
            <a:off x="5166360" y="1645920"/>
            <a:ext cx="3566160" cy="16459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Required for SeleniumScrapingTool — students often miss this step!</a:t>
            </a:r>
            <a:endParaRPr lang="en-US" sz="750" dirty="0"/>
          </a:p>
        </p:txBody>
      </p:sp>
      <p:sp>
        <p:nvSpPr>
          <p:cNvPr id="48" name="Shape 46"/>
          <p:cNvSpPr/>
          <p:nvPr/>
        </p:nvSpPr>
        <p:spPr>
          <a:xfrm>
            <a:off x="4663440" y="1883664"/>
            <a:ext cx="4160520" cy="694944"/>
          </a:xfrm>
          <a:prstGeom prst="rect">
            <a:avLst/>
          </a:prstGeom>
          <a:solidFill>
            <a:srgbClr val="F8FAFC"/>
          </a:solidFill>
          <a:ln w="12700">
            <a:solidFill>
              <a:srgbClr val="CBD5E1"/>
            </a:solidFill>
            <a:prstDash val="solid"/>
          </a:ln>
        </p:spPr>
      </p:sp>
      <p:sp>
        <p:nvSpPr>
          <p:cNvPr id="49" name="Shape 47"/>
          <p:cNvSpPr/>
          <p:nvPr/>
        </p:nvSpPr>
        <p:spPr>
          <a:xfrm>
            <a:off x="4718304" y="2066544"/>
            <a:ext cx="347472" cy="347472"/>
          </a:xfrm>
          <a:prstGeom prst="ellipse">
            <a:avLst/>
          </a:prstGeom>
          <a:solidFill>
            <a:srgbClr val="4F46E5"/>
          </a:solidFill>
          <a:ln w="12700">
            <a:solidFill>
              <a:srgbClr val="4F46E5"/>
            </a:solidFill>
            <a:prstDash val="solid"/>
          </a:ln>
        </p:spPr>
      </p:sp>
      <p:sp>
        <p:nvSpPr>
          <p:cNvPr id="50" name="Text 48"/>
          <p:cNvSpPr/>
          <p:nvPr/>
        </p:nvSpPr>
        <p:spPr>
          <a:xfrm>
            <a:off x="4718304" y="20756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51" name="Text 49"/>
          <p:cNvSpPr/>
          <p:nvPr/>
        </p:nvSpPr>
        <p:spPr>
          <a:xfrm>
            <a:off x="5166360" y="1920240"/>
            <a:ext cx="3566160" cy="22860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Open in VS Code</a:t>
            </a:r>
            <a:endParaRPr lang="en-US" sz="950" dirty="0"/>
          </a:p>
        </p:txBody>
      </p:sp>
      <p:sp>
        <p:nvSpPr>
          <p:cNvPr id="52" name="Shape 50"/>
          <p:cNvSpPr/>
          <p:nvPr/>
        </p:nvSpPr>
        <p:spPr>
          <a:xfrm>
            <a:off x="5166360" y="2157984"/>
            <a:ext cx="3547872" cy="237744"/>
          </a:xfrm>
          <a:prstGeom prst="rect">
            <a:avLst/>
          </a:prstGeom>
          <a:solidFill>
            <a:srgbClr val="1E293B"/>
          </a:solidFill>
          <a:ln w="12700">
            <a:solidFill>
              <a:srgbClr val="334155"/>
            </a:solidFill>
            <a:prstDash val="solid"/>
          </a:ln>
        </p:spPr>
      </p:sp>
      <p:sp>
        <p:nvSpPr>
          <p:cNvPr id="53" name="Text 51"/>
          <p:cNvSpPr/>
          <p:nvPr/>
        </p:nvSpPr>
        <p:spPr>
          <a:xfrm>
            <a:off x="5230368" y="2176272"/>
            <a:ext cx="3419856" cy="201168"/>
          </a:xfrm>
          <a:prstGeom prst="rect">
            <a:avLst/>
          </a:prstGeom>
          <a:noFill/>
          <a:ln/>
        </p:spPr>
        <p:txBody>
          <a:bodyPr wrap="square" lIns="0" tIns="0" rIns="0" bIns="0" rtlCol="0" anchor="ctr"/>
          <a:lstStyle/>
          <a:p>
            <a:pPr indent="0" marL="0">
              <a:buNone/>
            </a:pPr>
            <a:r>
              <a:rPr lang="en-US" sz="850" dirty="0">
                <a:solidFill>
                  <a:srgbClr val="7DD3FC"/>
                </a:solidFill>
                <a:latin typeface="Consolas" pitchFamily="34" charset="0"/>
                <a:ea typeface="Consolas" pitchFamily="34" charset="-122"/>
                <a:cs typeface="Consolas" pitchFamily="34" charset="-120"/>
              </a:rPr>
              <a:t>code .</a:t>
            </a:r>
            <a:endParaRPr lang="en-US" sz="850" dirty="0"/>
          </a:p>
        </p:txBody>
      </p:sp>
      <p:sp>
        <p:nvSpPr>
          <p:cNvPr id="54" name="Text 52"/>
          <p:cNvSpPr/>
          <p:nvPr/>
        </p:nvSpPr>
        <p:spPr>
          <a:xfrm>
            <a:off x="5166360" y="2414016"/>
            <a:ext cx="3566160" cy="16459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Then edit agents.yaml, tasks.yaml, crew.py, main.py</a:t>
            </a:r>
            <a:endParaRPr lang="en-US" sz="750" dirty="0"/>
          </a:p>
        </p:txBody>
      </p:sp>
      <p:sp>
        <p:nvSpPr>
          <p:cNvPr id="55" name="Shape 53"/>
          <p:cNvSpPr/>
          <p:nvPr/>
        </p:nvSpPr>
        <p:spPr>
          <a:xfrm>
            <a:off x="4663440" y="2651760"/>
            <a:ext cx="4160520" cy="694944"/>
          </a:xfrm>
          <a:prstGeom prst="rect">
            <a:avLst/>
          </a:prstGeom>
          <a:solidFill>
            <a:srgbClr val="F8FAFC"/>
          </a:solidFill>
          <a:ln w="12700">
            <a:solidFill>
              <a:srgbClr val="CBD5E1"/>
            </a:solidFill>
            <a:prstDash val="solid"/>
          </a:ln>
        </p:spPr>
      </p:sp>
      <p:sp>
        <p:nvSpPr>
          <p:cNvPr id="56" name="Shape 54"/>
          <p:cNvSpPr/>
          <p:nvPr/>
        </p:nvSpPr>
        <p:spPr>
          <a:xfrm>
            <a:off x="4718304" y="2834640"/>
            <a:ext cx="347472" cy="347472"/>
          </a:xfrm>
          <a:prstGeom prst="ellipse">
            <a:avLst/>
          </a:prstGeom>
          <a:solidFill>
            <a:srgbClr val="4F46E5"/>
          </a:solidFill>
          <a:ln w="12700">
            <a:solidFill>
              <a:srgbClr val="4F46E5"/>
            </a:solidFill>
            <a:prstDash val="solid"/>
          </a:ln>
        </p:spPr>
      </p:sp>
      <p:sp>
        <p:nvSpPr>
          <p:cNvPr id="57" name="Text 55"/>
          <p:cNvSpPr/>
          <p:nvPr/>
        </p:nvSpPr>
        <p:spPr>
          <a:xfrm>
            <a:off x="4718304" y="284378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58" name="Text 56"/>
          <p:cNvSpPr/>
          <p:nvPr/>
        </p:nvSpPr>
        <p:spPr>
          <a:xfrm>
            <a:off x="5166360" y="2688336"/>
            <a:ext cx="3566160" cy="22860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Create reports folder</a:t>
            </a:r>
            <a:endParaRPr lang="en-US" sz="950" dirty="0"/>
          </a:p>
        </p:txBody>
      </p:sp>
      <p:sp>
        <p:nvSpPr>
          <p:cNvPr id="59" name="Shape 57"/>
          <p:cNvSpPr/>
          <p:nvPr/>
        </p:nvSpPr>
        <p:spPr>
          <a:xfrm>
            <a:off x="5166360" y="2926080"/>
            <a:ext cx="3547872" cy="237744"/>
          </a:xfrm>
          <a:prstGeom prst="rect">
            <a:avLst/>
          </a:prstGeom>
          <a:solidFill>
            <a:srgbClr val="1E293B"/>
          </a:solidFill>
          <a:ln w="12700">
            <a:solidFill>
              <a:srgbClr val="334155"/>
            </a:solidFill>
            <a:prstDash val="solid"/>
          </a:ln>
        </p:spPr>
      </p:sp>
      <p:sp>
        <p:nvSpPr>
          <p:cNvPr id="60" name="Text 58"/>
          <p:cNvSpPr/>
          <p:nvPr/>
        </p:nvSpPr>
        <p:spPr>
          <a:xfrm>
            <a:off x="5230368" y="2944368"/>
            <a:ext cx="3419856" cy="201168"/>
          </a:xfrm>
          <a:prstGeom prst="rect">
            <a:avLst/>
          </a:prstGeom>
          <a:noFill/>
          <a:ln/>
        </p:spPr>
        <p:txBody>
          <a:bodyPr wrap="square" lIns="0" tIns="0" rIns="0" bIns="0" rtlCol="0" anchor="ctr"/>
          <a:lstStyle/>
          <a:p>
            <a:pPr indent="0" marL="0">
              <a:buNone/>
            </a:pPr>
            <a:r>
              <a:rPr lang="en-US" sz="850" dirty="0">
                <a:solidFill>
                  <a:srgbClr val="7DD3FC"/>
                </a:solidFill>
                <a:latin typeface="Consolas" pitchFamily="34" charset="0"/>
                <a:ea typeface="Consolas" pitchFamily="34" charset="-122"/>
                <a:cs typeface="Consolas" pitchFamily="34" charset="-120"/>
              </a:rPr>
              <a:t>mkdir -p reports</a:t>
            </a:r>
            <a:endParaRPr lang="en-US" sz="850" dirty="0"/>
          </a:p>
        </p:txBody>
      </p:sp>
      <p:sp>
        <p:nvSpPr>
          <p:cNvPr id="61" name="Text 59"/>
          <p:cNvSpPr/>
          <p:nvPr/>
        </p:nvSpPr>
        <p:spPr>
          <a:xfrm>
            <a:off x="5166360" y="3182112"/>
            <a:ext cx="3566160" cy="16459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The crew cannot create folders, only files</a:t>
            </a:r>
            <a:endParaRPr lang="en-US" sz="750" dirty="0"/>
          </a:p>
        </p:txBody>
      </p:sp>
      <p:sp>
        <p:nvSpPr>
          <p:cNvPr id="62" name="Shape 60"/>
          <p:cNvSpPr/>
          <p:nvPr/>
        </p:nvSpPr>
        <p:spPr>
          <a:xfrm>
            <a:off x="4663440" y="3419856"/>
            <a:ext cx="4160520" cy="694944"/>
          </a:xfrm>
          <a:prstGeom prst="rect">
            <a:avLst/>
          </a:prstGeom>
          <a:solidFill>
            <a:srgbClr val="F8FAFC"/>
          </a:solidFill>
          <a:ln w="12700">
            <a:solidFill>
              <a:srgbClr val="CBD5E1"/>
            </a:solidFill>
            <a:prstDash val="solid"/>
          </a:ln>
        </p:spPr>
      </p:sp>
      <p:sp>
        <p:nvSpPr>
          <p:cNvPr id="63" name="Shape 61"/>
          <p:cNvSpPr/>
          <p:nvPr/>
        </p:nvSpPr>
        <p:spPr>
          <a:xfrm>
            <a:off x="4718304" y="3602736"/>
            <a:ext cx="347472" cy="347472"/>
          </a:xfrm>
          <a:prstGeom prst="ellipse">
            <a:avLst/>
          </a:prstGeom>
          <a:solidFill>
            <a:srgbClr val="4F46E5"/>
          </a:solidFill>
          <a:ln w="12700">
            <a:solidFill>
              <a:srgbClr val="4F46E5"/>
            </a:solidFill>
            <a:prstDash val="solid"/>
          </a:ln>
        </p:spPr>
      </p:sp>
      <p:sp>
        <p:nvSpPr>
          <p:cNvPr id="64" name="Text 62"/>
          <p:cNvSpPr/>
          <p:nvPr/>
        </p:nvSpPr>
        <p:spPr>
          <a:xfrm>
            <a:off x="4718304" y="36118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65" name="Text 63"/>
          <p:cNvSpPr/>
          <p:nvPr/>
        </p:nvSpPr>
        <p:spPr>
          <a:xfrm>
            <a:off x="5166360" y="3456432"/>
            <a:ext cx="3566160" cy="22860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Add API keys to .env</a:t>
            </a:r>
            <a:endParaRPr lang="en-US" sz="950" dirty="0"/>
          </a:p>
        </p:txBody>
      </p:sp>
      <p:sp>
        <p:nvSpPr>
          <p:cNvPr id="66" name="Shape 64"/>
          <p:cNvSpPr/>
          <p:nvPr/>
        </p:nvSpPr>
        <p:spPr>
          <a:xfrm>
            <a:off x="5166360" y="3694176"/>
            <a:ext cx="3547872" cy="237744"/>
          </a:xfrm>
          <a:prstGeom prst="rect">
            <a:avLst/>
          </a:prstGeom>
          <a:solidFill>
            <a:srgbClr val="1E293B"/>
          </a:solidFill>
          <a:ln w="12700">
            <a:solidFill>
              <a:srgbClr val="334155"/>
            </a:solidFill>
            <a:prstDash val="solid"/>
          </a:ln>
        </p:spPr>
      </p:sp>
      <p:sp>
        <p:nvSpPr>
          <p:cNvPr id="67" name="Text 65"/>
          <p:cNvSpPr/>
          <p:nvPr/>
        </p:nvSpPr>
        <p:spPr>
          <a:xfrm>
            <a:off x="5230368" y="3712464"/>
            <a:ext cx="3419856" cy="201168"/>
          </a:xfrm>
          <a:prstGeom prst="rect">
            <a:avLst/>
          </a:prstGeom>
          <a:noFill/>
          <a:ln/>
        </p:spPr>
        <p:txBody>
          <a:bodyPr wrap="square" lIns="0" tIns="0" rIns="0" bIns="0" rtlCol="0" anchor="ctr"/>
          <a:lstStyle/>
          <a:p>
            <a:pPr indent="0" marL="0">
              <a:buNone/>
            </a:pPr>
            <a:r>
              <a:rPr lang="en-US" sz="850" dirty="0">
                <a:solidFill>
                  <a:srgbClr val="7DD3FC"/>
                </a:solidFill>
                <a:latin typeface="Consolas" pitchFamily="34" charset="0"/>
                <a:ea typeface="Consolas" pitchFamily="34" charset="-122"/>
                <a:cs typeface="Consolas" pitchFamily="34" charset="-120"/>
              </a:rPr>
              <a:t># OPENAI_API_KEY=sk-...  SERPER_API_KEY=...</a:t>
            </a:r>
            <a:endParaRPr lang="en-US" sz="850" dirty="0"/>
          </a:p>
        </p:txBody>
      </p:sp>
      <p:sp>
        <p:nvSpPr>
          <p:cNvPr id="68" name="Text 66"/>
          <p:cNvSpPr/>
          <p:nvPr/>
        </p:nvSpPr>
        <p:spPr>
          <a:xfrm>
            <a:off x="5166360" y="3950208"/>
            <a:ext cx="3566160" cy="16459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Edit the .env file that was auto-created</a:t>
            </a:r>
            <a:endParaRPr lang="en-US" sz="750" dirty="0"/>
          </a:p>
        </p:txBody>
      </p:sp>
      <p:sp>
        <p:nvSpPr>
          <p:cNvPr id="69" name="Shape 67"/>
          <p:cNvSpPr/>
          <p:nvPr/>
        </p:nvSpPr>
        <p:spPr>
          <a:xfrm>
            <a:off x="4663440" y="4187952"/>
            <a:ext cx="4160520" cy="694944"/>
          </a:xfrm>
          <a:prstGeom prst="rect">
            <a:avLst/>
          </a:prstGeom>
          <a:solidFill>
            <a:srgbClr val="F8FAFC"/>
          </a:solidFill>
          <a:ln w="12700">
            <a:solidFill>
              <a:srgbClr val="CBD5E1"/>
            </a:solidFill>
            <a:prstDash val="solid"/>
          </a:ln>
        </p:spPr>
      </p:sp>
      <p:sp>
        <p:nvSpPr>
          <p:cNvPr id="70" name="Shape 68"/>
          <p:cNvSpPr/>
          <p:nvPr/>
        </p:nvSpPr>
        <p:spPr>
          <a:xfrm>
            <a:off x="4718304" y="4370832"/>
            <a:ext cx="347472" cy="347472"/>
          </a:xfrm>
          <a:prstGeom prst="ellipse">
            <a:avLst/>
          </a:prstGeom>
          <a:solidFill>
            <a:srgbClr val="4F46E5"/>
          </a:solidFill>
          <a:ln w="12700">
            <a:solidFill>
              <a:srgbClr val="4F46E5"/>
            </a:solidFill>
            <a:prstDash val="solid"/>
          </a:ln>
        </p:spPr>
      </p:sp>
      <p:sp>
        <p:nvSpPr>
          <p:cNvPr id="71" name="Text 69"/>
          <p:cNvSpPr/>
          <p:nvPr/>
        </p:nvSpPr>
        <p:spPr>
          <a:xfrm>
            <a:off x="4718304" y="43799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72" name="Text 70"/>
          <p:cNvSpPr/>
          <p:nvPr/>
        </p:nvSpPr>
        <p:spPr>
          <a:xfrm>
            <a:off x="5166360" y="4224528"/>
            <a:ext cx="3566160" cy="228600"/>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Run the crew!</a:t>
            </a:r>
            <a:endParaRPr lang="en-US" sz="950" dirty="0"/>
          </a:p>
        </p:txBody>
      </p:sp>
      <p:sp>
        <p:nvSpPr>
          <p:cNvPr id="73" name="Shape 71"/>
          <p:cNvSpPr/>
          <p:nvPr/>
        </p:nvSpPr>
        <p:spPr>
          <a:xfrm>
            <a:off x="5166360" y="4462272"/>
            <a:ext cx="3547872" cy="237744"/>
          </a:xfrm>
          <a:prstGeom prst="rect">
            <a:avLst/>
          </a:prstGeom>
          <a:solidFill>
            <a:srgbClr val="1E293B"/>
          </a:solidFill>
          <a:ln w="12700">
            <a:solidFill>
              <a:srgbClr val="334155"/>
            </a:solidFill>
            <a:prstDash val="solid"/>
          </a:ln>
        </p:spPr>
      </p:sp>
      <p:sp>
        <p:nvSpPr>
          <p:cNvPr id="74" name="Text 72"/>
          <p:cNvSpPr/>
          <p:nvPr/>
        </p:nvSpPr>
        <p:spPr>
          <a:xfrm>
            <a:off x="5230368" y="4480560"/>
            <a:ext cx="3419856" cy="201168"/>
          </a:xfrm>
          <a:prstGeom prst="rect">
            <a:avLst/>
          </a:prstGeom>
          <a:noFill/>
          <a:ln/>
        </p:spPr>
        <p:txBody>
          <a:bodyPr wrap="square" lIns="0" tIns="0" rIns="0" bIns="0" rtlCol="0" anchor="ctr"/>
          <a:lstStyle/>
          <a:p>
            <a:pPr indent="0" marL="0">
              <a:buNone/>
            </a:pPr>
            <a:r>
              <a:rPr lang="en-US" sz="850" dirty="0">
                <a:solidFill>
                  <a:srgbClr val="7DD3FC"/>
                </a:solidFill>
                <a:latin typeface="Consolas" pitchFamily="34" charset="0"/>
                <a:ea typeface="Consolas" pitchFamily="34" charset="-122"/>
                <a:cs typeface="Consolas" pitchFamily="34" charset="-120"/>
              </a:rPr>
              <a:t>crewai run</a:t>
            </a:r>
            <a:endParaRPr lang="en-US" sz="850" dirty="0"/>
          </a:p>
        </p:txBody>
      </p:sp>
      <p:sp>
        <p:nvSpPr>
          <p:cNvPr id="75" name="Text 73"/>
          <p:cNvSpPr/>
          <p:nvPr/>
        </p:nvSpPr>
        <p:spPr>
          <a:xfrm>
            <a:off x="5166360" y="4718304"/>
            <a:ext cx="3566160" cy="164592"/>
          </a:xfrm>
          <a:prstGeom prst="rect">
            <a:avLst/>
          </a:prstGeom>
          <a:noFill/>
          <a:ln/>
        </p:spPr>
        <p:txBody>
          <a:bodyPr wrap="square" lIns="0" tIns="0" rIns="0" bIns="0" rtlCol="0" anchor="ctr"/>
          <a:lstStyle/>
          <a:p>
            <a:pPr indent="0" marL="0">
              <a:buNone/>
            </a:pPr>
            <a:r>
              <a:rPr lang="en-US" sz="750" i="1" dirty="0">
                <a:solidFill>
                  <a:srgbClr val="64748B"/>
                </a:solidFill>
                <a:latin typeface="Calibri" pitchFamily="34" charset="0"/>
                <a:ea typeface="Calibri" pitchFamily="34" charset="-122"/>
                <a:cs typeface="Calibri" pitchFamily="34" charset="-120"/>
              </a:rPr>
              <a:t>Sit back — this takes 5-20 minutes of real web research</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Troubleshooting — Common Issues &amp; Fixes</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Solutions to the most frequent problems students face</a:t>
            </a:r>
            <a:endParaRPr lang="en-US" sz="1100" dirty="0"/>
          </a:p>
        </p:txBody>
      </p:sp>
      <p:sp>
        <p:nvSpPr>
          <p:cNvPr id="6" name="Shape 4"/>
          <p:cNvSpPr/>
          <p:nvPr/>
        </p:nvSpPr>
        <p:spPr>
          <a:xfrm>
            <a:off x="320040" y="1115568"/>
            <a:ext cx="8503920" cy="566928"/>
          </a:xfrm>
          <a:prstGeom prst="rect">
            <a:avLst/>
          </a:prstGeom>
          <a:solidFill>
            <a:srgbClr val="FEE2E2"/>
          </a:solidFill>
          <a:ln w="12700">
            <a:solidFill>
              <a:srgbClr val="E2E8F0"/>
            </a:solidFill>
            <a:prstDash val="solid"/>
          </a:ln>
        </p:spPr>
      </p:sp>
      <p:sp>
        <p:nvSpPr>
          <p:cNvPr id="7" name="Shape 5"/>
          <p:cNvSpPr/>
          <p:nvPr/>
        </p:nvSpPr>
        <p:spPr>
          <a:xfrm>
            <a:off x="347472" y="1252728"/>
            <a:ext cx="256032" cy="256032"/>
          </a:xfrm>
          <a:prstGeom prst="ellipse">
            <a:avLst/>
          </a:prstGeom>
          <a:solidFill>
            <a:srgbClr val="EF4444"/>
          </a:solidFill>
          <a:ln w="12700">
            <a:solidFill>
              <a:srgbClr val="EF4444"/>
            </a:solidFill>
            <a:prstDash val="solid"/>
          </a:ln>
        </p:spPr>
      </p:sp>
      <p:sp>
        <p:nvSpPr>
          <p:cNvPr id="8" name="Text 6"/>
          <p:cNvSpPr/>
          <p:nvPr/>
        </p:nvSpPr>
        <p:spPr>
          <a:xfrm>
            <a:off x="347472" y="1225296"/>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676656" y="1152144"/>
            <a:ext cx="8046720" cy="219456"/>
          </a:xfrm>
          <a:prstGeom prst="rect">
            <a:avLst/>
          </a:prstGeom>
          <a:noFill/>
          <a:ln/>
        </p:spPr>
        <p:txBody>
          <a:bodyPr wrap="square" lIns="0" tIns="0" rIns="0" bIns="0" rtlCol="0" anchor="ctr"/>
          <a:lstStyle/>
          <a:p>
            <a:pPr indent="0" marL="0">
              <a:buNone/>
            </a:pPr>
            <a:r>
              <a:rPr lang="en-US" sz="950" b="1" dirty="0">
                <a:solidFill>
                  <a:srgbClr val="991B1B"/>
                </a:solidFill>
                <a:latin typeface="Consolas" pitchFamily="34" charset="0"/>
                <a:ea typeface="Consolas" pitchFamily="34" charset="-122"/>
                <a:cs typeface="Consolas" pitchFamily="34" charset="-120"/>
              </a:rPr>
              <a:t>ModuleNotFoundError: No module named 'selenium'</a:t>
            </a:r>
            <a:endParaRPr lang="en-US" sz="950" dirty="0"/>
          </a:p>
        </p:txBody>
      </p:sp>
      <p:sp>
        <p:nvSpPr>
          <p:cNvPr id="10" name="Text 8"/>
          <p:cNvSpPr/>
          <p:nvPr/>
        </p:nvSpPr>
        <p:spPr>
          <a:xfrm>
            <a:off x="676656" y="1389888"/>
            <a:ext cx="8046720" cy="23774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Fix:  You forgot to run  uv add selenium webdriver-manager  — this is the most commonly missed step!</a:t>
            </a:r>
            <a:endParaRPr lang="en-US" sz="950" dirty="0"/>
          </a:p>
        </p:txBody>
      </p:sp>
      <p:sp>
        <p:nvSpPr>
          <p:cNvPr id="11" name="Shape 9"/>
          <p:cNvSpPr/>
          <p:nvPr/>
        </p:nvSpPr>
        <p:spPr>
          <a:xfrm>
            <a:off x="320040" y="1755648"/>
            <a:ext cx="8503920" cy="566928"/>
          </a:xfrm>
          <a:prstGeom prst="rect">
            <a:avLst/>
          </a:prstGeom>
          <a:solidFill>
            <a:srgbClr val="F8FAFC"/>
          </a:solidFill>
          <a:ln w="12700">
            <a:solidFill>
              <a:srgbClr val="E2E8F0"/>
            </a:solidFill>
            <a:prstDash val="solid"/>
          </a:ln>
        </p:spPr>
      </p:sp>
      <p:sp>
        <p:nvSpPr>
          <p:cNvPr id="12" name="Shape 10"/>
          <p:cNvSpPr/>
          <p:nvPr/>
        </p:nvSpPr>
        <p:spPr>
          <a:xfrm>
            <a:off x="347472" y="1892808"/>
            <a:ext cx="256032" cy="256032"/>
          </a:xfrm>
          <a:prstGeom prst="ellipse">
            <a:avLst/>
          </a:prstGeom>
          <a:solidFill>
            <a:srgbClr val="EF4444"/>
          </a:solidFill>
          <a:ln w="12700">
            <a:solidFill>
              <a:srgbClr val="EF4444"/>
            </a:solidFill>
            <a:prstDash val="solid"/>
          </a:ln>
        </p:spPr>
      </p:sp>
      <p:sp>
        <p:nvSpPr>
          <p:cNvPr id="13" name="Text 11"/>
          <p:cNvSpPr/>
          <p:nvPr/>
        </p:nvSpPr>
        <p:spPr>
          <a:xfrm>
            <a:off x="347472" y="1865376"/>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676656" y="1792224"/>
            <a:ext cx="8046720" cy="219456"/>
          </a:xfrm>
          <a:prstGeom prst="rect">
            <a:avLst/>
          </a:prstGeom>
          <a:noFill/>
          <a:ln/>
        </p:spPr>
        <p:txBody>
          <a:bodyPr wrap="square" lIns="0" tIns="0" rIns="0" bIns="0" rtlCol="0" anchor="ctr"/>
          <a:lstStyle/>
          <a:p>
            <a:pPr indent="0" marL="0">
              <a:buNone/>
            </a:pPr>
            <a:r>
              <a:rPr lang="en-US" sz="950" b="1" dirty="0">
                <a:solidFill>
                  <a:srgbClr val="991B1B"/>
                </a:solidFill>
                <a:latin typeface="Consolas" pitchFamily="34" charset="0"/>
                <a:ea typeface="Consolas" pitchFamily="34" charset="-122"/>
                <a:cs typeface="Consolas" pitchFamily="34" charset="-120"/>
              </a:rPr>
              <a:t>ModuleNotFoundError: No module named 'crewai'</a:t>
            </a:r>
            <a:endParaRPr lang="en-US" sz="950" dirty="0"/>
          </a:p>
        </p:txBody>
      </p:sp>
      <p:sp>
        <p:nvSpPr>
          <p:cNvPr id="15" name="Text 13"/>
          <p:cNvSpPr/>
          <p:nvPr/>
        </p:nvSpPr>
        <p:spPr>
          <a:xfrm>
            <a:off x="676656" y="2029968"/>
            <a:ext cx="8046720" cy="23774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Fix:  Run  pip install crewai crewai-tools  — make sure you are inside the project virtual environment.</a:t>
            </a:r>
            <a:endParaRPr lang="en-US" sz="950" dirty="0"/>
          </a:p>
        </p:txBody>
      </p:sp>
      <p:sp>
        <p:nvSpPr>
          <p:cNvPr id="16" name="Shape 14"/>
          <p:cNvSpPr/>
          <p:nvPr/>
        </p:nvSpPr>
        <p:spPr>
          <a:xfrm>
            <a:off x="320040" y="2395728"/>
            <a:ext cx="8503920" cy="566928"/>
          </a:xfrm>
          <a:prstGeom prst="rect">
            <a:avLst/>
          </a:prstGeom>
          <a:solidFill>
            <a:srgbClr val="FFF7ED"/>
          </a:solidFill>
          <a:ln w="12700">
            <a:solidFill>
              <a:srgbClr val="E2E8F0"/>
            </a:solidFill>
            <a:prstDash val="solid"/>
          </a:ln>
        </p:spPr>
      </p:sp>
      <p:sp>
        <p:nvSpPr>
          <p:cNvPr id="17" name="Shape 15"/>
          <p:cNvSpPr/>
          <p:nvPr/>
        </p:nvSpPr>
        <p:spPr>
          <a:xfrm>
            <a:off x="347472" y="2532888"/>
            <a:ext cx="256032" cy="256032"/>
          </a:xfrm>
          <a:prstGeom prst="ellipse">
            <a:avLst/>
          </a:prstGeom>
          <a:solidFill>
            <a:srgbClr val="EF4444"/>
          </a:solidFill>
          <a:ln w="12700">
            <a:solidFill>
              <a:srgbClr val="EF4444"/>
            </a:solidFill>
            <a:prstDash val="solid"/>
          </a:ln>
        </p:spPr>
      </p:sp>
      <p:sp>
        <p:nvSpPr>
          <p:cNvPr id="18" name="Text 16"/>
          <p:cNvSpPr/>
          <p:nvPr/>
        </p:nvSpPr>
        <p:spPr>
          <a:xfrm>
            <a:off x="347472" y="2505456"/>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676656" y="2432304"/>
            <a:ext cx="8046720" cy="219456"/>
          </a:xfrm>
          <a:prstGeom prst="rect">
            <a:avLst/>
          </a:prstGeom>
          <a:noFill/>
          <a:ln/>
        </p:spPr>
        <p:txBody>
          <a:bodyPr wrap="square" lIns="0" tIns="0" rIns="0" bIns="0" rtlCol="0" anchor="ctr"/>
          <a:lstStyle/>
          <a:p>
            <a:pPr indent="0" marL="0">
              <a:buNone/>
            </a:pPr>
            <a:r>
              <a:rPr lang="en-US" sz="950" b="1" dirty="0">
                <a:solidFill>
                  <a:srgbClr val="991B1B"/>
                </a:solidFill>
                <a:latin typeface="Consolas" pitchFamily="34" charset="0"/>
                <a:ea typeface="Consolas" pitchFamily="34" charset="-122"/>
                <a:cs typeface="Consolas" pitchFamily="34" charset="-120"/>
              </a:rPr>
              <a:t>AuthenticationError: Invalid API key</a:t>
            </a:r>
            <a:endParaRPr lang="en-US" sz="950" dirty="0"/>
          </a:p>
        </p:txBody>
      </p:sp>
      <p:sp>
        <p:nvSpPr>
          <p:cNvPr id="20" name="Text 18"/>
          <p:cNvSpPr/>
          <p:nvPr/>
        </p:nvSpPr>
        <p:spPr>
          <a:xfrm>
            <a:off x="676656" y="2670048"/>
            <a:ext cx="8046720" cy="23774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Fix:  Check .env — OPENAI_API_KEY must start with  sk-  with no spaces or quotes. Confirm key at platform.openai.com</a:t>
            </a:r>
            <a:endParaRPr lang="en-US" sz="950" dirty="0"/>
          </a:p>
        </p:txBody>
      </p:sp>
      <p:sp>
        <p:nvSpPr>
          <p:cNvPr id="21" name="Shape 19"/>
          <p:cNvSpPr/>
          <p:nvPr/>
        </p:nvSpPr>
        <p:spPr>
          <a:xfrm>
            <a:off x="320040" y="3035808"/>
            <a:ext cx="8503920" cy="566928"/>
          </a:xfrm>
          <a:prstGeom prst="rect">
            <a:avLst/>
          </a:prstGeom>
          <a:solidFill>
            <a:srgbClr val="F8FAFC"/>
          </a:solidFill>
          <a:ln w="12700">
            <a:solidFill>
              <a:srgbClr val="E2E8F0"/>
            </a:solidFill>
            <a:prstDash val="solid"/>
          </a:ln>
        </p:spPr>
      </p:sp>
      <p:sp>
        <p:nvSpPr>
          <p:cNvPr id="22" name="Shape 20"/>
          <p:cNvSpPr/>
          <p:nvPr/>
        </p:nvSpPr>
        <p:spPr>
          <a:xfrm>
            <a:off x="347472" y="3172968"/>
            <a:ext cx="256032" cy="256032"/>
          </a:xfrm>
          <a:prstGeom prst="ellipse">
            <a:avLst/>
          </a:prstGeom>
          <a:solidFill>
            <a:srgbClr val="EF4444"/>
          </a:solidFill>
          <a:ln w="12700">
            <a:solidFill>
              <a:srgbClr val="EF4444"/>
            </a:solidFill>
            <a:prstDash val="solid"/>
          </a:ln>
        </p:spPr>
      </p:sp>
      <p:sp>
        <p:nvSpPr>
          <p:cNvPr id="23" name="Text 21"/>
          <p:cNvSpPr/>
          <p:nvPr/>
        </p:nvSpPr>
        <p:spPr>
          <a:xfrm>
            <a:off x="347472" y="3145536"/>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24" name="Text 22"/>
          <p:cNvSpPr/>
          <p:nvPr/>
        </p:nvSpPr>
        <p:spPr>
          <a:xfrm>
            <a:off x="676656" y="3072384"/>
            <a:ext cx="8046720" cy="219456"/>
          </a:xfrm>
          <a:prstGeom prst="rect">
            <a:avLst/>
          </a:prstGeom>
          <a:noFill/>
          <a:ln/>
        </p:spPr>
        <p:txBody>
          <a:bodyPr wrap="square" lIns="0" tIns="0" rIns="0" bIns="0" rtlCol="0" anchor="ctr"/>
          <a:lstStyle/>
          <a:p>
            <a:pPr indent="0" marL="0">
              <a:buNone/>
            </a:pPr>
            <a:r>
              <a:rPr lang="en-US" sz="950" b="1" dirty="0">
                <a:solidFill>
                  <a:srgbClr val="991B1B"/>
                </a:solidFill>
                <a:latin typeface="Consolas" pitchFamily="34" charset="0"/>
                <a:ea typeface="Consolas" pitchFamily="34" charset="-122"/>
                <a:cs typeface="Consolas" pitchFamily="34" charset="-120"/>
              </a:rPr>
              <a:t>YAML IndentationError or parsing failure</a:t>
            </a:r>
            <a:endParaRPr lang="en-US" sz="950" dirty="0"/>
          </a:p>
        </p:txBody>
      </p:sp>
      <p:sp>
        <p:nvSpPr>
          <p:cNvPr id="25" name="Text 23"/>
          <p:cNvSpPr/>
          <p:nvPr/>
        </p:nvSpPr>
        <p:spPr>
          <a:xfrm>
            <a:off x="676656" y="3310128"/>
            <a:ext cx="8046720" cy="23774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Fix:  YAML uses spaces ONLY — never tabs. Each nested level = exactly 2 spaces. Open the file and check carefully.</a:t>
            </a:r>
            <a:endParaRPr lang="en-US" sz="950" dirty="0"/>
          </a:p>
        </p:txBody>
      </p:sp>
      <p:sp>
        <p:nvSpPr>
          <p:cNvPr id="26" name="Shape 24"/>
          <p:cNvSpPr/>
          <p:nvPr/>
        </p:nvSpPr>
        <p:spPr>
          <a:xfrm>
            <a:off x="320040" y="3675888"/>
            <a:ext cx="8503920" cy="566928"/>
          </a:xfrm>
          <a:prstGeom prst="rect">
            <a:avLst/>
          </a:prstGeom>
          <a:solidFill>
            <a:srgbClr val="FFF7ED"/>
          </a:solidFill>
          <a:ln w="12700">
            <a:solidFill>
              <a:srgbClr val="E2E8F0"/>
            </a:solidFill>
            <a:prstDash val="solid"/>
          </a:ln>
        </p:spPr>
      </p:sp>
      <p:sp>
        <p:nvSpPr>
          <p:cNvPr id="27" name="Shape 25"/>
          <p:cNvSpPr/>
          <p:nvPr/>
        </p:nvSpPr>
        <p:spPr>
          <a:xfrm>
            <a:off x="347472" y="3813048"/>
            <a:ext cx="256032" cy="256032"/>
          </a:xfrm>
          <a:prstGeom prst="ellipse">
            <a:avLst/>
          </a:prstGeom>
          <a:solidFill>
            <a:srgbClr val="EF4444"/>
          </a:solidFill>
          <a:ln w="12700">
            <a:solidFill>
              <a:srgbClr val="EF4444"/>
            </a:solidFill>
            <a:prstDash val="solid"/>
          </a:ln>
        </p:spPr>
      </p:sp>
      <p:sp>
        <p:nvSpPr>
          <p:cNvPr id="28" name="Text 26"/>
          <p:cNvSpPr/>
          <p:nvPr/>
        </p:nvSpPr>
        <p:spPr>
          <a:xfrm>
            <a:off x="347472" y="3785616"/>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29" name="Text 27"/>
          <p:cNvSpPr/>
          <p:nvPr/>
        </p:nvSpPr>
        <p:spPr>
          <a:xfrm>
            <a:off x="676656" y="3712464"/>
            <a:ext cx="8046720" cy="219456"/>
          </a:xfrm>
          <a:prstGeom prst="rect">
            <a:avLst/>
          </a:prstGeom>
          <a:noFill/>
          <a:ln/>
        </p:spPr>
        <p:txBody>
          <a:bodyPr wrap="square" lIns="0" tIns="0" rIns="0" bIns="0" rtlCol="0" anchor="ctr"/>
          <a:lstStyle/>
          <a:p>
            <a:pPr indent="0" marL="0">
              <a:buNone/>
            </a:pPr>
            <a:r>
              <a:rPr lang="en-US" sz="950" b="1" dirty="0">
                <a:solidFill>
                  <a:srgbClr val="991B1B"/>
                </a:solidFill>
                <a:latin typeface="Consolas" pitchFamily="34" charset="0"/>
                <a:ea typeface="Consolas" pitchFamily="34" charset="-122"/>
                <a:cs typeface="Consolas" pitchFamily="34" charset="-120"/>
              </a:rPr>
              <a:t>FileNotFoundError: reports/report.md</a:t>
            </a:r>
            <a:endParaRPr lang="en-US" sz="950" dirty="0"/>
          </a:p>
        </p:txBody>
      </p:sp>
      <p:sp>
        <p:nvSpPr>
          <p:cNvPr id="30" name="Text 28"/>
          <p:cNvSpPr/>
          <p:nvPr/>
        </p:nvSpPr>
        <p:spPr>
          <a:xfrm>
            <a:off x="676656" y="3950208"/>
            <a:ext cx="8046720" cy="23774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Fix:  Run  mkdir -p reports  first — the crew writes files but cannot create directories.</a:t>
            </a:r>
            <a:endParaRPr lang="en-US" sz="950" dirty="0"/>
          </a:p>
        </p:txBody>
      </p:sp>
      <p:sp>
        <p:nvSpPr>
          <p:cNvPr id="31" name="Shape 29"/>
          <p:cNvSpPr/>
          <p:nvPr/>
        </p:nvSpPr>
        <p:spPr>
          <a:xfrm>
            <a:off x="320040" y="4315968"/>
            <a:ext cx="8503920" cy="566928"/>
          </a:xfrm>
          <a:prstGeom prst="rect">
            <a:avLst/>
          </a:prstGeom>
          <a:solidFill>
            <a:srgbClr val="F8FAFC"/>
          </a:solidFill>
          <a:ln w="12700">
            <a:solidFill>
              <a:srgbClr val="E2E8F0"/>
            </a:solidFill>
            <a:prstDash val="solid"/>
          </a:ln>
        </p:spPr>
      </p:sp>
      <p:sp>
        <p:nvSpPr>
          <p:cNvPr id="32" name="Shape 30"/>
          <p:cNvSpPr/>
          <p:nvPr/>
        </p:nvSpPr>
        <p:spPr>
          <a:xfrm>
            <a:off x="347472" y="4453128"/>
            <a:ext cx="256032" cy="256032"/>
          </a:xfrm>
          <a:prstGeom prst="ellipse">
            <a:avLst/>
          </a:prstGeom>
          <a:solidFill>
            <a:srgbClr val="EF4444"/>
          </a:solidFill>
          <a:ln w="12700">
            <a:solidFill>
              <a:srgbClr val="EF4444"/>
            </a:solidFill>
            <a:prstDash val="solid"/>
          </a:ln>
        </p:spPr>
      </p:sp>
      <p:sp>
        <p:nvSpPr>
          <p:cNvPr id="33" name="Text 31"/>
          <p:cNvSpPr/>
          <p:nvPr/>
        </p:nvSpPr>
        <p:spPr>
          <a:xfrm>
            <a:off x="347472" y="4425696"/>
            <a:ext cx="256032"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t>
            </a:r>
            <a:endParaRPr lang="en-US" sz="1100" dirty="0"/>
          </a:p>
        </p:txBody>
      </p:sp>
      <p:sp>
        <p:nvSpPr>
          <p:cNvPr id="34" name="Text 32"/>
          <p:cNvSpPr/>
          <p:nvPr/>
        </p:nvSpPr>
        <p:spPr>
          <a:xfrm>
            <a:off x="676656" y="4352544"/>
            <a:ext cx="8046720" cy="219456"/>
          </a:xfrm>
          <a:prstGeom prst="rect">
            <a:avLst/>
          </a:prstGeom>
          <a:noFill/>
          <a:ln/>
        </p:spPr>
        <p:txBody>
          <a:bodyPr wrap="square" lIns="0" tIns="0" rIns="0" bIns="0" rtlCol="0" anchor="ctr"/>
          <a:lstStyle/>
          <a:p>
            <a:pPr indent="0" marL="0">
              <a:buNone/>
            </a:pPr>
            <a:r>
              <a:rPr lang="en-US" sz="950" b="1" dirty="0">
                <a:solidFill>
                  <a:srgbClr val="991B1B"/>
                </a:solidFill>
                <a:latin typeface="Consolas" pitchFamily="34" charset="0"/>
                <a:ea typeface="Consolas" pitchFamily="34" charset="-122"/>
                <a:cs typeface="Consolas" pitchFamily="34" charset="-120"/>
              </a:rPr>
              <a:t>Agent stuck / looping forever</a:t>
            </a:r>
            <a:endParaRPr lang="en-US" sz="950" dirty="0"/>
          </a:p>
        </p:txBody>
      </p:sp>
      <p:sp>
        <p:nvSpPr>
          <p:cNvPr id="35" name="Text 33"/>
          <p:cNvSpPr/>
          <p:nvPr/>
        </p:nvSpPr>
        <p:spPr>
          <a:xfrm>
            <a:off x="676656" y="4590288"/>
            <a:ext cx="8046720" cy="237744"/>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Fix:  Add  max_iter=10  to each Agent() constructor in crew.py to cap tool call loops.</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Shape 1"/>
          <p:cNvSpPr/>
          <p:nvPr/>
        </p:nvSpPr>
        <p:spPr>
          <a:xfrm>
            <a:off x="0" y="0"/>
            <a:ext cx="3200400" cy="1005840"/>
          </a:xfrm>
          <a:prstGeom prst="rect">
            <a:avLst/>
          </a:prstGeom>
          <a:solidFill>
            <a:srgbClr val="4F46E5"/>
          </a:solidFill>
          <a:ln w="12700">
            <a:solidFill>
              <a:srgbClr val="4F46E5"/>
            </a:solidFill>
            <a:prstDash val="solid"/>
          </a:ln>
        </p:spPr>
      </p:sp>
      <p:sp>
        <p:nvSpPr>
          <p:cNvPr id="4" name="Text 2"/>
          <p:cNvSpPr/>
          <p:nvPr/>
        </p:nvSpPr>
        <p:spPr>
          <a:xfrm>
            <a:off x="320040" y="109728"/>
            <a:ext cx="8503920" cy="50292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Quick Reference Checklist</a:t>
            </a:r>
            <a:endParaRPr lang="en-US" sz="2100" dirty="0"/>
          </a:p>
        </p:txBody>
      </p:sp>
      <p:sp>
        <p:nvSpPr>
          <p:cNvPr id="5" name="Text 3"/>
          <p:cNvSpPr/>
          <p:nvPr/>
        </p:nvSpPr>
        <p:spPr>
          <a:xfrm>
            <a:off x="320040" y="612648"/>
            <a:ext cx="8503920" cy="320040"/>
          </a:xfrm>
          <a:prstGeom prst="rect">
            <a:avLst/>
          </a:prstGeom>
          <a:noFill/>
          <a:ln/>
        </p:spPr>
        <p:txBody>
          <a:bodyPr wrap="square" lIns="0" tIns="0" rIns="0" bIns="0" rtlCol="0" anchor="ctr"/>
          <a:lstStyle/>
          <a:p>
            <a:pPr indent="0" marL="0">
              <a:buNone/>
            </a:pPr>
            <a:r>
              <a:rPr lang="en-US" sz="1100" i="1" dirty="0">
                <a:solidFill>
                  <a:srgbClr val="A5B4FC"/>
                </a:solidFill>
                <a:latin typeface="Calibri" pitchFamily="34" charset="0"/>
                <a:ea typeface="Calibri" pitchFamily="34" charset="-122"/>
                <a:cs typeface="Calibri" pitchFamily="34" charset="-120"/>
              </a:rPr>
              <a:t>Use this as your go-to guide when building the agent</a:t>
            </a:r>
            <a:endParaRPr lang="en-US" sz="1100" dirty="0"/>
          </a:p>
        </p:txBody>
      </p:sp>
      <p:sp>
        <p:nvSpPr>
          <p:cNvPr id="6" name="Text 4"/>
          <p:cNvSpPr/>
          <p:nvPr/>
        </p:nvSpPr>
        <p:spPr>
          <a:xfrm>
            <a:off x="365760" y="1097280"/>
            <a:ext cx="41148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Checklist</a:t>
            </a:r>
            <a:endParaRPr lang="en-US" sz="1300" dirty="0"/>
          </a:p>
        </p:txBody>
      </p:sp>
      <p:sp>
        <p:nvSpPr>
          <p:cNvPr id="7" name="Shape 5"/>
          <p:cNvSpPr/>
          <p:nvPr/>
        </p:nvSpPr>
        <p:spPr>
          <a:xfrm>
            <a:off x="365760" y="1463040"/>
            <a:ext cx="182880" cy="182880"/>
          </a:xfrm>
          <a:prstGeom prst="rect">
            <a:avLst/>
          </a:prstGeom>
          <a:solidFill>
            <a:srgbClr val="F8FAFC"/>
          </a:solidFill>
          <a:ln w="12700">
            <a:solidFill>
              <a:srgbClr val="4F46E5"/>
            </a:solidFill>
            <a:prstDash val="solid"/>
          </a:ln>
        </p:spPr>
      </p:sp>
      <p:sp>
        <p:nvSpPr>
          <p:cNvPr id="8" name="Text 6"/>
          <p:cNvSpPr/>
          <p:nvPr/>
        </p:nvSpPr>
        <p:spPr>
          <a:xfrm>
            <a:off x="621792" y="144475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Install uv (curl/PowerShell command)</a:t>
            </a:r>
            <a:endParaRPr lang="en-US" sz="900" dirty="0"/>
          </a:p>
        </p:txBody>
      </p:sp>
      <p:sp>
        <p:nvSpPr>
          <p:cNvPr id="9" name="Shape 7"/>
          <p:cNvSpPr/>
          <p:nvPr/>
        </p:nvSpPr>
        <p:spPr>
          <a:xfrm>
            <a:off x="365760" y="1737360"/>
            <a:ext cx="182880" cy="182880"/>
          </a:xfrm>
          <a:prstGeom prst="rect">
            <a:avLst/>
          </a:prstGeom>
          <a:solidFill>
            <a:srgbClr val="F8FAFC"/>
          </a:solidFill>
          <a:ln w="12700">
            <a:solidFill>
              <a:srgbClr val="4F46E5"/>
            </a:solidFill>
            <a:prstDash val="solid"/>
          </a:ln>
        </p:spPr>
      </p:sp>
      <p:sp>
        <p:nvSpPr>
          <p:cNvPr id="10" name="Text 8"/>
          <p:cNvSpPr/>
          <p:nvPr/>
        </p:nvSpPr>
        <p:spPr>
          <a:xfrm>
            <a:off x="621792" y="171907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pip install crewai crewai-tools</a:t>
            </a:r>
            <a:endParaRPr lang="en-US" sz="900" dirty="0"/>
          </a:p>
        </p:txBody>
      </p:sp>
      <p:sp>
        <p:nvSpPr>
          <p:cNvPr id="11" name="Shape 9"/>
          <p:cNvSpPr/>
          <p:nvPr/>
        </p:nvSpPr>
        <p:spPr>
          <a:xfrm>
            <a:off x="365760" y="2011680"/>
            <a:ext cx="182880" cy="182880"/>
          </a:xfrm>
          <a:prstGeom prst="rect">
            <a:avLst/>
          </a:prstGeom>
          <a:solidFill>
            <a:srgbClr val="F8FAFC"/>
          </a:solidFill>
          <a:ln w="12700">
            <a:solidFill>
              <a:srgbClr val="4F46E5"/>
            </a:solidFill>
            <a:prstDash val="solid"/>
          </a:ln>
        </p:spPr>
      </p:sp>
      <p:sp>
        <p:nvSpPr>
          <p:cNvPr id="12" name="Text 10"/>
          <p:cNvSpPr/>
          <p:nvPr/>
        </p:nvSpPr>
        <p:spPr>
          <a:xfrm>
            <a:off x="621792" y="199339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crewai create crew market_research_crew</a:t>
            </a:r>
            <a:endParaRPr lang="en-US" sz="900" dirty="0"/>
          </a:p>
        </p:txBody>
      </p:sp>
      <p:sp>
        <p:nvSpPr>
          <p:cNvPr id="13" name="Shape 11"/>
          <p:cNvSpPr/>
          <p:nvPr/>
        </p:nvSpPr>
        <p:spPr>
          <a:xfrm>
            <a:off x="365760" y="2286000"/>
            <a:ext cx="182880" cy="182880"/>
          </a:xfrm>
          <a:prstGeom prst="rect">
            <a:avLst/>
          </a:prstGeom>
          <a:solidFill>
            <a:srgbClr val="F8FAFC"/>
          </a:solidFill>
          <a:ln w="12700">
            <a:solidFill>
              <a:srgbClr val="4F46E5"/>
            </a:solidFill>
            <a:prstDash val="solid"/>
          </a:ln>
        </p:spPr>
      </p:sp>
      <p:sp>
        <p:nvSpPr>
          <p:cNvPr id="14" name="Text 12"/>
          <p:cNvSpPr/>
          <p:nvPr/>
        </p:nvSpPr>
        <p:spPr>
          <a:xfrm>
            <a:off x="621792" y="226771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cd market_research_crew</a:t>
            </a:r>
            <a:endParaRPr lang="en-US" sz="900" dirty="0"/>
          </a:p>
        </p:txBody>
      </p:sp>
      <p:sp>
        <p:nvSpPr>
          <p:cNvPr id="15" name="Shape 13"/>
          <p:cNvSpPr/>
          <p:nvPr/>
        </p:nvSpPr>
        <p:spPr>
          <a:xfrm>
            <a:off x="365760" y="2560320"/>
            <a:ext cx="182880" cy="182880"/>
          </a:xfrm>
          <a:prstGeom prst="rect">
            <a:avLst/>
          </a:prstGeom>
          <a:solidFill>
            <a:srgbClr val="F8FAFC"/>
          </a:solidFill>
          <a:ln w="12700">
            <a:solidFill>
              <a:srgbClr val="4F46E5"/>
            </a:solidFill>
            <a:prstDash val="solid"/>
          </a:ln>
        </p:spPr>
      </p:sp>
      <p:sp>
        <p:nvSpPr>
          <p:cNvPr id="16" name="Text 14"/>
          <p:cNvSpPr/>
          <p:nvPr/>
        </p:nvSpPr>
        <p:spPr>
          <a:xfrm>
            <a:off x="621792" y="254203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crewai install</a:t>
            </a:r>
            <a:endParaRPr lang="en-US" sz="900" dirty="0"/>
          </a:p>
        </p:txBody>
      </p:sp>
      <p:sp>
        <p:nvSpPr>
          <p:cNvPr id="17" name="Shape 15"/>
          <p:cNvSpPr/>
          <p:nvPr/>
        </p:nvSpPr>
        <p:spPr>
          <a:xfrm>
            <a:off x="365760" y="2834640"/>
            <a:ext cx="182880" cy="182880"/>
          </a:xfrm>
          <a:prstGeom prst="rect">
            <a:avLst/>
          </a:prstGeom>
          <a:solidFill>
            <a:srgbClr val="F8FAFC"/>
          </a:solidFill>
          <a:ln w="12700">
            <a:solidFill>
              <a:srgbClr val="EF4444"/>
            </a:solidFill>
            <a:prstDash val="solid"/>
          </a:ln>
        </p:spPr>
      </p:sp>
      <p:sp>
        <p:nvSpPr>
          <p:cNvPr id="18" name="Text 16"/>
          <p:cNvSpPr/>
          <p:nvPr/>
        </p:nvSpPr>
        <p:spPr>
          <a:xfrm>
            <a:off x="621792" y="2816352"/>
            <a:ext cx="3657600" cy="237744"/>
          </a:xfrm>
          <a:prstGeom prst="rect">
            <a:avLst/>
          </a:prstGeom>
          <a:noFill/>
          <a:ln/>
        </p:spPr>
        <p:txBody>
          <a:bodyPr wrap="square" lIns="0" tIns="0" rIns="0" bIns="0" rtlCol="0" anchor="ctr"/>
          <a:lstStyle/>
          <a:p>
            <a:pPr indent="0" marL="0">
              <a:buNone/>
            </a:pPr>
            <a:r>
              <a:rPr lang="en-US" sz="900" b="1" dirty="0">
                <a:solidFill>
                  <a:srgbClr val="991B1B"/>
                </a:solidFill>
                <a:latin typeface="Calibri" pitchFamily="34" charset="0"/>
                <a:ea typeface="Calibri" pitchFamily="34" charset="-122"/>
                <a:cs typeface="Calibri" pitchFamily="34" charset="-120"/>
              </a:rPr>
              <a:t>uv add selenium webdriver-manager  ← DON'T SKIP</a:t>
            </a:r>
            <a:endParaRPr lang="en-US" sz="900" dirty="0"/>
          </a:p>
        </p:txBody>
      </p:sp>
      <p:sp>
        <p:nvSpPr>
          <p:cNvPr id="19" name="Shape 17"/>
          <p:cNvSpPr/>
          <p:nvPr/>
        </p:nvSpPr>
        <p:spPr>
          <a:xfrm>
            <a:off x="365760" y="3108960"/>
            <a:ext cx="182880" cy="182880"/>
          </a:xfrm>
          <a:prstGeom prst="rect">
            <a:avLst/>
          </a:prstGeom>
          <a:solidFill>
            <a:srgbClr val="F8FAFC"/>
          </a:solidFill>
          <a:ln w="12700">
            <a:solidFill>
              <a:srgbClr val="4F46E5"/>
            </a:solidFill>
            <a:prstDash val="solid"/>
          </a:ln>
        </p:spPr>
      </p:sp>
      <p:sp>
        <p:nvSpPr>
          <p:cNvPr id="20" name="Text 18"/>
          <p:cNvSpPr/>
          <p:nvPr/>
        </p:nvSpPr>
        <p:spPr>
          <a:xfrm>
            <a:off x="621792" y="309067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code .  (open VS Code)</a:t>
            </a:r>
            <a:endParaRPr lang="en-US" sz="900" dirty="0"/>
          </a:p>
        </p:txBody>
      </p:sp>
      <p:sp>
        <p:nvSpPr>
          <p:cNvPr id="21" name="Shape 19"/>
          <p:cNvSpPr/>
          <p:nvPr/>
        </p:nvSpPr>
        <p:spPr>
          <a:xfrm>
            <a:off x="365760" y="3383280"/>
            <a:ext cx="182880" cy="182880"/>
          </a:xfrm>
          <a:prstGeom prst="rect">
            <a:avLst/>
          </a:prstGeom>
          <a:solidFill>
            <a:srgbClr val="F8FAFC"/>
          </a:solidFill>
          <a:ln w="12700">
            <a:solidFill>
              <a:srgbClr val="4F46E5"/>
            </a:solidFill>
            <a:prstDash val="solid"/>
          </a:ln>
        </p:spPr>
      </p:sp>
      <p:sp>
        <p:nvSpPr>
          <p:cNvPr id="22" name="Text 20"/>
          <p:cNvSpPr/>
          <p:nvPr/>
        </p:nvSpPr>
        <p:spPr>
          <a:xfrm>
            <a:off x="621792" y="336499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Edit config/agents.yaml (5 agents)</a:t>
            </a:r>
            <a:endParaRPr lang="en-US" sz="900" dirty="0"/>
          </a:p>
        </p:txBody>
      </p:sp>
      <p:sp>
        <p:nvSpPr>
          <p:cNvPr id="23" name="Shape 21"/>
          <p:cNvSpPr/>
          <p:nvPr/>
        </p:nvSpPr>
        <p:spPr>
          <a:xfrm>
            <a:off x="365760" y="3657600"/>
            <a:ext cx="182880" cy="182880"/>
          </a:xfrm>
          <a:prstGeom prst="rect">
            <a:avLst/>
          </a:prstGeom>
          <a:solidFill>
            <a:srgbClr val="F8FAFC"/>
          </a:solidFill>
          <a:ln w="12700">
            <a:solidFill>
              <a:srgbClr val="4F46E5"/>
            </a:solidFill>
            <a:prstDash val="solid"/>
          </a:ln>
        </p:spPr>
      </p:sp>
      <p:sp>
        <p:nvSpPr>
          <p:cNvPr id="24" name="Text 22"/>
          <p:cNvSpPr/>
          <p:nvPr/>
        </p:nvSpPr>
        <p:spPr>
          <a:xfrm>
            <a:off x="621792" y="363931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Edit config/tasks.yaml (5 tasks)</a:t>
            </a:r>
            <a:endParaRPr lang="en-US" sz="900" dirty="0"/>
          </a:p>
        </p:txBody>
      </p:sp>
      <p:sp>
        <p:nvSpPr>
          <p:cNvPr id="25" name="Shape 23"/>
          <p:cNvSpPr/>
          <p:nvPr/>
        </p:nvSpPr>
        <p:spPr>
          <a:xfrm>
            <a:off x="365760" y="3931920"/>
            <a:ext cx="182880" cy="182880"/>
          </a:xfrm>
          <a:prstGeom prst="rect">
            <a:avLst/>
          </a:prstGeom>
          <a:solidFill>
            <a:srgbClr val="F8FAFC"/>
          </a:solidFill>
          <a:ln w="12700">
            <a:solidFill>
              <a:srgbClr val="4F46E5"/>
            </a:solidFill>
            <a:prstDash val="solid"/>
          </a:ln>
        </p:spPr>
      </p:sp>
      <p:sp>
        <p:nvSpPr>
          <p:cNvPr id="26" name="Text 24"/>
          <p:cNvSpPr/>
          <p:nvPr/>
        </p:nvSpPr>
        <p:spPr>
          <a:xfrm>
            <a:off x="621792" y="391363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Edit crew.py (agents + tasks + context + crew)</a:t>
            </a:r>
            <a:endParaRPr lang="en-US" sz="900" dirty="0"/>
          </a:p>
        </p:txBody>
      </p:sp>
      <p:sp>
        <p:nvSpPr>
          <p:cNvPr id="27" name="Shape 25"/>
          <p:cNvSpPr/>
          <p:nvPr/>
        </p:nvSpPr>
        <p:spPr>
          <a:xfrm>
            <a:off x="365760" y="4206240"/>
            <a:ext cx="182880" cy="182880"/>
          </a:xfrm>
          <a:prstGeom prst="rect">
            <a:avLst/>
          </a:prstGeom>
          <a:solidFill>
            <a:srgbClr val="F8FAFC"/>
          </a:solidFill>
          <a:ln w="12700">
            <a:solidFill>
              <a:srgbClr val="4F46E5"/>
            </a:solidFill>
            <a:prstDash val="solid"/>
          </a:ln>
        </p:spPr>
      </p:sp>
      <p:sp>
        <p:nvSpPr>
          <p:cNvPr id="28" name="Text 26"/>
          <p:cNvSpPr/>
          <p:nvPr/>
        </p:nvSpPr>
        <p:spPr>
          <a:xfrm>
            <a:off x="621792" y="418795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Edit main.py (set your product_idea string)</a:t>
            </a:r>
            <a:endParaRPr lang="en-US" sz="900" dirty="0"/>
          </a:p>
        </p:txBody>
      </p:sp>
      <p:sp>
        <p:nvSpPr>
          <p:cNvPr id="29" name="Shape 27"/>
          <p:cNvSpPr/>
          <p:nvPr/>
        </p:nvSpPr>
        <p:spPr>
          <a:xfrm>
            <a:off x="365760" y="4480560"/>
            <a:ext cx="182880" cy="182880"/>
          </a:xfrm>
          <a:prstGeom prst="rect">
            <a:avLst/>
          </a:prstGeom>
          <a:solidFill>
            <a:srgbClr val="F8FAFC"/>
          </a:solidFill>
          <a:ln w="12700">
            <a:solidFill>
              <a:srgbClr val="4F46E5"/>
            </a:solidFill>
            <a:prstDash val="solid"/>
          </a:ln>
        </p:spPr>
      </p:sp>
      <p:sp>
        <p:nvSpPr>
          <p:cNvPr id="30" name="Text 28"/>
          <p:cNvSpPr/>
          <p:nvPr/>
        </p:nvSpPr>
        <p:spPr>
          <a:xfrm>
            <a:off x="621792" y="446227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mkdir -p reports</a:t>
            </a:r>
            <a:endParaRPr lang="en-US" sz="900" dirty="0"/>
          </a:p>
        </p:txBody>
      </p:sp>
      <p:sp>
        <p:nvSpPr>
          <p:cNvPr id="31" name="Shape 29"/>
          <p:cNvSpPr/>
          <p:nvPr/>
        </p:nvSpPr>
        <p:spPr>
          <a:xfrm>
            <a:off x="365760" y="4754880"/>
            <a:ext cx="182880" cy="182880"/>
          </a:xfrm>
          <a:prstGeom prst="rect">
            <a:avLst/>
          </a:prstGeom>
          <a:solidFill>
            <a:srgbClr val="F8FAFC"/>
          </a:solidFill>
          <a:ln w="12700">
            <a:solidFill>
              <a:srgbClr val="4F46E5"/>
            </a:solidFill>
            <a:prstDash val="solid"/>
          </a:ln>
        </p:spPr>
      </p:sp>
      <p:sp>
        <p:nvSpPr>
          <p:cNvPr id="32" name="Text 30"/>
          <p:cNvSpPr/>
          <p:nvPr/>
        </p:nvSpPr>
        <p:spPr>
          <a:xfrm>
            <a:off x="621792" y="473659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Add API keys to .env</a:t>
            </a:r>
            <a:endParaRPr lang="en-US" sz="900" dirty="0"/>
          </a:p>
        </p:txBody>
      </p:sp>
      <p:sp>
        <p:nvSpPr>
          <p:cNvPr id="33" name="Shape 31"/>
          <p:cNvSpPr/>
          <p:nvPr/>
        </p:nvSpPr>
        <p:spPr>
          <a:xfrm>
            <a:off x="365760" y="5029200"/>
            <a:ext cx="182880" cy="182880"/>
          </a:xfrm>
          <a:prstGeom prst="rect">
            <a:avLst/>
          </a:prstGeom>
          <a:solidFill>
            <a:srgbClr val="F8FAFC"/>
          </a:solidFill>
          <a:ln w="12700">
            <a:solidFill>
              <a:srgbClr val="4F46E5"/>
            </a:solidFill>
            <a:prstDash val="solid"/>
          </a:ln>
        </p:spPr>
      </p:sp>
      <p:sp>
        <p:nvSpPr>
          <p:cNvPr id="34" name="Text 32"/>
          <p:cNvSpPr/>
          <p:nvPr/>
        </p:nvSpPr>
        <p:spPr>
          <a:xfrm>
            <a:off x="621792" y="5010912"/>
            <a:ext cx="3657600" cy="237744"/>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crewai run  →  check reports/report.md</a:t>
            </a:r>
            <a:endParaRPr lang="en-US" sz="900" dirty="0"/>
          </a:p>
        </p:txBody>
      </p:sp>
      <p:sp>
        <p:nvSpPr>
          <p:cNvPr id="35" name="Text 33"/>
          <p:cNvSpPr/>
          <p:nvPr/>
        </p:nvSpPr>
        <p:spPr>
          <a:xfrm>
            <a:off x="4754880" y="1097280"/>
            <a:ext cx="41148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Key Files Summary</a:t>
            </a:r>
            <a:endParaRPr lang="en-US" sz="1300" dirty="0"/>
          </a:p>
        </p:txBody>
      </p:sp>
      <p:sp>
        <p:nvSpPr>
          <p:cNvPr id="36" name="Shape 34"/>
          <p:cNvSpPr/>
          <p:nvPr/>
        </p:nvSpPr>
        <p:spPr>
          <a:xfrm>
            <a:off x="4709160" y="1417320"/>
            <a:ext cx="4114800" cy="676656"/>
          </a:xfrm>
          <a:prstGeom prst="rect">
            <a:avLst/>
          </a:prstGeom>
          <a:solidFill>
            <a:srgbClr val="EDE9FE"/>
          </a:solidFill>
          <a:ln w="12700">
            <a:solidFill>
              <a:srgbClr val="7C3AED"/>
            </a:solidFill>
            <a:prstDash val="solid"/>
          </a:ln>
        </p:spPr>
      </p:sp>
      <p:sp>
        <p:nvSpPr>
          <p:cNvPr id="37" name="Shape 35"/>
          <p:cNvSpPr/>
          <p:nvPr/>
        </p:nvSpPr>
        <p:spPr>
          <a:xfrm>
            <a:off x="4709160" y="1417320"/>
            <a:ext cx="54864" cy="676656"/>
          </a:xfrm>
          <a:prstGeom prst="rect">
            <a:avLst/>
          </a:prstGeom>
          <a:solidFill>
            <a:srgbClr val="7C3AED"/>
          </a:solidFill>
          <a:ln w="12700">
            <a:solidFill>
              <a:srgbClr val="7C3AED"/>
            </a:solidFill>
            <a:prstDash val="solid"/>
          </a:ln>
        </p:spPr>
      </p:sp>
      <p:sp>
        <p:nvSpPr>
          <p:cNvPr id="38" name="Text 36"/>
          <p:cNvSpPr/>
          <p:nvPr/>
        </p:nvSpPr>
        <p:spPr>
          <a:xfrm>
            <a:off x="4828032" y="1463040"/>
            <a:ext cx="3840480" cy="219456"/>
          </a:xfrm>
          <a:prstGeom prst="rect">
            <a:avLst/>
          </a:prstGeom>
          <a:noFill/>
          <a:ln/>
        </p:spPr>
        <p:txBody>
          <a:bodyPr wrap="square" lIns="0" tIns="0" rIns="0" bIns="0" rtlCol="0" anchor="ctr"/>
          <a:lstStyle/>
          <a:p>
            <a:pPr indent="0" marL="0">
              <a:buNone/>
            </a:pPr>
            <a:r>
              <a:rPr lang="en-US" sz="1000" b="1" dirty="0">
                <a:solidFill>
                  <a:srgbClr val="1E293B"/>
                </a:solidFill>
                <a:latin typeface="Consolas" pitchFamily="34" charset="0"/>
                <a:ea typeface="Consolas" pitchFamily="34" charset="-122"/>
                <a:cs typeface="Consolas" pitchFamily="34" charset="-120"/>
              </a:rPr>
              <a:t>agents.yaml</a:t>
            </a:r>
            <a:endParaRPr lang="en-US" sz="1000" dirty="0"/>
          </a:p>
        </p:txBody>
      </p:sp>
      <p:sp>
        <p:nvSpPr>
          <p:cNvPr id="39" name="Text 37"/>
          <p:cNvSpPr/>
          <p:nvPr/>
        </p:nvSpPr>
        <p:spPr>
          <a:xfrm>
            <a:off x="4828032" y="1691640"/>
            <a:ext cx="3886200" cy="365760"/>
          </a:xfrm>
          <a:prstGeom prst="rect">
            <a:avLst/>
          </a:prstGeom>
          <a:noFill/>
          <a:ln/>
        </p:spPr>
        <p:txBody>
          <a:bodyPr wrap="square" lIns="0" tIns="0" rIns="0" bIns="0" rtlCol="0" anchor="ctr"/>
          <a:lstStyle/>
          <a:p>
            <a:pPr indent="0" marL="0">
              <a:buNone/>
            </a:pPr>
            <a:r>
              <a:rPr lang="en-US" sz="820" dirty="0">
                <a:solidFill>
                  <a:srgbClr val="334155"/>
                </a:solidFill>
                <a:latin typeface="Calibri" pitchFamily="34" charset="0"/>
                <a:ea typeface="Calibri" pitchFamily="34" charset="-122"/>
                <a:cs typeface="Calibri" pitchFamily="34" charset="-120"/>
              </a:rPr>
              <a:t>5 agents: market_research_specialist, competitive_intelligence_analyst, customer_insights_researcher, product_strategy_advisor, business_analyst</a:t>
            </a:r>
            <a:endParaRPr lang="en-US" sz="820" dirty="0"/>
          </a:p>
        </p:txBody>
      </p:sp>
      <p:sp>
        <p:nvSpPr>
          <p:cNvPr id="40" name="Shape 38"/>
          <p:cNvSpPr/>
          <p:nvPr/>
        </p:nvSpPr>
        <p:spPr>
          <a:xfrm>
            <a:off x="4709160" y="2167128"/>
            <a:ext cx="4114800" cy="676656"/>
          </a:xfrm>
          <a:prstGeom prst="rect">
            <a:avLst/>
          </a:prstGeom>
          <a:solidFill>
            <a:srgbClr val="E0F2FE"/>
          </a:solidFill>
          <a:ln w="12700">
            <a:solidFill>
              <a:srgbClr val="0EA5E9"/>
            </a:solidFill>
            <a:prstDash val="solid"/>
          </a:ln>
        </p:spPr>
      </p:sp>
      <p:sp>
        <p:nvSpPr>
          <p:cNvPr id="41" name="Shape 39"/>
          <p:cNvSpPr/>
          <p:nvPr/>
        </p:nvSpPr>
        <p:spPr>
          <a:xfrm>
            <a:off x="4709160" y="2167128"/>
            <a:ext cx="54864" cy="676656"/>
          </a:xfrm>
          <a:prstGeom prst="rect">
            <a:avLst/>
          </a:prstGeom>
          <a:solidFill>
            <a:srgbClr val="0EA5E9"/>
          </a:solidFill>
          <a:ln w="12700">
            <a:solidFill>
              <a:srgbClr val="0EA5E9"/>
            </a:solidFill>
            <a:prstDash val="solid"/>
          </a:ln>
        </p:spPr>
      </p:sp>
      <p:sp>
        <p:nvSpPr>
          <p:cNvPr id="42" name="Text 40"/>
          <p:cNvSpPr/>
          <p:nvPr/>
        </p:nvSpPr>
        <p:spPr>
          <a:xfrm>
            <a:off x="4828032" y="2212848"/>
            <a:ext cx="3840480" cy="219456"/>
          </a:xfrm>
          <a:prstGeom prst="rect">
            <a:avLst/>
          </a:prstGeom>
          <a:noFill/>
          <a:ln/>
        </p:spPr>
        <p:txBody>
          <a:bodyPr wrap="square" lIns="0" tIns="0" rIns="0" bIns="0" rtlCol="0" anchor="ctr"/>
          <a:lstStyle/>
          <a:p>
            <a:pPr indent="0" marL="0">
              <a:buNone/>
            </a:pPr>
            <a:r>
              <a:rPr lang="en-US" sz="1000" b="1" dirty="0">
                <a:solidFill>
                  <a:srgbClr val="1E293B"/>
                </a:solidFill>
                <a:latin typeface="Consolas" pitchFamily="34" charset="0"/>
                <a:ea typeface="Consolas" pitchFamily="34" charset="-122"/>
                <a:cs typeface="Consolas" pitchFamily="34" charset="-120"/>
              </a:rPr>
              <a:t>tasks.yaml</a:t>
            </a:r>
            <a:endParaRPr lang="en-US" sz="1000" dirty="0"/>
          </a:p>
        </p:txBody>
      </p:sp>
      <p:sp>
        <p:nvSpPr>
          <p:cNvPr id="43" name="Text 41"/>
          <p:cNvSpPr/>
          <p:nvPr/>
        </p:nvSpPr>
        <p:spPr>
          <a:xfrm>
            <a:off x="4828032" y="2441448"/>
            <a:ext cx="3886200" cy="365760"/>
          </a:xfrm>
          <a:prstGeom prst="rect">
            <a:avLst/>
          </a:prstGeom>
          <a:noFill/>
          <a:ln/>
        </p:spPr>
        <p:txBody>
          <a:bodyPr wrap="square" lIns="0" tIns="0" rIns="0" bIns="0" rtlCol="0" anchor="ctr"/>
          <a:lstStyle/>
          <a:p>
            <a:pPr indent="0" marL="0">
              <a:buNone/>
            </a:pPr>
            <a:r>
              <a:rPr lang="en-US" sz="820" dirty="0">
                <a:solidFill>
                  <a:srgbClr val="334155"/>
                </a:solidFill>
                <a:latin typeface="Calibri" pitchFamily="34" charset="0"/>
                <a:ea typeface="Calibri" pitchFamily="34" charset="-122"/>
                <a:cs typeface="Calibri" pitchFamily="34" charset="-120"/>
              </a:rPr>
              <a:t>5 tasks: market_research_task, competitive_intelligence_task, customer_insights_task, product_strategy_task, business_analyst_task</a:t>
            </a:r>
            <a:endParaRPr lang="en-US" sz="820" dirty="0"/>
          </a:p>
        </p:txBody>
      </p:sp>
      <p:sp>
        <p:nvSpPr>
          <p:cNvPr id="44" name="Shape 42"/>
          <p:cNvSpPr/>
          <p:nvPr/>
        </p:nvSpPr>
        <p:spPr>
          <a:xfrm>
            <a:off x="4709160" y="2916936"/>
            <a:ext cx="4114800" cy="676656"/>
          </a:xfrm>
          <a:prstGeom prst="rect">
            <a:avLst/>
          </a:prstGeom>
          <a:solidFill>
            <a:srgbClr val="DCFCE7"/>
          </a:solidFill>
          <a:ln w="12700">
            <a:solidFill>
              <a:srgbClr val="22C55E"/>
            </a:solidFill>
            <a:prstDash val="solid"/>
          </a:ln>
        </p:spPr>
      </p:sp>
      <p:sp>
        <p:nvSpPr>
          <p:cNvPr id="45" name="Shape 43"/>
          <p:cNvSpPr/>
          <p:nvPr/>
        </p:nvSpPr>
        <p:spPr>
          <a:xfrm>
            <a:off x="4709160" y="2916936"/>
            <a:ext cx="54864" cy="676656"/>
          </a:xfrm>
          <a:prstGeom prst="rect">
            <a:avLst/>
          </a:prstGeom>
          <a:solidFill>
            <a:srgbClr val="22C55E"/>
          </a:solidFill>
          <a:ln w="12700">
            <a:solidFill>
              <a:srgbClr val="22C55E"/>
            </a:solidFill>
            <a:prstDash val="solid"/>
          </a:ln>
        </p:spPr>
      </p:sp>
      <p:sp>
        <p:nvSpPr>
          <p:cNvPr id="46" name="Text 44"/>
          <p:cNvSpPr/>
          <p:nvPr/>
        </p:nvSpPr>
        <p:spPr>
          <a:xfrm>
            <a:off x="4828032" y="2962656"/>
            <a:ext cx="3840480" cy="219456"/>
          </a:xfrm>
          <a:prstGeom prst="rect">
            <a:avLst/>
          </a:prstGeom>
          <a:noFill/>
          <a:ln/>
        </p:spPr>
        <p:txBody>
          <a:bodyPr wrap="square" lIns="0" tIns="0" rIns="0" bIns="0" rtlCol="0" anchor="ctr"/>
          <a:lstStyle/>
          <a:p>
            <a:pPr indent="0" marL="0">
              <a:buNone/>
            </a:pPr>
            <a:r>
              <a:rPr lang="en-US" sz="1000" b="1" dirty="0">
                <a:solidFill>
                  <a:srgbClr val="1E293B"/>
                </a:solidFill>
                <a:latin typeface="Consolas" pitchFamily="34" charset="0"/>
                <a:ea typeface="Consolas" pitchFamily="34" charset="-122"/>
                <a:cs typeface="Consolas" pitchFamily="34" charset="-120"/>
              </a:rPr>
              <a:t>crew.py</a:t>
            </a:r>
            <a:endParaRPr lang="en-US" sz="1000" dirty="0"/>
          </a:p>
        </p:txBody>
      </p:sp>
      <p:sp>
        <p:nvSpPr>
          <p:cNvPr id="47" name="Text 45"/>
          <p:cNvSpPr/>
          <p:nvPr/>
        </p:nvSpPr>
        <p:spPr>
          <a:xfrm>
            <a:off x="4828032" y="3191256"/>
            <a:ext cx="3886200" cy="365760"/>
          </a:xfrm>
          <a:prstGeom prst="rect">
            <a:avLst/>
          </a:prstGeom>
          <a:noFill/>
          <a:ln/>
        </p:spPr>
        <p:txBody>
          <a:bodyPr wrap="square" lIns="0" tIns="0" rIns="0" bIns="0" rtlCol="0" anchor="ctr"/>
          <a:lstStyle/>
          <a:p>
            <a:pPr indent="0" marL="0">
              <a:buNone/>
            </a:pPr>
            <a:r>
              <a:rPr lang="en-US" sz="820" dirty="0">
                <a:solidFill>
                  <a:srgbClr val="334155"/>
                </a:solidFill>
                <a:latin typeface="Calibri" pitchFamily="34" charset="0"/>
                <a:ea typeface="Calibri" pitchFamily="34" charset="-122"/>
                <a:cs typeface="Calibri" pitchFamily="34" charset="-120"/>
              </a:rPr>
              <a:t>Imports 3 tools (SerperDevTool, ScrapeWebsiteTool, SeleniumScrapingTool), creates 5 agents with toolkit, wires 5 tasks with context lists, Process.sequential</a:t>
            </a:r>
            <a:endParaRPr lang="en-US" sz="820" dirty="0"/>
          </a:p>
        </p:txBody>
      </p:sp>
      <p:sp>
        <p:nvSpPr>
          <p:cNvPr id="48" name="Shape 46"/>
          <p:cNvSpPr/>
          <p:nvPr/>
        </p:nvSpPr>
        <p:spPr>
          <a:xfrm>
            <a:off x="4709160" y="3666744"/>
            <a:ext cx="4114800" cy="676656"/>
          </a:xfrm>
          <a:prstGeom prst="rect">
            <a:avLst/>
          </a:prstGeom>
          <a:solidFill>
            <a:srgbClr val="FEF3C7"/>
          </a:solidFill>
          <a:ln w="12700">
            <a:solidFill>
              <a:srgbClr val="F59E0B"/>
            </a:solidFill>
            <a:prstDash val="solid"/>
          </a:ln>
        </p:spPr>
      </p:sp>
      <p:sp>
        <p:nvSpPr>
          <p:cNvPr id="49" name="Shape 47"/>
          <p:cNvSpPr/>
          <p:nvPr/>
        </p:nvSpPr>
        <p:spPr>
          <a:xfrm>
            <a:off x="4709160" y="3666744"/>
            <a:ext cx="54864" cy="676656"/>
          </a:xfrm>
          <a:prstGeom prst="rect">
            <a:avLst/>
          </a:prstGeom>
          <a:solidFill>
            <a:srgbClr val="F59E0B"/>
          </a:solidFill>
          <a:ln w="12700">
            <a:solidFill>
              <a:srgbClr val="F59E0B"/>
            </a:solidFill>
            <a:prstDash val="solid"/>
          </a:ln>
        </p:spPr>
      </p:sp>
      <p:sp>
        <p:nvSpPr>
          <p:cNvPr id="50" name="Text 48"/>
          <p:cNvSpPr/>
          <p:nvPr/>
        </p:nvSpPr>
        <p:spPr>
          <a:xfrm>
            <a:off x="4828032" y="3712464"/>
            <a:ext cx="3840480" cy="219456"/>
          </a:xfrm>
          <a:prstGeom prst="rect">
            <a:avLst/>
          </a:prstGeom>
          <a:noFill/>
          <a:ln/>
        </p:spPr>
        <p:txBody>
          <a:bodyPr wrap="square" lIns="0" tIns="0" rIns="0" bIns="0" rtlCol="0" anchor="ctr"/>
          <a:lstStyle/>
          <a:p>
            <a:pPr indent="0" marL="0">
              <a:buNone/>
            </a:pPr>
            <a:r>
              <a:rPr lang="en-US" sz="1000" b="1" dirty="0">
                <a:solidFill>
                  <a:srgbClr val="1E293B"/>
                </a:solidFill>
                <a:latin typeface="Consolas" pitchFamily="34" charset="0"/>
                <a:ea typeface="Consolas" pitchFamily="34" charset="-122"/>
                <a:cs typeface="Consolas" pitchFamily="34" charset="-120"/>
              </a:rPr>
              <a:t>main.py</a:t>
            </a:r>
            <a:endParaRPr lang="en-US" sz="1000" dirty="0"/>
          </a:p>
        </p:txBody>
      </p:sp>
      <p:sp>
        <p:nvSpPr>
          <p:cNvPr id="51" name="Text 49"/>
          <p:cNvSpPr/>
          <p:nvPr/>
        </p:nvSpPr>
        <p:spPr>
          <a:xfrm>
            <a:off x="4828032" y="3941064"/>
            <a:ext cx="3886200" cy="365760"/>
          </a:xfrm>
          <a:prstGeom prst="rect">
            <a:avLst/>
          </a:prstGeom>
          <a:noFill/>
          <a:ln/>
        </p:spPr>
        <p:txBody>
          <a:bodyPr wrap="square" lIns="0" tIns="0" rIns="0" bIns="0" rtlCol="0" anchor="ctr"/>
          <a:lstStyle/>
          <a:p>
            <a:pPr indent="0" marL="0">
              <a:buNone/>
            </a:pPr>
            <a:r>
              <a:rPr lang="en-US" sz="820" dirty="0">
                <a:solidFill>
                  <a:srgbClr val="334155"/>
                </a:solidFill>
                <a:latin typeface="Calibri" pitchFamily="34" charset="0"/>
                <a:ea typeface="Calibri" pitchFamily="34" charset="-122"/>
                <a:cs typeface="Calibri" pitchFamily="34" charset="-120"/>
              </a:rPr>
              <a:t>Sets product_idea input string and calls MarketResearchCrew().crew().kickoff(inputs=inputs) to launch the pipeline</a:t>
            </a:r>
            <a:endParaRPr lang="en-US" sz="820" dirty="0"/>
          </a:p>
        </p:txBody>
      </p:sp>
      <p:sp>
        <p:nvSpPr>
          <p:cNvPr id="52" name="Shape 50"/>
          <p:cNvSpPr/>
          <p:nvPr/>
        </p:nvSpPr>
        <p:spPr>
          <a:xfrm>
            <a:off x="4709160" y="4416552"/>
            <a:ext cx="4114800" cy="676656"/>
          </a:xfrm>
          <a:prstGeom prst="rect">
            <a:avLst/>
          </a:prstGeom>
          <a:solidFill>
            <a:srgbClr val="FEE2E2"/>
          </a:solidFill>
          <a:ln w="12700">
            <a:solidFill>
              <a:srgbClr val="EF4444"/>
            </a:solidFill>
            <a:prstDash val="solid"/>
          </a:ln>
        </p:spPr>
      </p:sp>
      <p:sp>
        <p:nvSpPr>
          <p:cNvPr id="53" name="Shape 51"/>
          <p:cNvSpPr/>
          <p:nvPr/>
        </p:nvSpPr>
        <p:spPr>
          <a:xfrm>
            <a:off x="4709160" y="4416552"/>
            <a:ext cx="54864" cy="676656"/>
          </a:xfrm>
          <a:prstGeom prst="rect">
            <a:avLst/>
          </a:prstGeom>
          <a:solidFill>
            <a:srgbClr val="EF4444"/>
          </a:solidFill>
          <a:ln w="12700">
            <a:solidFill>
              <a:srgbClr val="EF4444"/>
            </a:solidFill>
            <a:prstDash val="solid"/>
          </a:ln>
        </p:spPr>
      </p:sp>
      <p:sp>
        <p:nvSpPr>
          <p:cNvPr id="54" name="Text 52"/>
          <p:cNvSpPr/>
          <p:nvPr/>
        </p:nvSpPr>
        <p:spPr>
          <a:xfrm>
            <a:off x="4828032" y="4462272"/>
            <a:ext cx="3840480" cy="219456"/>
          </a:xfrm>
          <a:prstGeom prst="rect">
            <a:avLst/>
          </a:prstGeom>
          <a:noFill/>
          <a:ln/>
        </p:spPr>
        <p:txBody>
          <a:bodyPr wrap="square" lIns="0" tIns="0" rIns="0" bIns="0" rtlCol="0" anchor="ctr"/>
          <a:lstStyle/>
          <a:p>
            <a:pPr indent="0" marL="0">
              <a:buNone/>
            </a:pPr>
            <a:r>
              <a:rPr lang="en-US" sz="1000" b="1" dirty="0">
                <a:solidFill>
                  <a:srgbClr val="1E293B"/>
                </a:solidFill>
                <a:latin typeface="Consolas" pitchFamily="34" charset="0"/>
                <a:ea typeface="Consolas" pitchFamily="34" charset="-122"/>
                <a:cs typeface="Consolas" pitchFamily="34" charset="-120"/>
              </a:rPr>
              <a:t>.env</a:t>
            </a:r>
            <a:endParaRPr lang="en-US" sz="1000" dirty="0"/>
          </a:p>
        </p:txBody>
      </p:sp>
      <p:sp>
        <p:nvSpPr>
          <p:cNvPr id="55" name="Text 53"/>
          <p:cNvSpPr/>
          <p:nvPr/>
        </p:nvSpPr>
        <p:spPr>
          <a:xfrm>
            <a:off x="4828032" y="4690872"/>
            <a:ext cx="3886200" cy="365760"/>
          </a:xfrm>
          <a:prstGeom prst="rect">
            <a:avLst/>
          </a:prstGeom>
          <a:noFill/>
          <a:ln/>
        </p:spPr>
        <p:txBody>
          <a:bodyPr wrap="square" lIns="0" tIns="0" rIns="0" bIns="0" rtlCol="0" anchor="ctr"/>
          <a:lstStyle/>
          <a:p>
            <a:pPr indent="0" marL="0">
              <a:buNone/>
            </a:pPr>
            <a:r>
              <a:rPr lang="en-US" sz="820" dirty="0">
                <a:solidFill>
                  <a:srgbClr val="334155"/>
                </a:solidFill>
                <a:latin typeface="Calibri" pitchFamily="34" charset="0"/>
                <a:ea typeface="Calibri" pitchFamily="34" charset="-122"/>
                <a:cs typeface="Calibri" pitchFamily="34" charset="-120"/>
              </a:rPr>
              <a:t>OPENAI_API_KEY=sk-...  and  SERPER_API_KEY=...  — never commit to Git! Already in .gitignore by default.</a:t>
            </a:r>
            <a:endParaRPr lang="en-US" sz="8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858000" y="-457200"/>
            <a:ext cx="2743200" cy="2743200"/>
          </a:xfrm>
          <a:prstGeom prst="ellipse">
            <a:avLst/>
          </a:prstGeom>
          <a:solidFill>
            <a:srgbClr val="4F46E5">
              <a:alpha val="25000"/>
            </a:srgbClr>
          </a:solidFill>
          <a:ln w="12700">
            <a:solidFill>
              <a:srgbClr val="4F46E5">
                <a:alpha val="25000"/>
              </a:srgbClr>
            </a:solidFill>
            <a:prstDash val="solid"/>
          </a:ln>
        </p:spPr>
      </p:sp>
      <p:sp>
        <p:nvSpPr>
          <p:cNvPr id="3" name="Shape 1"/>
          <p:cNvSpPr/>
          <p:nvPr/>
        </p:nvSpPr>
        <p:spPr>
          <a:xfrm>
            <a:off x="-457200" y="3200400"/>
            <a:ext cx="2286000" cy="2286000"/>
          </a:xfrm>
          <a:prstGeom prst="ellipse">
            <a:avLst/>
          </a:prstGeom>
          <a:solidFill>
            <a:srgbClr val="7C3AED">
              <a:alpha val="20000"/>
            </a:srgbClr>
          </a:solidFill>
          <a:ln w="12700">
            <a:solidFill>
              <a:srgbClr val="7C3AED">
                <a:alpha val="20000"/>
              </a:srgbClr>
            </a:solidFill>
            <a:prstDash val="solid"/>
          </a:ln>
        </p:spPr>
      </p:sp>
      <p:sp>
        <p:nvSpPr>
          <p:cNvPr id="4" name="Shape 2"/>
          <p:cNvSpPr/>
          <p:nvPr/>
        </p:nvSpPr>
        <p:spPr>
          <a:xfrm>
            <a:off x="0" y="0"/>
            <a:ext cx="457200" cy="5143500"/>
          </a:xfrm>
          <a:prstGeom prst="rect">
            <a:avLst/>
          </a:prstGeom>
          <a:solidFill>
            <a:srgbClr val="4F46E5"/>
          </a:solidFill>
          <a:ln w="12700">
            <a:solidFill>
              <a:srgbClr val="4F46E5"/>
            </a:solidFill>
            <a:prstDash val="solid"/>
          </a:ln>
        </p:spPr>
      </p:sp>
      <p:sp>
        <p:nvSpPr>
          <p:cNvPr id="5" name="Text 3"/>
          <p:cNvSpPr/>
          <p:nvPr/>
        </p:nvSpPr>
        <p:spPr>
          <a:xfrm>
            <a:off x="1371600" y="731520"/>
            <a:ext cx="6400800" cy="731520"/>
          </a:xfrm>
          <a:prstGeom prst="rect">
            <a:avLst/>
          </a:prstGeom>
          <a:noFill/>
          <a:ln/>
        </p:spPr>
        <p:txBody>
          <a:bodyPr wrap="square" rtlCol="0" anchor="ctr"/>
          <a:lstStyle/>
          <a:p>
            <a:pPr algn="ctr" indent="0" marL="0">
              <a:buNone/>
            </a:pPr>
            <a:r>
              <a:rPr lang="en-US" sz="4800" dirty="0">
                <a:solidFill>
                  <a:srgbClr val="000000"/>
                </a:solidFill>
              </a:rPr>
              <a:t>🎉</a:t>
            </a:r>
            <a:endParaRPr lang="en-US" sz="4800" dirty="0"/>
          </a:p>
        </p:txBody>
      </p:sp>
      <p:sp>
        <p:nvSpPr>
          <p:cNvPr id="6" name="Text 4"/>
          <p:cNvSpPr/>
          <p:nvPr/>
        </p:nvSpPr>
        <p:spPr>
          <a:xfrm>
            <a:off x="1371600" y="1463040"/>
            <a:ext cx="640080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You Built It!</a:t>
            </a:r>
            <a:endParaRPr lang="en-US" sz="3600" dirty="0"/>
          </a:p>
        </p:txBody>
      </p:sp>
      <p:sp>
        <p:nvSpPr>
          <p:cNvPr id="7" name="Text 5"/>
          <p:cNvSpPr/>
          <p:nvPr/>
        </p:nvSpPr>
        <p:spPr>
          <a:xfrm>
            <a:off x="1371600" y="2121408"/>
            <a:ext cx="6400800" cy="384048"/>
          </a:xfrm>
          <a:prstGeom prst="rect">
            <a:avLst/>
          </a:prstGeom>
          <a:noFill/>
          <a:ln/>
        </p:spPr>
        <p:txBody>
          <a:bodyPr wrap="square" lIns="0" tIns="0" rIns="0" bIns="0" rtlCol="0" anchor="ctr"/>
          <a:lstStyle/>
          <a:p>
            <a:pPr algn="ctr" indent="0" marL="0">
              <a:buNone/>
            </a:pPr>
            <a:r>
              <a:rPr lang="en-US" sz="1600" i="1" dirty="0">
                <a:solidFill>
                  <a:srgbClr val="A5B4FC"/>
                </a:solidFill>
                <a:latin typeface="Calibri" pitchFamily="34" charset="0"/>
                <a:ea typeface="Calibri" pitchFamily="34" charset="-122"/>
                <a:cs typeface="Calibri" pitchFamily="34" charset="-120"/>
              </a:rPr>
              <a:t>Your Market Research AI Crew is running</a:t>
            </a:r>
            <a:endParaRPr lang="en-US" sz="1600" dirty="0"/>
          </a:p>
        </p:txBody>
      </p:sp>
      <p:sp>
        <p:nvSpPr>
          <p:cNvPr id="8" name="Text 6"/>
          <p:cNvSpPr/>
          <p:nvPr/>
        </p:nvSpPr>
        <p:spPr>
          <a:xfrm>
            <a:off x="2286000" y="2743200"/>
            <a:ext cx="4572000" cy="27432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Next steps to explore:</a:t>
            </a:r>
            <a:endParaRPr lang="en-US" sz="1100" dirty="0"/>
          </a:p>
        </p:txBody>
      </p:sp>
      <p:sp>
        <p:nvSpPr>
          <p:cNvPr id="9" name="Text 7"/>
          <p:cNvSpPr/>
          <p:nvPr/>
        </p:nvSpPr>
        <p:spPr>
          <a:xfrm>
            <a:off x="1828800" y="3063240"/>
            <a:ext cx="5486400" cy="274320"/>
          </a:xfrm>
          <a:prstGeom prst="rect">
            <a:avLst/>
          </a:prstGeom>
          <a:noFill/>
          <a:ln/>
        </p:spPr>
        <p:txBody>
          <a:bodyPr wrap="square" lIns="0" tIns="0" rIns="0" bIns="0" rtlCol="0" anchor="ctr"/>
          <a:lstStyle/>
          <a:p>
            <a:pPr algn="ctr" indent="0" marL="0">
              <a:buNone/>
            </a:pPr>
            <a:r>
              <a:rPr lang="en-US" sz="1000" dirty="0">
                <a:solidFill>
                  <a:srgbClr val="C7D2FE"/>
                </a:solidFill>
                <a:latin typeface="Calibri" pitchFamily="34" charset="0"/>
                <a:ea typeface="Calibri" pitchFamily="34" charset="-122"/>
                <a:cs typeface="Calibri" pitchFamily="34" charset="-120"/>
              </a:rPr>
              <a:t>→  Swap the product_idea in main.py to research any startup</a:t>
            </a:r>
            <a:endParaRPr lang="en-US" sz="1000" dirty="0"/>
          </a:p>
        </p:txBody>
      </p:sp>
      <p:sp>
        <p:nvSpPr>
          <p:cNvPr id="10" name="Text 8"/>
          <p:cNvSpPr/>
          <p:nvPr/>
        </p:nvSpPr>
        <p:spPr>
          <a:xfrm>
            <a:off x="1828800" y="3364992"/>
            <a:ext cx="5486400" cy="274320"/>
          </a:xfrm>
          <a:prstGeom prst="rect">
            <a:avLst/>
          </a:prstGeom>
          <a:noFill/>
          <a:ln/>
        </p:spPr>
        <p:txBody>
          <a:bodyPr wrap="square" lIns="0" tIns="0" rIns="0" bIns="0" rtlCol="0" anchor="ctr"/>
          <a:lstStyle/>
          <a:p>
            <a:pPr algn="ctr" indent="0" marL="0">
              <a:buNone/>
            </a:pPr>
            <a:r>
              <a:rPr lang="en-US" sz="1000" dirty="0">
                <a:solidFill>
                  <a:srgbClr val="C7D2FE"/>
                </a:solidFill>
                <a:latin typeface="Calibri" pitchFamily="34" charset="0"/>
                <a:ea typeface="Calibri" pitchFamily="34" charset="-122"/>
                <a:cs typeface="Calibri" pitchFamily="34" charset="-120"/>
              </a:rPr>
              <a:t>→  Add  memory=True  to agents for persistent memory across runs</a:t>
            </a:r>
            <a:endParaRPr lang="en-US" sz="1000" dirty="0"/>
          </a:p>
        </p:txBody>
      </p:sp>
      <p:sp>
        <p:nvSpPr>
          <p:cNvPr id="11" name="Text 9"/>
          <p:cNvSpPr/>
          <p:nvPr/>
        </p:nvSpPr>
        <p:spPr>
          <a:xfrm>
            <a:off x="1828800" y="3666744"/>
            <a:ext cx="5486400" cy="274320"/>
          </a:xfrm>
          <a:prstGeom prst="rect">
            <a:avLst/>
          </a:prstGeom>
          <a:noFill/>
          <a:ln/>
        </p:spPr>
        <p:txBody>
          <a:bodyPr wrap="square" lIns="0" tIns="0" rIns="0" bIns="0" rtlCol="0" anchor="ctr"/>
          <a:lstStyle/>
          <a:p>
            <a:pPr algn="ctr" indent="0" marL="0">
              <a:buNone/>
            </a:pPr>
            <a:r>
              <a:rPr lang="en-US" sz="1000" dirty="0">
                <a:solidFill>
                  <a:srgbClr val="C7D2FE"/>
                </a:solidFill>
                <a:latin typeface="Calibri" pitchFamily="34" charset="0"/>
                <a:ea typeface="Calibri" pitchFamily="34" charset="-122"/>
                <a:cs typeface="Calibri" pitchFamily="34" charset="-120"/>
              </a:rPr>
              <a:t>→  Explore Process.hierarchical for a manager-agent architecture</a:t>
            </a:r>
            <a:endParaRPr lang="en-US" sz="1000" dirty="0"/>
          </a:p>
        </p:txBody>
      </p:sp>
      <p:sp>
        <p:nvSpPr>
          <p:cNvPr id="12" name="Text 10"/>
          <p:cNvSpPr/>
          <p:nvPr/>
        </p:nvSpPr>
        <p:spPr>
          <a:xfrm>
            <a:off x="1828800" y="3968496"/>
            <a:ext cx="5486400" cy="274320"/>
          </a:xfrm>
          <a:prstGeom prst="rect">
            <a:avLst/>
          </a:prstGeom>
          <a:noFill/>
          <a:ln/>
        </p:spPr>
        <p:txBody>
          <a:bodyPr wrap="square" lIns="0" tIns="0" rIns="0" bIns="0" rtlCol="0" anchor="ctr"/>
          <a:lstStyle/>
          <a:p>
            <a:pPr algn="ctr" indent="0" marL="0">
              <a:buNone/>
            </a:pPr>
            <a:r>
              <a:rPr lang="en-US" sz="1000" dirty="0">
                <a:solidFill>
                  <a:srgbClr val="C7D2FE"/>
                </a:solidFill>
                <a:latin typeface="Calibri" pitchFamily="34" charset="0"/>
                <a:ea typeface="Calibri" pitchFamily="34" charset="-122"/>
                <a:cs typeface="Calibri" pitchFamily="34" charset="-120"/>
              </a:rPr>
              <a:t>→  Add your own custom tools to the toolkit list in crew.py</a:t>
            </a:r>
            <a:endParaRPr lang="en-US" sz="1000" dirty="0"/>
          </a:p>
        </p:txBody>
      </p:sp>
      <p:sp>
        <p:nvSpPr>
          <p:cNvPr id="13" name="Shape 11"/>
          <p:cNvSpPr/>
          <p:nvPr/>
        </p:nvSpPr>
        <p:spPr>
          <a:xfrm>
            <a:off x="0" y="4663440"/>
            <a:ext cx="9144000" cy="480060"/>
          </a:xfrm>
          <a:prstGeom prst="rect">
            <a:avLst/>
          </a:prstGeom>
          <a:solidFill>
            <a:srgbClr val="4F46E5"/>
          </a:solidFill>
          <a:ln w="12700">
            <a:solidFill>
              <a:srgbClr val="4F46E5"/>
            </a:solidFill>
            <a:prstDash val="solid"/>
          </a:ln>
        </p:spPr>
      </p:sp>
      <p:sp>
        <p:nvSpPr>
          <p:cNvPr id="14" name="Text 12"/>
          <p:cNvSpPr/>
          <p:nvPr/>
        </p:nvSpPr>
        <p:spPr>
          <a:xfrm>
            <a:off x="182880" y="4709160"/>
            <a:ext cx="8778240" cy="32004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CrewAI Docs: docs.crewai.com  ·  Serper: serper.dev  ·  OpenAI: platform.openai.com  ·  uv: astral.sh/uv</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Market Research AI Crew Agent</dc:title>
  <dc:subject>PptxGenJS Presentation</dc:subject>
  <dc:creator>PptxGenJS</dc:creator>
  <cp:lastModifiedBy>PptxGenJS</cp:lastModifiedBy>
  <cp:revision>1</cp:revision>
  <dcterms:created xsi:type="dcterms:W3CDTF">2026-03-16T23:47:21Z</dcterms:created>
  <dcterms:modified xsi:type="dcterms:W3CDTF">2026-03-16T23:47:21Z</dcterms:modified>
</cp:coreProperties>
</file>