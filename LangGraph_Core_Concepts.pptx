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132320" y="-914400"/>
            <a:ext cx="3657600" cy="3657600"/>
          </a:xfrm>
          <a:prstGeom prst="ellipse">
            <a:avLst/>
          </a:prstGeom>
          <a:solidFill>
            <a:srgbClr val="0D9488">
              <a:alpha val="18000"/>
            </a:srgbClr>
          </a:solidFill>
          <a:ln w="12700">
            <a:solidFill>
              <a:srgbClr val="0D9488">
                <a:alpha val="18000"/>
              </a:srgbClr>
            </a:solidFill>
            <a:prstDash val="solid"/>
          </a:ln>
        </p:spPr>
      </p:sp>
      <p:sp>
        <p:nvSpPr>
          <p:cNvPr id="3" name="Shape 1"/>
          <p:cNvSpPr/>
          <p:nvPr/>
        </p:nvSpPr>
        <p:spPr>
          <a:xfrm>
            <a:off x="7772400" y="3474720"/>
            <a:ext cx="2286000" cy="2286000"/>
          </a:xfrm>
          <a:prstGeom prst="ellipse">
            <a:avLst/>
          </a:prstGeom>
          <a:solidFill>
            <a:srgbClr val="7C3AED">
              <a:alpha val="15000"/>
            </a:srgbClr>
          </a:solidFill>
          <a:ln w="12700">
            <a:solidFill>
              <a:srgbClr val="7C3AED">
                <a:alpha val="15000"/>
              </a:srgbClr>
            </a:solidFill>
            <a:prstDash val="solid"/>
          </a:ln>
        </p:spPr>
      </p:sp>
      <p:sp>
        <p:nvSpPr>
          <p:cNvPr id="4" name="Shape 2"/>
          <p:cNvSpPr/>
          <p:nvPr/>
        </p:nvSpPr>
        <p:spPr>
          <a:xfrm>
            <a:off x="0" y="4480560"/>
            <a:ext cx="9144000" cy="662940"/>
          </a:xfrm>
          <a:prstGeom prst="rect">
            <a:avLst/>
          </a:prstGeom>
          <a:solidFill>
            <a:srgbClr val="0D9488"/>
          </a:solidFill>
          <a:ln w="12700">
            <a:solidFill>
              <a:srgbClr val="0D9488"/>
            </a:solidFill>
            <a:prstDash val="solid"/>
          </a:ln>
        </p:spPr>
      </p:sp>
      <p:sp>
        <p:nvSpPr>
          <p:cNvPr id="5" name="Text 3"/>
          <p:cNvSpPr/>
          <p:nvPr/>
        </p:nvSpPr>
        <p:spPr>
          <a:xfrm>
            <a:off x="457200" y="411480"/>
            <a:ext cx="822960" cy="82296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6" name="Text 4"/>
          <p:cNvSpPr/>
          <p:nvPr/>
        </p:nvSpPr>
        <p:spPr>
          <a:xfrm>
            <a:off x="1371600" y="411480"/>
            <a:ext cx="7315200" cy="713232"/>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LangGraph</a:t>
            </a:r>
            <a:endParaRPr lang="en-US" sz="4400" dirty="0"/>
          </a:p>
        </p:txBody>
      </p:sp>
      <p:sp>
        <p:nvSpPr>
          <p:cNvPr id="7" name="Text 5"/>
          <p:cNvSpPr/>
          <p:nvPr/>
        </p:nvSpPr>
        <p:spPr>
          <a:xfrm>
            <a:off x="1371600" y="1143000"/>
            <a:ext cx="7315200" cy="502920"/>
          </a:xfrm>
          <a:prstGeom prst="rect">
            <a:avLst/>
          </a:prstGeom>
          <a:noFill/>
          <a:ln/>
        </p:spPr>
        <p:txBody>
          <a:bodyPr wrap="square" lIns="0" tIns="0" rIns="0" bIns="0" rtlCol="0" anchor="ctr"/>
          <a:lstStyle/>
          <a:p>
            <a:pPr indent="0" marL="0">
              <a:buNone/>
            </a:pPr>
            <a:r>
              <a:rPr lang="en-US" sz="2200" b="1" dirty="0">
                <a:solidFill>
                  <a:srgbClr val="5EEAD4"/>
                </a:solidFill>
                <a:latin typeface="Calibri" pitchFamily="34" charset="0"/>
                <a:ea typeface="Calibri" pitchFamily="34" charset="-122"/>
                <a:cs typeface="Calibri" pitchFamily="34" charset="-120"/>
              </a:rPr>
              <a:t>Core Concepts &amp; Architecture</a:t>
            </a:r>
            <a:endParaRPr lang="en-US" sz="2200" dirty="0"/>
          </a:p>
        </p:txBody>
      </p:sp>
      <p:sp>
        <p:nvSpPr>
          <p:cNvPr id="8" name="Text 6"/>
          <p:cNvSpPr/>
          <p:nvPr/>
        </p:nvSpPr>
        <p:spPr>
          <a:xfrm>
            <a:off x="1371600" y="1828800"/>
            <a:ext cx="6858000" cy="347472"/>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LLM Workflows · Graphs · State · Reducers · Execution Model · Fault Tolerance · Agentic AI</a:t>
            </a:r>
            <a:endParaRPr lang="en-US" sz="1200" dirty="0"/>
          </a:p>
        </p:txBody>
      </p:sp>
      <p:sp>
        <p:nvSpPr>
          <p:cNvPr id="9" name="Shape 7"/>
          <p:cNvSpPr/>
          <p:nvPr/>
        </p:nvSpPr>
        <p:spPr>
          <a:xfrm>
            <a:off x="457200" y="2926080"/>
            <a:ext cx="2011680" cy="329184"/>
          </a:xfrm>
          <a:prstGeom prst="roundRect">
            <a:avLst>
              <a:gd name="adj" fmla="val 22222"/>
            </a:avLst>
          </a:prstGeom>
          <a:solidFill>
            <a:srgbClr val="0F2240"/>
          </a:solidFill>
          <a:ln w="12700">
            <a:solidFill>
              <a:srgbClr val="1E3A5F"/>
            </a:solidFill>
            <a:prstDash val="solid"/>
          </a:ln>
        </p:spPr>
      </p:sp>
      <p:sp>
        <p:nvSpPr>
          <p:cNvPr id="10" name="Text 8"/>
          <p:cNvSpPr/>
          <p:nvPr/>
        </p:nvSpPr>
        <p:spPr>
          <a:xfrm>
            <a:off x="530352" y="2953512"/>
            <a:ext cx="1874520" cy="256032"/>
          </a:xfrm>
          <a:prstGeom prst="rect">
            <a:avLst/>
          </a:prstGeom>
          <a:noFill/>
          <a:ln/>
        </p:spPr>
        <p:txBody>
          <a:bodyPr wrap="square" lIns="0" tIns="0" rIns="0" bIns="0" rtlCol="0" anchor="ctr"/>
          <a:lstStyle/>
          <a:p>
            <a:pPr indent="0" marL="0">
              <a:buNone/>
            </a:pPr>
            <a:r>
              <a:rPr lang="en-US" sz="950" dirty="0">
                <a:solidFill>
                  <a:srgbClr val="5EEAD4"/>
                </a:solidFill>
                <a:latin typeface="Calibri" pitchFamily="34" charset="0"/>
                <a:ea typeface="Calibri" pitchFamily="34" charset="-122"/>
                <a:cs typeface="Calibri" pitchFamily="34" charset="-120"/>
              </a:rPr>
              <a:t>🔗 Orchestration Framework</a:t>
            </a:r>
            <a:endParaRPr lang="en-US" sz="950" dirty="0"/>
          </a:p>
        </p:txBody>
      </p:sp>
      <p:sp>
        <p:nvSpPr>
          <p:cNvPr id="11" name="Shape 9"/>
          <p:cNvSpPr/>
          <p:nvPr/>
        </p:nvSpPr>
        <p:spPr>
          <a:xfrm>
            <a:off x="2606040" y="2926080"/>
            <a:ext cx="2011680" cy="329184"/>
          </a:xfrm>
          <a:prstGeom prst="roundRect">
            <a:avLst>
              <a:gd name="adj" fmla="val 22222"/>
            </a:avLst>
          </a:prstGeom>
          <a:solidFill>
            <a:srgbClr val="0F2240"/>
          </a:solidFill>
          <a:ln w="12700">
            <a:solidFill>
              <a:srgbClr val="1E3A5F"/>
            </a:solidFill>
            <a:prstDash val="solid"/>
          </a:ln>
        </p:spPr>
      </p:sp>
      <p:sp>
        <p:nvSpPr>
          <p:cNvPr id="12" name="Text 10"/>
          <p:cNvSpPr/>
          <p:nvPr/>
        </p:nvSpPr>
        <p:spPr>
          <a:xfrm>
            <a:off x="2679192" y="2953512"/>
            <a:ext cx="1874520" cy="256032"/>
          </a:xfrm>
          <a:prstGeom prst="rect">
            <a:avLst/>
          </a:prstGeom>
          <a:noFill/>
          <a:ln/>
        </p:spPr>
        <p:txBody>
          <a:bodyPr wrap="square" lIns="0" tIns="0" rIns="0" bIns="0" rtlCol="0" anchor="ctr"/>
          <a:lstStyle/>
          <a:p>
            <a:pPr indent="0" marL="0">
              <a:buNone/>
            </a:pPr>
            <a:r>
              <a:rPr lang="en-US" sz="950" dirty="0">
                <a:solidFill>
                  <a:srgbClr val="5EEAD4"/>
                </a:solidFill>
                <a:latin typeface="Calibri" pitchFamily="34" charset="0"/>
                <a:ea typeface="Calibri" pitchFamily="34" charset="-122"/>
                <a:cs typeface="Calibri" pitchFamily="34" charset="-120"/>
              </a:rPr>
              <a:t>🔄 Stateful Workflows</a:t>
            </a:r>
            <a:endParaRPr lang="en-US" sz="950" dirty="0"/>
          </a:p>
        </p:txBody>
      </p:sp>
      <p:sp>
        <p:nvSpPr>
          <p:cNvPr id="13" name="Shape 11"/>
          <p:cNvSpPr/>
          <p:nvPr/>
        </p:nvSpPr>
        <p:spPr>
          <a:xfrm>
            <a:off x="4754880" y="2926080"/>
            <a:ext cx="2011680" cy="329184"/>
          </a:xfrm>
          <a:prstGeom prst="roundRect">
            <a:avLst>
              <a:gd name="adj" fmla="val 22222"/>
            </a:avLst>
          </a:prstGeom>
          <a:solidFill>
            <a:srgbClr val="0F2240"/>
          </a:solidFill>
          <a:ln w="12700">
            <a:solidFill>
              <a:srgbClr val="1E3A5F"/>
            </a:solidFill>
            <a:prstDash val="solid"/>
          </a:ln>
        </p:spPr>
      </p:sp>
      <p:sp>
        <p:nvSpPr>
          <p:cNvPr id="14" name="Text 12"/>
          <p:cNvSpPr/>
          <p:nvPr/>
        </p:nvSpPr>
        <p:spPr>
          <a:xfrm>
            <a:off x="4828032" y="2953512"/>
            <a:ext cx="1874520" cy="256032"/>
          </a:xfrm>
          <a:prstGeom prst="rect">
            <a:avLst/>
          </a:prstGeom>
          <a:noFill/>
          <a:ln/>
        </p:spPr>
        <p:txBody>
          <a:bodyPr wrap="square" lIns="0" tIns="0" rIns="0" bIns="0" rtlCol="0" anchor="ctr"/>
          <a:lstStyle/>
          <a:p>
            <a:pPr indent="0" marL="0">
              <a:buNone/>
            </a:pPr>
            <a:r>
              <a:rPr lang="en-US" sz="950" dirty="0">
                <a:solidFill>
                  <a:srgbClr val="5EEAD4"/>
                </a:solidFill>
                <a:latin typeface="Calibri" pitchFamily="34" charset="0"/>
                <a:ea typeface="Calibri" pitchFamily="34" charset="-122"/>
                <a:cs typeface="Calibri" pitchFamily="34" charset="-120"/>
              </a:rPr>
              <a:t>🤖 Agentic AI</a:t>
            </a:r>
            <a:endParaRPr lang="en-US" sz="950" dirty="0"/>
          </a:p>
        </p:txBody>
      </p:sp>
      <p:sp>
        <p:nvSpPr>
          <p:cNvPr id="15" name="Shape 13"/>
          <p:cNvSpPr/>
          <p:nvPr/>
        </p:nvSpPr>
        <p:spPr>
          <a:xfrm>
            <a:off x="6903720" y="2926080"/>
            <a:ext cx="2011680" cy="329184"/>
          </a:xfrm>
          <a:prstGeom prst="roundRect">
            <a:avLst>
              <a:gd name="adj" fmla="val 22222"/>
            </a:avLst>
          </a:prstGeom>
          <a:solidFill>
            <a:srgbClr val="0F2240"/>
          </a:solidFill>
          <a:ln w="12700">
            <a:solidFill>
              <a:srgbClr val="1E3A5F"/>
            </a:solidFill>
            <a:prstDash val="solid"/>
          </a:ln>
        </p:spPr>
      </p:sp>
      <p:sp>
        <p:nvSpPr>
          <p:cNvPr id="16" name="Text 14"/>
          <p:cNvSpPr/>
          <p:nvPr/>
        </p:nvSpPr>
        <p:spPr>
          <a:xfrm>
            <a:off x="6976872" y="2953512"/>
            <a:ext cx="1874520" cy="256032"/>
          </a:xfrm>
          <a:prstGeom prst="rect">
            <a:avLst/>
          </a:prstGeom>
          <a:noFill/>
          <a:ln/>
        </p:spPr>
        <p:txBody>
          <a:bodyPr wrap="square" lIns="0" tIns="0" rIns="0" bIns="0" rtlCol="0" anchor="ctr"/>
          <a:lstStyle/>
          <a:p>
            <a:pPr indent="0" marL="0">
              <a:buNone/>
            </a:pPr>
            <a:r>
              <a:rPr lang="en-US" sz="950" dirty="0">
                <a:solidFill>
                  <a:srgbClr val="5EEAD4"/>
                </a:solidFill>
                <a:latin typeface="Calibri" pitchFamily="34" charset="0"/>
                <a:ea typeface="Calibri" pitchFamily="34" charset="-122"/>
                <a:cs typeface="Calibri" pitchFamily="34" charset="-120"/>
              </a:rPr>
              <a:t>⚡ Parallel Execution</a:t>
            </a:r>
            <a:endParaRPr lang="en-US" sz="950" dirty="0"/>
          </a:p>
        </p:txBody>
      </p:sp>
      <p:sp>
        <p:nvSpPr>
          <p:cNvPr id="17" name="Text 15"/>
          <p:cNvSpPr/>
          <p:nvPr/>
        </p:nvSpPr>
        <p:spPr>
          <a:xfrm>
            <a:off x="457200" y="4535424"/>
            <a:ext cx="8229600" cy="29260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Building Intelligent, Stateful, Multi-Step AI Systems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0D9488"/>
          </a:solidFill>
          <a:ln w="12700">
            <a:solidFill>
              <a:srgbClr val="0D9488"/>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What is LangGraph?</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An orchestration framework for building intelligent, stateful, multi-step LLM workflows</a:t>
            </a:r>
            <a:endParaRPr lang="en-US" sz="1050" dirty="0"/>
          </a:p>
        </p:txBody>
      </p:sp>
      <p:sp>
        <p:nvSpPr>
          <p:cNvPr id="6" name="Shape 4"/>
          <p:cNvSpPr/>
          <p:nvPr/>
        </p:nvSpPr>
        <p:spPr>
          <a:xfrm>
            <a:off x="320040" y="1115568"/>
            <a:ext cx="4160520" cy="2450592"/>
          </a:xfrm>
          <a:prstGeom prst="rect">
            <a:avLst/>
          </a:prstGeom>
          <a:solidFill>
            <a:srgbClr val="0A1628"/>
          </a:solidFill>
          <a:ln w="12700">
            <a:solidFill>
              <a:srgbClr val="0D9488"/>
            </a:solidFill>
            <a:prstDash val="solid"/>
          </a:ln>
        </p:spPr>
      </p:sp>
      <p:sp>
        <p:nvSpPr>
          <p:cNvPr id="7" name="Text 5"/>
          <p:cNvSpPr/>
          <p:nvPr/>
        </p:nvSpPr>
        <p:spPr>
          <a:xfrm>
            <a:off x="411480" y="1161288"/>
            <a:ext cx="3977640" cy="274320"/>
          </a:xfrm>
          <a:prstGeom prst="rect">
            <a:avLst/>
          </a:prstGeom>
          <a:noFill/>
          <a:ln/>
        </p:spPr>
        <p:txBody>
          <a:bodyPr wrap="square" lIns="0" tIns="0" rIns="0" bIns="0" rtlCol="0" anchor="ctr"/>
          <a:lstStyle/>
          <a:p>
            <a:pPr indent="0" marL="0">
              <a:buNone/>
            </a:pPr>
            <a:r>
              <a:rPr lang="en-US" sz="1200" b="1" dirty="0">
                <a:solidFill>
                  <a:srgbClr val="5EEAD4"/>
                </a:solidFill>
                <a:latin typeface="Calibri" pitchFamily="34" charset="0"/>
                <a:ea typeface="Calibri" pitchFamily="34" charset="-122"/>
                <a:cs typeface="Calibri" pitchFamily="34" charset="-120"/>
              </a:rPr>
              <a:t>Definition</a:t>
            </a:r>
            <a:endParaRPr lang="en-US" sz="1200" dirty="0"/>
          </a:p>
        </p:txBody>
      </p:sp>
      <p:sp>
        <p:nvSpPr>
          <p:cNvPr id="8" name="Text 6"/>
          <p:cNvSpPr/>
          <p:nvPr/>
        </p:nvSpPr>
        <p:spPr>
          <a:xfrm>
            <a:off x="411480" y="1481328"/>
            <a:ext cx="397764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LangGraph is an </a:t>
            </a:r>
            <a:pPr indent="0" marL="0">
              <a:buNone/>
            </a:pPr>
            <a:r>
              <a:rPr lang="en-US" sz="1100" b="1" dirty="0">
                <a:solidFill>
                  <a:srgbClr val="5EEAD4"/>
                </a:solidFill>
                <a:latin typeface="Calibri" pitchFamily="34" charset="0"/>
                <a:ea typeface="Calibri" pitchFamily="34" charset="-122"/>
                <a:cs typeface="Calibri" pitchFamily="34" charset="-120"/>
              </a:rPr>
              <a:t>orchestration framework</a:t>
            </a:r>
            <a:pPr indent="0" marL="0">
              <a:buNone/>
            </a:pPr>
            <a:r>
              <a:rPr lang="en-US" sz="1100" dirty="0">
                <a:solidFill>
                  <a:srgbClr val="94A3B8"/>
                </a:solidFill>
                <a:latin typeface="Calibri" pitchFamily="34" charset="0"/>
                <a:ea typeface="Calibri" pitchFamily="34" charset="-122"/>
                <a:cs typeface="Calibri" pitchFamily="34" charset="-120"/>
              </a:rPr>
              <a:t> for building </a:t>
            </a:r>
            <a:pPr indent="0" marL="0">
              <a:buNone/>
            </a:pPr>
            <a:r>
              <a:rPr lang="en-US" sz="1100" dirty="0">
                <a:solidFill>
                  <a:srgbClr val="FFFFFF"/>
                </a:solidFill>
                <a:latin typeface="Calibri" pitchFamily="34" charset="0"/>
                <a:ea typeface="Calibri" pitchFamily="34" charset="-122"/>
                <a:cs typeface="Calibri" pitchFamily="34" charset="-120"/>
              </a:rPr>
              <a:t>intelligent, stateful, and multi-step LLM workflows.</a:t>
            </a:r>
            <a:endParaRPr lang="en-US" sz="1100" dirty="0"/>
          </a:p>
        </p:txBody>
      </p:sp>
      <p:sp>
        <p:nvSpPr>
          <p:cNvPr id="9" name="Text 7"/>
          <p:cNvSpPr/>
          <p:nvPr/>
        </p:nvSpPr>
        <p:spPr>
          <a:xfrm>
            <a:off x="411480" y="2029968"/>
            <a:ext cx="3977640" cy="45720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It models your logic as a graph of nodes (tasks) and edges (routing) instead of a linear chain.</a:t>
            </a:r>
            <a:endParaRPr lang="en-US" sz="1050" dirty="0"/>
          </a:p>
        </p:txBody>
      </p:sp>
      <p:sp>
        <p:nvSpPr>
          <p:cNvPr id="10" name="Text 8"/>
          <p:cNvSpPr/>
          <p:nvPr/>
        </p:nvSpPr>
        <p:spPr>
          <a:xfrm>
            <a:off x="411480" y="2560320"/>
            <a:ext cx="3977640" cy="38404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Inspired by Google Pregel — a framework for large-scale graph processing using the super-step execution model.</a:t>
            </a:r>
            <a:endParaRPr lang="en-US" sz="950" dirty="0"/>
          </a:p>
        </p:txBody>
      </p:sp>
      <p:sp>
        <p:nvSpPr>
          <p:cNvPr id="11" name="Text 9"/>
          <p:cNvSpPr/>
          <p:nvPr/>
        </p:nvSpPr>
        <p:spPr>
          <a:xfrm>
            <a:off x="4663440" y="1115568"/>
            <a:ext cx="416052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5 Superpowers of LangGraph:</a:t>
            </a:r>
            <a:endParaRPr lang="en-US" sz="1200" dirty="0"/>
          </a:p>
        </p:txBody>
      </p:sp>
      <p:sp>
        <p:nvSpPr>
          <p:cNvPr id="12" name="Shape 10"/>
          <p:cNvSpPr/>
          <p:nvPr/>
        </p:nvSpPr>
        <p:spPr>
          <a:xfrm>
            <a:off x="4663440" y="1417320"/>
            <a:ext cx="4160520" cy="621792"/>
          </a:xfrm>
          <a:prstGeom prst="rect">
            <a:avLst/>
          </a:prstGeom>
          <a:solidFill>
            <a:srgbClr val="F0FDF4"/>
          </a:solidFill>
          <a:ln w="12700">
            <a:solidFill>
              <a:srgbClr val="059669"/>
            </a:solidFill>
            <a:prstDash val="solid"/>
          </a:ln>
        </p:spPr>
      </p:sp>
      <p:sp>
        <p:nvSpPr>
          <p:cNvPr id="13" name="Shape 11"/>
          <p:cNvSpPr/>
          <p:nvPr/>
        </p:nvSpPr>
        <p:spPr>
          <a:xfrm>
            <a:off x="4663440" y="1417320"/>
            <a:ext cx="64008" cy="621792"/>
          </a:xfrm>
          <a:prstGeom prst="rect">
            <a:avLst/>
          </a:prstGeom>
          <a:solidFill>
            <a:srgbClr val="059669"/>
          </a:solidFill>
          <a:ln w="12700">
            <a:solidFill>
              <a:srgbClr val="059669"/>
            </a:solidFill>
            <a:prstDash val="solid"/>
          </a:ln>
        </p:spPr>
      </p:sp>
      <p:sp>
        <p:nvSpPr>
          <p:cNvPr id="14" name="Text 12"/>
          <p:cNvSpPr/>
          <p:nvPr/>
        </p:nvSpPr>
        <p:spPr>
          <a:xfrm>
            <a:off x="4800600" y="1463040"/>
            <a:ext cx="1828800" cy="237744"/>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Parallelism</a:t>
            </a:r>
            <a:endParaRPr lang="en-US" sz="1000" dirty="0"/>
          </a:p>
        </p:txBody>
      </p:sp>
      <p:sp>
        <p:nvSpPr>
          <p:cNvPr id="15" name="Text 13"/>
          <p:cNvSpPr/>
          <p:nvPr/>
        </p:nvSpPr>
        <p:spPr>
          <a:xfrm>
            <a:off x="4800600" y="1719072"/>
            <a:ext cx="393192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Run multiple nodes simultaneously in the same round (super-step)</a:t>
            </a:r>
            <a:endParaRPr lang="en-US" sz="900" dirty="0"/>
          </a:p>
        </p:txBody>
      </p:sp>
      <p:sp>
        <p:nvSpPr>
          <p:cNvPr id="16" name="Shape 14"/>
          <p:cNvSpPr/>
          <p:nvPr/>
        </p:nvSpPr>
        <p:spPr>
          <a:xfrm>
            <a:off x="4663440" y="2112264"/>
            <a:ext cx="4160520" cy="621792"/>
          </a:xfrm>
          <a:prstGeom prst="rect">
            <a:avLst/>
          </a:prstGeom>
          <a:solidFill>
            <a:srgbClr val="F5F3FF"/>
          </a:solidFill>
          <a:ln w="12700">
            <a:solidFill>
              <a:srgbClr val="7C3AED"/>
            </a:solidFill>
            <a:prstDash val="solid"/>
          </a:ln>
        </p:spPr>
      </p:sp>
      <p:sp>
        <p:nvSpPr>
          <p:cNvPr id="17" name="Shape 15"/>
          <p:cNvSpPr/>
          <p:nvPr/>
        </p:nvSpPr>
        <p:spPr>
          <a:xfrm>
            <a:off x="4663440" y="2112264"/>
            <a:ext cx="64008" cy="621792"/>
          </a:xfrm>
          <a:prstGeom prst="rect">
            <a:avLst/>
          </a:prstGeom>
          <a:solidFill>
            <a:srgbClr val="7C3AED"/>
          </a:solidFill>
          <a:ln w="12700">
            <a:solidFill>
              <a:srgbClr val="7C3AED"/>
            </a:solidFill>
            <a:prstDash val="solid"/>
          </a:ln>
        </p:spPr>
      </p:sp>
      <p:sp>
        <p:nvSpPr>
          <p:cNvPr id="18" name="Text 16"/>
          <p:cNvSpPr/>
          <p:nvPr/>
        </p:nvSpPr>
        <p:spPr>
          <a:xfrm>
            <a:off x="4800600" y="2157984"/>
            <a:ext cx="1828800" cy="237744"/>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Loops</a:t>
            </a:r>
            <a:endParaRPr lang="en-US" sz="1000" dirty="0"/>
          </a:p>
        </p:txBody>
      </p:sp>
      <p:sp>
        <p:nvSpPr>
          <p:cNvPr id="19" name="Text 17"/>
          <p:cNvSpPr/>
          <p:nvPr/>
        </p:nvSpPr>
        <p:spPr>
          <a:xfrm>
            <a:off x="4800600" y="2414016"/>
            <a:ext cx="393192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Graph can cycle — agents keep iterating until a stopping condition</a:t>
            </a:r>
            <a:endParaRPr lang="en-US" sz="900" dirty="0"/>
          </a:p>
        </p:txBody>
      </p:sp>
      <p:sp>
        <p:nvSpPr>
          <p:cNvPr id="20" name="Shape 18"/>
          <p:cNvSpPr/>
          <p:nvPr/>
        </p:nvSpPr>
        <p:spPr>
          <a:xfrm>
            <a:off x="4663440" y="2807208"/>
            <a:ext cx="4160520" cy="621792"/>
          </a:xfrm>
          <a:prstGeom prst="rect">
            <a:avLst/>
          </a:prstGeom>
          <a:solidFill>
            <a:srgbClr val="EFF6FF"/>
          </a:solidFill>
          <a:ln w="12700">
            <a:solidFill>
              <a:srgbClr val="2563EB"/>
            </a:solidFill>
            <a:prstDash val="solid"/>
          </a:ln>
        </p:spPr>
      </p:sp>
      <p:sp>
        <p:nvSpPr>
          <p:cNvPr id="21" name="Shape 19"/>
          <p:cNvSpPr/>
          <p:nvPr/>
        </p:nvSpPr>
        <p:spPr>
          <a:xfrm>
            <a:off x="4663440" y="2807208"/>
            <a:ext cx="64008" cy="621792"/>
          </a:xfrm>
          <a:prstGeom prst="rect">
            <a:avLst/>
          </a:prstGeom>
          <a:solidFill>
            <a:srgbClr val="2563EB"/>
          </a:solidFill>
          <a:ln w="12700">
            <a:solidFill>
              <a:srgbClr val="2563EB"/>
            </a:solidFill>
            <a:prstDash val="solid"/>
          </a:ln>
        </p:spPr>
      </p:sp>
      <p:sp>
        <p:nvSpPr>
          <p:cNvPr id="22" name="Text 20"/>
          <p:cNvSpPr/>
          <p:nvPr/>
        </p:nvSpPr>
        <p:spPr>
          <a:xfrm>
            <a:off x="4800600" y="2852928"/>
            <a:ext cx="1828800" cy="237744"/>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Branching</a:t>
            </a:r>
            <a:endParaRPr lang="en-US" sz="1000" dirty="0"/>
          </a:p>
        </p:txBody>
      </p:sp>
      <p:sp>
        <p:nvSpPr>
          <p:cNvPr id="23" name="Text 21"/>
          <p:cNvSpPr/>
          <p:nvPr/>
        </p:nvSpPr>
        <p:spPr>
          <a:xfrm>
            <a:off x="4800600" y="3108960"/>
            <a:ext cx="393192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Conditional edges route to different nodes based on state values</a:t>
            </a:r>
            <a:endParaRPr lang="en-US" sz="900" dirty="0"/>
          </a:p>
        </p:txBody>
      </p:sp>
      <p:sp>
        <p:nvSpPr>
          <p:cNvPr id="24" name="Shape 22"/>
          <p:cNvSpPr/>
          <p:nvPr/>
        </p:nvSpPr>
        <p:spPr>
          <a:xfrm>
            <a:off x="4663440" y="3502152"/>
            <a:ext cx="4160520" cy="621792"/>
          </a:xfrm>
          <a:prstGeom prst="rect">
            <a:avLst/>
          </a:prstGeom>
          <a:solidFill>
            <a:srgbClr val="FFFBEB"/>
          </a:solidFill>
          <a:ln w="12700">
            <a:solidFill>
              <a:srgbClr val="F59E0B"/>
            </a:solidFill>
            <a:prstDash val="solid"/>
          </a:ln>
        </p:spPr>
      </p:sp>
      <p:sp>
        <p:nvSpPr>
          <p:cNvPr id="25" name="Shape 23"/>
          <p:cNvSpPr/>
          <p:nvPr/>
        </p:nvSpPr>
        <p:spPr>
          <a:xfrm>
            <a:off x="4663440" y="3502152"/>
            <a:ext cx="64008" cy="621792"/>
          </a:xfrm>
          <a:prstGeom prst="rect">
            <a:avLst/>
          </a:prstGeom>
          <a:solidFill>
            <a:srgbClr val="F59E0B"/>
          </a:solidFill>
          <a:ln w="12700">
            <a:solidFill>
              <a:srgbClr val="F59E0B"/>
            </a:solidFill>
            <a:prstDash val="solid"/>
          </a:ln>
        </p:spPr>
      </p:sp>
      <p:sp>
        <p:nvSpPr>
          <p:cNvPr id="26" name="Text 24"/>
          <p:cNvSpPr/>
          <p:nvPr/>
        </p:nvSpPr>
        <p:spPr>
          <a:xfrm>
            <a:off x="4800600" y="3547872"/>
            <a:ext cx="1828800" cy="237744"/>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Memory</a:t>
            </a:r>
            <a:endParaRPr lang="en-US" sz="1000" dirty="0"/>
          </a:p>
        </p:txBody>
      </p:sp>
      <p:sp>
        <p:nvSpPr>
          <p:cNvPr id="27" name="Text 25"/>
          <p:cNvSpPr/>
          <p:nvPr/>
        </p:nvSpPr>
        <p:spPr>
          <a:xfrm>
            <a:off x="4800600" y="3803904"/>
            <a:ext cx="393192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Shared mutable state persists across all nodes and rounds</a:t>
            </a:r>
            <a:endParaRPr lang="en-US" sz="900" dirty="0"/>
          </a:p>
        </p:txBody>
      </p:sp>
      <p:sp>
        <p:nvSpPr>
          <p:cNvPr id="28" name="Shape 26"/>
          <p:cNvSpPr/>
          <p:nvPr/>
        </p:nvSpPr>
        <p:spPr>
          <a:xfrm>
            <a:off x="4663440" y="4197096"/>
            <a:ext cx="4160520" cy="621792"/>
          </a:xfrm>
          <a:prstGeom prst="rect">
            <a:avLst/>
          </a:prstGeom>
          <a:solidFill>
            <a:srgbClr val="FEF2F2"/>
          </a:solidFill>
          <a:ln w="12700">
            <a:solidFill>
              <a:srgbClr val="DC2626"/>
            </a:solidFill>
            <a:prstDash val="solid"/>
          </a:ln>
        </p:spPr>
      </p:sp>
      <p:sp>
        <p:nvSpPr>
          <p:cNvPr id="29" name="Shape 27"/>
          <p:cNvSpPr/>
          <p:nvPr/>
        </p:nvSpPr>
        <p:spPr>
          <a:xfrm>
            <a:off x="4663440" y="4197096"/>
            <a:ext cx="64008" cy="621792"/>
          </a:xfrm>
          <a:prstGeom prst="rect">
            <a:avLst/>
          </a:prstGeom>
          <a:solidFill>
            <a:srgbClr val="DC2626"/>
          </a:solidFill>
          <a:ln w="12700">
            <a:solidFill>
              <a:srgbClr val="DC2626"/>
            </a:solidFill>
            <a:prstDash val="solid"/>
          </a:ln>
        </p:spPr>
      </p:sp>
      <p:sp>
        <p:nvSpPr>
          <p:cNvPr id="30" name="Text 28"/>
          <p:cNvSpPr/>
          <p:nvPr/>
        </p:nvSpPr>
        <p:spPr>
          <a:xfrm>
            <a:off x="4800600" y="4242816"/>
            <a:ext cx="1828800" cy="237744"/>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  Resumability</a:t>
            </a:r>
            <a:endParaRPr lang="en-US" sz="1000" dirty="0"/>
          </a:p>
        </p:txBody>
      </p:sp>
      <p:sp>
        <p:nvSpPr>
          <p:cNvPr id="31" name="Text 29"/>
          <p:cNvSpPr/>
          <p:nvPr/>
        </p:nvSpPr>
        <p:spPr>
          <a:xfrm>
            <a:off x="4800600" y="4498848"/>
            <a:ext cx="393192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Workflows can be paused, checkpointed, and resumed later</a:t>
            </a:r>
            <a:endParaRPr lang="en-US" sz="900" dirty="0"/>
          </a:p>
        </p:txBody>
      </p:sp>
      <p:sp>
        <p:nvSpPr>
          <p:cNvPr id="32" name="Shape 30"/>
          <p:cNvSpPr/>
          <p:nvPr/>
        </p:nvSpPr>
        <p:spPr>
          <a:xfrm>
            <a:off x="320040" y="3648456"/>
            <a:ext cx="8503920" cy="402336"/>
          </a:xfrm>
          <a:prstGeom prst="rect">
            <a:avLst/>
          </a:prstGeom>
          <a:solidFill>
            <a:srgbClr val="FFFBEB"/>
          </a:solidFill>
          <a:ln w="12700">
            <a:solidFill>
              <a:srgbClr val="F59E0B"/>
            </a:solidFill>
            <a:prstDash val="solid"/>
          </a:ln>
        </p:spPr>
      </p:sp>
      <p:sp>
        <p:nvSpPr>
          <p:cNvPr id="33" name="Text 31"/>
          <p:cNvSpPr/>
          <p:nvPr/>
        </p:nvSpPr>
        <p:spPr>
          <a:xfrm>
            <a:off x="411480" y="3694176"/>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LangGraph ≠ LangChain. LangChain builds linear chains. LangGraph builds graphs — enabling full agentic, multi-path AI systems.</a:t>
            </a:r>
            <a:endParaRPr lang="en-US" sz="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0D9488"/>
          </a:solidFill>
          <a:ln w="12700">
            <a:solidFill>
              <a:srgbClr val="0D9488"/>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LLM Workflows</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Step-by-step processes for building complex LLM applications</a:t>
            </a:r>
            <a:endParaRPr lang="en-US" sz="1050" dirty="0"/>
          </a:p>
        </p:txBody>
      </p:sp>
      <p:sp>
        <p:nvSpPr>
          <p:cNvPr id="6" name="Text 4"/>
          <p:cNvSpPr/>
          <p:nvPr/>
        </p:nvSpPr>
        <p:spPr>
          <a:xfrm>
            <a:off x="347472" y="1115568"/>
            <a:ext cx="8229600" cy="256032"/>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What is an LLM Workflow?</a:t>
            </a:r>
            <a:endParaRPr lang="en-US" sz="1300" dirty="0"/>
          </a:p>
        </p:txBody>
      </p:sp>
      <p:sp>
        <p:nvSpPr>
          <p:cNvPr id="7" name="Shape 5"/>
          <p:cNvSpPr/>
          <p:nvPr/>
        </p:nvSpPr>
        <p:spPr>
          <a:xfrm>
            <a:off x="320040" y="1417320"/>
            <a:ext cx="8503920" cy="438912"/>
          </a:xfrm>
          <a:prstGeom prst="rect">
            <a:avLst/>
          </a:prstGeom>
          <a:solidFill>
            <a:srgbClr val="F0FDF4"/>
          </a:solidFill>
          <a:ln w="12700">
            <a:solidFill>
              <a:srgbClr val="D1FAE5"/>
            </a:solidFill>
            <a:prstDash val="solid"/>
          </a:ln>
        </p:spPr>
      </p:sp>
      <p:sp>
        <p:nvSpPr>
          <p:cNvPr id="8" name="Shape 6"/>
          <p:cNvSpPr/>
          <p:nvPr/>
        </p:nvSpPr>
        <p:spPr>
          <a:xfrm>
            <a:off x="384048" y="1444752"/>
            <a:ext cx="329184" cy="329184"/>
          </a:xfrm>
          <a:prstGeom prst="ellipse">
            <a:avLst/>
          </a:prstGeom>
          <a:solidFill>
            <a:srgbClr val="059669"/>
          </a:solidFill>
          <a:ln w="12700">
            <a:solidFill>
              <a:srgbClr val="059669"/>
            </a:solidFill>
            <a:prstDash val="solid"/>
          </a:ln>
        </p:spPr>
      </p:sp>
      <p:sp>
        <p:nvSpPr>
          <p:cNvPr id="9" name="Text 7"/>
          <p:cNvSpPr/>
          <p:nvPr/>
        </p:nvSpPr>
        <p:spPr>
          <a:xfrm>
            <a:off x="384048" y="14538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804672" y="1444752"/>
            <a:ext cx="795528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LLM workflows are a step-by-step process using which we can build complex LLM applications.</a:t>
            </a:r>
            <a:endParaRPr lang="en-US" sz="1050" dirty="0"/>
          </a:p>
        </p:txBody>
      </p:sp>
      <p:sp>
        <p:nvSpPr>
          <p:cNvPr id="11" name="Shape 9"/>
          <p:cNvSpPr/>
          <p:nvPr/>
        </p:nvSpPr>
        <p:spPr>
          <a:xfrm>
            <a:off x="320040" y="1920240"/>
            <a:ext cx="8503920" cy="438912"/>
          </a:xfrm>
          <a:prstGeom prst="rect">
            <a:avLst/>
          </a:prstGeom>
          <a:solidFill>
            <a:srgbClr val="F8FAFC"/>
          </a:solidFill>
          <a:ln w="12700">
            <a:solidFill>
              <a:srgbClr val="D1FAE5"/>
            </a:solidFill>
            <a:prstDash val="solid"/>
          </a:ln>
        </p:spPr>
      </p:sp>
      <p:sp>
        <p:nvSpPr>
          <p:cNvPr id="12" name="Shape 10"/>
          <p:cNvSpPr/>
          <p:nvPr/>
        </p:nvSpPr>
        <p:spPr>
          <a:xfrm>
            <a:off x="384048" y="1947672"/>
            <a:ext cx="329184" cy="329184"/>
          </a:xfrm>
          <a:prstGeom prst="ellipse">
            <a:avLst/>
          </a:prstGeom>
          <a:solidFill>
            <a:srgbClr val="059669"/>
          </a:solidFill>
          <a:ln w="12700">
            <a:solidFill>
              <a:srgbClr val="059669"/>
            </a:solidFill>
            <a:prstDash val="solid"/>
          </a:ln>
        </p:spPr>
      </p:sp>
      <p:sp>
        <p:nvSpPr>
          <p:cNvPr id="13" name="Text 11"/>
          <p:cNvSpPr/>
          <p:nvPr/>
        </p:nvSpPr>
        <p:spPr>
          <a:xfrm>
            <a:off x="384048" y="19568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804672" y="1947672"/>
            <a:ext cx="795528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Each step performs a distinct task — such as prompting, reasoning, tool calling, memory access, or decision-making.</a:t>
            </a:r>
            <a:endParaRPr lang="en-US" sz="1050" dirty="0"/>
          </a:p>
        </p:txBody>
      </p:sp>
      <p:sp>
        <p:nvSpPr>
          <p:cNvPr id="15" name="Shape 13"/>
          <p:cNvSpPr/>
          <p:nvPr/>
        </p:nvSpPr>
        <p:spPr>
          <a:xfrm>
            <a:off x="320040" y="2423160"/>
            <a:ext cx="8503920" cy="438912"/>
          </a:xfrm>
          <a:prstGeom prst="rect">
            <a:avLst/>
          </a:prstGeom>
          <a:solidFill>
            <a:srgbClr val="F0FDF4"/>
          </a:solidFill>
          <a:ln w="12700">
            <a:solidFill>
              <a:srgbClr val="D1FAE5"/>
            </a:solidFill>
            <a:prstDash val="solid"/>
          </a:ln>
        </p:spPr>
      </p:sp>
      <p:sp>
        <p:nvSpPr>
          <p:cNvPr id="16" name="Shape 14"/>
          <p:cNvSpPr/>
          <p:nvPr/>
        </p:nvSpPr>
        <p:spPr>
          <a:xfrm>
            <a:off x="384048" y="2450592"/>
            <a:ext cx="329184" cy="329184"/>
          </a:xfrm>
          <a:prstGeom prst="ellipse">
            <a:avLst/>
          </a:prstGeom>
          <a:solidFill>
            <a:srgbClr val="059669"/>
          </a:solidFill>
          <a:ln w="12700">
            <a:solidFill>
              <a:srgbClr val="059669"/>
            </a:solidFill>
            <a:prstDash val="solid"/>
          </a:ln>
        </p:spPr>
      </p:sp>
      <p:sp>
        <p:nvSpPr>
          <p:cNvPr id="17" name="Text 15"/>
          <p:cNvSpPr/>
          <p:nvPr/>
        </p:nvSpPr>
        <p:spPr>
          <a:xfrm>
            <a:off x="384048" y="24597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04672" y="2450592"/>
            <a:ext cx="795528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Workflows can be linear, parallel, branched, or looped, allowing for complex behaviours like retries, multi-agent communication, or tool-augmented reasoning.</a:t>
            </a:r>
            <a:endParaRPr lang="en-US" sz="1050" dirty="0"/>
          </a:p>
        </p:txBody>
      </p:sp>
      <p:sp>
        <p:nvSpPr>
          <p:cNvPr id="19" name="Text 17"/>
          <p:cNvSpPr/>
          <p:nvPr/>
        </p:nvSpPr>
        <p:spPr>
          <a:xfrm>
            <a:off x="347472" y="2971800"/>
            <a:ext cx="822960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4 Common Workflow Patterns:</a:t>
            </a:r>
            <a:endParaRPr lang="en-US" sz="1200" dirty="0"/>
          </a:p>
        </p:txBody>
      </p:sp>
      <p:sp>
        <p:nvSpPr>
          <p:cNvPr id="20" name="Shape 18"/>
          <p:cNvSpPr/>
          <p:nvPr/>
        </p:nvSpPr>
        <p:spPr>
          <a:xfrm>
            <a:off x="320040" y="3273552"/>
            <a:ext cx="4160520" cy="804672"/>
          </a:xfrm>
          <a:prstGeom prst="rect">
            <a:avLst/>
          </a:prstGeom>
          <a:solidFill>
            <a:srgbClr val="F0FDF4"/>
          </a:solidFill>
          <a:ln w="12700">
            <a:solidFill>
              <a:srgbClr val="0D9488"/>
            </a:solidFill>
            <a:prstDash val="solid"/>
          </a:ln>
        </p:spPr>
      </p:sp>
      <p:sp>
        <p:nvSpPr>
          <p:cNvPr id="21" name="Shape 19"/>
          <p:cNvSpPr/>
          <p:nvPr/>
        </p:nvSpPr>
        <p:spPr>
          <a:xfrm>
            <a:off x="320040" y="3273552"/>
            <a:ext cx="4160520" cy="256032"/>
          </a:xfrm>
          <a:prstGeom prst="rect">
            <a:avLst/>
          </a:prstGeom>
          <a:solidFill>
            <a:srgbClr val="0D9488"/>
          </a:solidFill>
          <a:ln w="12700">
            <a:solidFill>
              <a:srgbClr val="0D9488"/>
            </a:solidFill>
            <a:prstDash val="solid"/>
          </a:ln>
        </p:spPr>
      </p:sp>
      <p:sp>
        <p:nvSpPr>
          <p:cNvPr id="22" name="Text 20"/>
          <p:cNvSpPr/>
          <p:nvPr/>
        </p:nvSpPr>
        <p:spPr>
          <a:xfrm>
            <a:off x="411480" y="3273552"/>
            <a:ext cx="39776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Prompt Chaining</a:t>
            </a:r>
            <a:endParaRPr lang="en-US" sz="1000" dirty="0"/>
          </a:p>
        </p:txBody>
      </p:sp>
      <p:sp>
        <p:nvSpPr>
          <p:cNvPr id="23" name="Text 21"/>
          <p:cNvSpPr/>
          <p:nvPr/>
        </p:nvSpPr>
        <p:spPr>
          <a:xfrm>
            <a:off x="411480" y="3547872"/>
            <a:ext cx="3977640" cy="475488"/>
          </a:xfrm>
          <a:prstGeom prst="rect">
            <a:avLst/>
          </a:prstGeom>
          <a:noFill/>
          <a:ln/>
        </p:spPr>
        <p:txBody>
          <a:bodyPr wrap="square" lIns="0" tIns="0" rIns="0" bIns="0" rtlCol="0" anchor="ctr"/>
          <a:lstStyle/>
          <a:p>
            <a:pPr indent="0" marL="0">
              <a:buNone/>
            </a:pPr>
            <a:r>
              <a:rPr lang="en-US" sz="880" dirty="0">
                <a:solidFill>
                  <a:srgbClr val="475569"/>
                </a:solidFill>
                <a:latin typeface="Calibri" pitchFamily="34" charset="0"/>
                <a:ea typeface="Calibri" pitchFamily="34" charset="-122"/>
                <a:cs typeface="Calibri" pitchFamily="34" charset="-120"/>
              </a:rPr>
              <a:t>Output of LLM Call 1 → Gate → if Pass: LLM Call 2 → LLM Call 3 → Out</a:t>
            </a:r>
            <a:endParaRPr lang="en-US" sz="880" dirty="0"/>
          </a:p>
          <a:p>
            <a:pPr indent="0" marL="0">
              <a:buNone/>
            </a:pPr>
            <a:r>
              <a:rPr lang="en-US" sz="880" dirty="0">
                <a:solidFill>
                  <a:srgbClr val="475569"/>
                </a:solidFill>
                <a:latin typeface="Calibri" pitchFamily="34" charset="0"/>
                <a:ea typeface="Calibri" pitchFamily="34" charset="-122"/>
                <a:cs typeface="Calibri" pitchFamily="34" charset="-120"/>
              </a:rPr>
              <a:t>If Fail: Exit. Sequential LLM calls where each builds on the last.</a:t>
            </a:r>
            <a:endParaRPr lang="en-US" sz="880" dirty="0"/>
          </a:p>
        </p:txBody>
      </p:sp>
      <p:sp>
        <p:nvSpPr>
          <p:cNvPr id="24" name="Shape 22"/>
          <p:cNvSpPr/>
          <p:nvPr/>
        </p:nvSpPr>
        <p:spPr>
          <a:xfrm>
            <a:off x="320040" y="4151376"/>
            <a:ext cx="4160520" cy="804672"/>
          </a:xfrm>
          <a:prstGeom prst="rect">
            <a:avLst/>
          </a:prstGeom>
          <a:solidFill>
            <a:srgbClr val="EFF6FF"/>
          </a:solidFill>
          <a:ln w="12700">
            <a:solidFill>
              <a:srgbClr val="2563EB"/>
            </a:solidFill>
            <a:prstDash val="solid"/>
          </a:ln>
        </p:spPr>
      </p:sp>
      <p:sp>
        <p:nvSpPr>
          <p:cNvPr id="25" name="Shape 23"/>
          <p:cNvSpPr/>
          <p:nvPr/>
        </p:nvSpPr>
        <p:spPr>
          <a:xfrm>
            <a:off x="320040" y="4151376"/>
            <a:ext cx="4160520" cy="256032"/>
          </a:xfrm>
          <a:prstGeom prst="rect">
            <a:avLst/>
          </a:prstGeom>
          <a:solidFill>
            <a:srgbClr val="2563EB"/>
          </a:solidFill>
          <a:ln w="12700">
            <a:solidFill>
              <a:srgbClr val="2563EB"/>
            </a:solidFill>
            <a:prstDash val="solid"/>
          </a:ln>
        </p:spPr>
      </p:sp>
      <p:sp>
        <p:nvSpPr>
          <p:cNvPr id="26" name="Text 24"/>
          <p:cNvSpPr/>
          <p:nvPr/>
        </p:nvSpPr>
        <p:spPr>
          <a:xfrm>
            <a:off x="411480" y="4151376"/>
            <a:ext cx="39776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Routing</a:t>
            </a:r>
            <a:endParaRPr lang="en-US" sz="1000" dirty="0"/>
          </a:p>
        </p:txBody>
      </p:sp>
      <p:sp>
        <p:nvSpPr>
          <p:cNvPr id="27" name="Text 25"/>
          <p:cNvSpPr/>
          <p:nvPr/>
        </p:nvSpPr>
        <p:spPr>
          <a:xfrm>
            <a:off x="411480" y="4425696"/>
            <a:ext cx="3977640" cy="475488"/>
          </a:xfrm>
          <a:prstGeom prst="rect">
            <a:avLst/>
          </a:prstGeom>
          <a:noFill/>
          <a:ln/>
        </p:spPr>
        <p:txBody>
          <a:bodyPr wrap="square" lIns="0" tIns="0" rIns="0" bIns="0" rtlCol="0" anchor="ctr"/>
          <a:lstStyle/>
          <a:p>
            <a:pPr indent="0" marL="0">
              <a:buNone/>
            </a:pPr>
            <a:r>
              <a:rPr lang="en-US" sz="880" dirty="0">
                <a:solidFill>
                  <a:srgbClr val="475569"/>
                </a:solidFill>
                <a:latin typeface="Calibri" pitchFamily="34" charset="0"/>
                <a:ea typeface="Calibri" pitchFamily="34" charset="-122"/>
                <a:cs typeface="Calibri" pitchFamily="34" charset="-120"/>
              </a:rPr>
              <a:t>LLM Call Router inspects the input and routes to LLM Call 1, 2, or 3 based on decision/policy. Used in customer chatbots.</a:t>
            </a:r>
            <a:endParaRPr lang="en-US" sz="880" dirty="0"/>
          </a:p>
        </p:txBody>
      </p:sp>
      <p:sp>
        <p:nvSpPr>
          <p:cNvPr id="28" name="Shape 26"/>
          <p:cNvSpPr/>
          <p:nvPr/>
        </p:nvSpPr>
        <p:spPr>
          <a:xfrm>
            <a:off x="4681728" y="3273552"/>
            <a:ext cx="4160520" cy="804672"/>
          </a:xfrm>
          <a:prstGeom prst="rect">
            <a:avLst/>
          </a:prstGeom>
          <a:solidFill>
            <a:srgbClr val="F5F3FF"/>
          </a:solidFill>
          <a:ln w="12700">
            <a:solidFill>
              <a:srgbClr val="7C3AED"/>
            </a:solidFill>
            <a:prstDash val="solid"/>
          </a:ln>
        </p:spPr>
      </p:sp>
      <p:sp>
        <p:nvSpPr>
          <p:cNvPr id="29" name="Shape 27"/>
          <p:cNvSpPr/>
          <p:nvPr/>
        </p:nvSpPr>
        <p:spPr>
          <a:xfrm>
            <a:off x="4681728" y="3273552"/>
            <a:ext cx="4160520" cy="256032"/>
          </a:xfrm>
          <a:prstGeom prst="rect">
            <a:avLst/>
          </a:prstGeom>
          <a:solidFill>
            <a:srgbClr val="7C3AED"/>
          </a:solidFill>
          <a:ln w="12700">
            <a:solidFill>
              <a:srgbClr val="7C3AED"/>
            </a:solidFill>
            <a:prstDash val="solid"/>
          </a:ln>
        </p:spPr>
      </p:sp>
      <p:sp>
        <p:nvSpPr>
          <p:cNvPr id="30" name="Text 28"/>
          <p:cNvSpPr/>
          <p:nvPr/>
        </p:nvSpPr>
        <p:spPr>
          <a:xfrm>
            <a:off x="4773168" y="3273552"/>
            <a:ext cx="39776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Parallelisation</a:t>
            </a:r>
            <a:endParaRPr lang="en-US" sz="1000" dirty="0"/>
          </a:p>
        </p:txBody>
      </p:sp>
      <p:sp>
        <p:nvSpPr>
          <p:cNvPr id="31" name="Text 29"/>
          <p:cNvSpPr/>
          <p:nvPr/>
        </p:nvSpPr>
        <p:spPr>
          <a:xfrm>
            <a:off x="4773168" y="3547872"/>
            <a:ext cx="3977640" cy="475488"/>
          </a:xfrm>
          <a:prstGeom prst="rect">
            <a:avLst/>
          </a:prstGeom>
          <a:noFill/>
          <a:ln/>
        </p:spPr>
        <p:txBody>
          <a:bodyPr wrap="square" lIns="0" tIns="0" rIns="0" bIns="0" rtlCol="0" anchor="ctr"/>
          <a:lstStyle/>
          <a:p>
            <a:pPr indent="0" marL="0">
              <a:buNone/>
            </a:pPr>
            <a:r>
              <a:rPr lang="en-US" sz="880" dirty="0">
                <a:solidFill>
                  <a:srgbClr val="475569"/>
                </a:solidFill>
                <a:latin typeface="Calibri" pitchFamily="34" charset="0"/>
                <a:ea typeface="Calibri" pitchFamily="34" charset="-122"/>
                <a:cs typeface="Calibri" pitchFamily="34" charset="-120"/>
              </a:rPr>
              <a:t>One task is split into sub-tasks. In → LLM Call 1 + LLM Call 2 + LLM Call 3 simultaneously → Aggregator → Out.</a:t>
            </a:r>
            <a:endParaRPr lang="en-US" sz="880" dirty="0"/>
          </a:p>
        </p:txBody>
      </p:sp>
      <p:sp>
        <p:nvSpPr>
          <p:cNvPr id="32" name="Shape 30"/>
          <p:cNvSpPr/>
          <p:nvPr/>
        </p:nvSpPr>
        <p:spPr>
          <a:xfrm>
            <a:off x="4681728" y="4151376"/>
            <a:ext cx="4160520" cy="804672"/>
          </a:xfrm>
          <a:prstGeom prst="rect">
            <a:avLst/>
          </a:prstGeom>
          <a:solidFill>
            <a:srgbClr val="FFFBEB"/>
          </a:solidFill>
          <a:ln w="12700">
            <a:solidFill>
              <a:srgbClr val="F59E0B"/>
            </a:solidFill>
            <a:prstDash val="solid"/>
          </a:ln>
        </p:spPr>
      </p:sp>
      <p:sp>
        <p:nvSpPr>
          <p:cNvPr id="33" name="Shape 31"/>
          <p:cNvSpPr/>
          <p:nvPr/>
        </p:nvSpPr>
        <p:spPr>
          <a:xfrm>
            <a:off x="4681728" y="4151376"/>
            <a:ext cx="4160520" cy="256032"/>
          </a:xfrm>
          <a:prstGeom prst="rect">
            <a:avLst/>
          </a:prstGeom>
          <a:solidFill>
            <a:srgbClr val="F59E0B"/>
          </a:solidFill>
          <a:ln w="12700">
            <a:solidFill>
              <a:srgbClr val="F59E0B"/>
            </a:solidFill>
            <a:prstDash val="solid"/>
          </a:ln>
        </p:spPr>
      </p:sp>
      <p:sp>
        <p:nvSpPr>
          <p:cNvPr id="34" name="Text 32"/>
          <p:cNvSpPr/>
          <p:nvPr/>
        </p:nvSpPr>
        <p:spPr>
          <a:xfrm>
            <a:off x="4773168" y="4151376"/>
            <a:ext cx="39776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Evaluator Optimizer</a:t>
            </a:r>
            <a:endParaRPr lang="en-US" sz="1000" dirty="0"/>
          </a:p>
        </p:txBody>
      </p:sp>
      <p:sp>
        <p:nvSpPr>
          <p:cNvPr id="35" name="Text 33"/>
          <p:cNvSpPr/>
          <p:nvPr/>
        </p:nvSpPr>
        <p:spPr>
          <a:xfrm>
            <a:off x="4773168" y="4425696"/>
            <a:ext cx="3977640" cy="475488"/>
          </a:xfrm>
          <a:prstGeom prst="rect">
            <a:avLst/>
          </a:prstGeom>
          <a:noFill/>
          <a:ln/>
        </p:spPr>
        <p:txBody>
          <a:bodyPr wrap="square" lIns="0" tIns="0" rIns="0" bIns="0" rtlCol="0" anchor="ctr"/>
          <a:lstStyle/>
          <a:p>
            <a:pPr indent="0" marL="0">
              <a:buNone/>
            </a:pPr>
            <a:r>
              <a:rPr lang="en-US" sz="880" dirty="0">
                <a:solidFill>
                  <a:srgbClr val="475569"/>
                </a:solidFill>
                <a:latin typeface="Calibri" pitchFamily="34" charset="0"/>
                <a:ea typeface="Calibri" pitchFamily="34" charset="-122"/>
                <a:cs typeface="Calibri" pitchFamily="34" charset="-120"/>
              </a:rPr>
              <a:t>Generator LLM produces a solution → Evaluator LLM reviews it. If Accepted → Out. If Rejected + Feedback → loop back to Generator.</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0D9488"/>
          </a:solidFill>
          <a:ln w="12700">
            <a:solidFill>
              <a:srgbClr val="0D9488"/>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Advanced Workflow Patterns</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Orchestrator-Workers and Evaluator-Optimizer — from your notes</a:t>
            </a:r>
            <a:endParaRPr lang="en-US" sz="1050" dirty="0"/>
          </a:p>
        </p:txBody>
      </p:sp>
      <p:sp>
        <p:nvSpPr>
          <p:cNvPr id="6" name="Shape 4"/>
          <p:cNvSpPr/>
          <p:nvPr/>
        </p:nvSpPr>
        <p:spPr>
          <a:xfrm>
            <a:off x="320040" y="1115568"/>
            <a:ext cx="4160520" cy="2926080"/>
          </a:xfrm>
          <a:prstGeom prst="rect">
            <a:avLst/>
          </a:prstGeom>
          <a:solidFill>
            <a:srgbClr val="F0FDF4"/>
          </a:solidFill>
          <a:ln w="12700">
            <a:solidFill>
              <a:srgbClr val="059669"/>
            </a:solidFill>
            <a:prstDash val="solid"/>
          </a:ln>
        </p:spPr>
      </p:sp>
      <p:sp>
        <p:nvSpPr>
          <p:cNvPr id="7" name="Shape 5"/>
          <p:cNvSpPr/>
          <p:nvPr/>
        </p:nvSpPr>
        <p:spPr>
          <a:xfrm>
            <a:off x="320040" y="1115568"/>
            <a:ext cx="4160520" cy="274320"/>
          </a:xfrm>
          <a:prstGeom prst="rect">
            <a:avLst/>
          </a:prstGeom>
          <a:solidFill>
            <a:srgbClr val="059669"/>
          </a:solidFill>
          <a:ln w="12700">
            <a:solidFill>
              <a:srgbClr val="059669"/>
            </a:solidFill>
            <a:prstDash val="solid"/>
          </a:ln>
        </p:spPr>
      </p:sp>
      <p:sp>
        <p:nvSpPr>
          <p:cNvPr id="8" name="Text 6"/>
          <p:cNvSpPr/>
          <p:nvPr/>
        </p:nvSpPr>
        <p:spPr>
          <a:xfrm>
            <a:off x="411480" y="1115568"/>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Orchestrator Workers</a:t>
            </a:r>
            <a:endParaRPr lang="en-US" sz="1050" dirty="0"/>
          </a:p>
        </p:txBody>
      </p:sp>
      <p:sp>
        <p:nvSpPr>
          <p:cNvPr id="9" name="Shape 7"/>
          <p:cNvSpPr/>
          <p:nvPr/>
        </p:nvSpPr>
        <p:spPr>
          <a:xfrm>
            <a:off x="502920" y="1481328"/>
            <a:ext cx="457200" cy="274320"/>
          </a:xfrm>
          <a:prstGeom prst="rect">
            <a:avLst/>
          </a:prstGeom>
          <a:solidFill>
            <a:srgbClr val="D1FAE5"/>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10" name="Text 8"/>
          <p:cNvSpPr/>
          <p:nvPr/>
        </p:nvSpPr>
        <p:spPr>
          <a:xfrm>
            <a:off x="502920" y="1481328"/>
            <a:ext cx="457200" cy="274320"/>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In</a:t>
            </a:r>
            <a:endParaRPr lang="en-US" sz="850" dirty="0"/>
          </a:p>
        </p:txBody>
      </p:sp>
      <p:sp>
        <p:nvSpPr>
          <p:cNvPr id="11" name="Text 9"/>
          <p:cNvSpPr/>
          <p:nvPr/>
        </p:nvSpPr>
        <p:spPr>
          <a:xfrm>
            <a:off x="978408" y="1517904"/>
            <a:ext cx="228600" cy="219456"/>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1216152" y="1481328"/>
            <a:ext cx="1005840" cy="274320"/>
          </a:xfrm>
          <a:prstGeom prst="rect">
            <a:avLst/>
          </a:prstGeom>
          <a:solidFill>
            <a:srgbClr val="A7F3D0"/>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13" name="Text 11"/>
          <p:cNvSpPr/>
          <p:nvPr/>
        </p:nvSpPr>
        <p:spPr>
          <a:xfrm>
            <a:off x="1216152" y="1481328"/>
            <a:ext cx="1005840" cy="274320"/>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Orchestrator</a:t>
            </a:r>
            <a:endParaRPr lang="en-US" sz="850" dirty="0"/>
          </a:p>
        </p:txBody>
      </p:sp>
      <p:sp>
        <p:nvSpPr>
          <p:cNvPr id="14" name="Text 12"/>
          <p:cNvSpPr/>
          <p:nvPr/>
        </p:nvSpPr>
        <p:spPr>
          <a:xfrm>
            <a:off x="2468880" y="1481328"/>
            <a:ext cx="457200" cy="27432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 ⤵ ⤵</a:t>
            </a:r>
            <a:endParaRPr lang="en-US" sz="900" dirty="0"/>
          </a:p>
        </p:txBody>
      </p:sp>
      <p:sp>
        <p:nvSpPr>
          <p:cNvPr id="15" name="Shape 13"/>
          <p:cNvSpPr/>
          <p:nvPr/>
        </p:nvSpPr>
        <p:spPr>
          <a:xfrm>
            <a:off x="2971800" y="1389888"/>
            <a:ext cx="1097280" cy="256032"/>
          </a:xfrm>
          <a:prstGeom prst="rect">
            <a:avLst/>
          </a:prstGeom>
          <a:solidFill>
            <a:srgbClr val="A7F3D0"/>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16" name="Text 14"/>
          <p:cNvSpPr/>
          <p:nvPr/>
        </p:nvSpPr>
        <p:spPr>
          <a:xfrm>
            <a:off x="2971800" y="1389888"/>
            <a:ext cx="1097280" cy="256032"/>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LLM Call 1</a:t>
            </a:r>
            <a:endParaRPr lang="en-US" sz="850" dirty="0"/>
          </a:p>
        </p:txBody>
      </p:sp>
      <p:sp>
        <p:nvSpPr>
          <p:cNvPr id="17" name="Shape 15"/>
          <p:cNvSpPr/>
          <p:nvPr/>
        </p:nvSpPr>
        <p:spPr>
          <a:xfrm>
            <a:off x="2971800" y="1700784"/>
            <a:ext cx="1097280" cy="256032"/>
          </a:xfrm>
          <a:prstGeom prst="rect">
            <a:avLst/>
          </a:prstGeom>
          <a:solidFill>
            <a:srgbClr val="A7F3D0"/>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18" name="Text 16"/>
          <p:cNvSpPr/>
          <p:nvPr/>
        </p:nvSpPr>
        <p:spPr>
          <a:xfrm>
            <a:off x="2971800" y="1700784"/>
            <a:ext cx="1097280" cy="256032"/>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LLM Call 2</a:t>
            </a:r>
            <a:endParaRPr lang="en-US" sz="850" dirty="0"/>
          </a:p>
        </p:txBody>
      </p:sp>
      <p:sp>
        <p:nvSpPr>
          <p:cNvPr id="19" name="Shape 17"/>
          <p:cNvSpPr/>
          <p:nvPr/>
        </p:nvSpPr>
        <p:spPr>
          <a:xfrm>
            <a:off x="2971800" y="2011680"/>
            <a:ext cx="1097280" cy="256032"/>
          </a:xfrm>
          <a:prstGeom prst="rect">
            <a:avLst/>
          </a:prstGeom>
          <a:solidFill>
            <a:srgbClr val="A7F3D0"/>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20" name="Text 18"/>
          <p:cNvSpPr/>
          <p:nvPr/>
        </p:nvSpPr>
        <p:spPr>
          <a:xfrm>
            <a:off x="2971800" y="2011680"/>
            <a:ext cx="1097280" cy="256032"/>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LLM Call 3</a:t>
            </a:r>
            <a:endParaRPr lang="en-US" sz="850" dirty="0"/>
          </a:p>
        </p:txBody>
      </p:sp>
      <p:sp>
        <p:nvSpPr>
          <p:cNvPr id="21" name="Text 19"/>
          <p:cNvSpPr/>
          <p:nvPr/>
        </p:nvSpPr>
        <p:spPr>
          <a:xfrm>
            <a:off x="2651760" y="2331720"/>
            <a:ext cx="1737360" cy="219456"/>
          </a:xfrm>
          <a:prstGeom prst="rect">
            <a:avLst/>
          </a:prstGeom>
          <a:noFill/>
          <a:ln/>
        </p:spPr>
        <p:txBody>
          <a:bodyPr wrap="square" lIns="0" tIns="0" rIns="0" bIns="0" rtlCol="0" anchor="ctr"/>
          <a:lstStyle/>
          <a:p>
            <a:pPr indent="0" marL="0">
              <a:buNone/>
            </a:pPr>
            <a:r>
              <a:rPr lang="en-US" sz="850" b="1" dirty="0">
                <a:solidFill>
                  <a:srgbClr val="059669"/>
                </a:solidFill>
                <a:latin typeface="Calibri" pitchFamily="34" charset="0"/>
                <a:ea typeface="Calibri" pitchFamily="34" charset="-122"/>
                <a:cs typeface="Calibri" pitchFamily="34" charset="-120"/>
              </a:rPr>
              <a:t>⤷ Synthesizer → Out</a:t>
            </a:r>
            <a:endParaRPr lang="en-US" sz="850" dirty="0"/>
          </a:p>
        </p:txBody>
      </p:sp>
      <p:sp>
        <p:nvSpPr>
          <p:cNvPr id="22" name="Text 20"/>
          <p:cNvSpPr/>
          <p:nvPr/>
        </p:nvSpPr>
        <p:spPr>
          <a:xfrm>
            <a:off x="411480" y="2633472"/>
            <a:ext cx="3977640" cy="219456"/>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How it works:</a:t>
            </a:r>
            <a:endParaRPr lang="en-US" sz="1000" dirty="0"/>
          </a:p>
        </p:txBody>
      </p:sp>
      <p:sp>
        <p:nvSpPr>
          <p:cNvPr id="23" name="Text 21"/>
          <p:cNvSpPr/>
          <p:nvPr/>
        </p:nvSpPr>
        <p:spPr>
          <a:xfrm>
            <a:off x="411480" y="2862072"/>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LLM Orchestrator decides how to split the task into parallel sub-tasks</a:t>
            </a:r>
            <a:endParaRPr lang="en-US" sz="900" dirty="0"/>
          </a:p>
        </p:txBody>
      </p:sp>
      <p:sp>
        <p:nvSpPr>
          <p:cNvPr id="24" name="Text 22"/>
          <p:cNvSpPr/>
          <p:nvPr/>
        </p:nvSpPr>
        <p:spPr>
          <a:xfrm>
            <a:off x="411480" y="3108960"/>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Each sub-task is handled by a specialised LLM Worker</a:t>
            </a:r>
            <a:endParaRPr lang="en-US" sz="900" dirty="0"/>
          </a:p>
        </p:txBody>
      </p:sp>
      <p:sp>
        <p:nvSpPr>
          <p:cNvPr id="25" name="Text 23"/>
          <p:cNvSpPr/>
          <p:nvPr/>
        </p:nvSpPr>
        <p:spPr>
          <a:xfrm>
            <a:off x="411480" y="3355848"/>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Real example: Research Assistant — query → Google Scholar, PubMed, Web Search all at once</a:t>
            </a:r>
            <a:endParaRPr lang="en-US" sz="900" dirty="0"/>
          </a:p>
        </p:txBody>
      </p:sp>
      <p:sp>
        <p:nvSpPr>
          <p:cNvPr id="26" name="Text 24"/>
          <p:cNvSpPr/>
          <p:nvPr/>
        </p:nvSpPr>
        <p:spPr>
          <a:xfrm>
            <a:off x="411480" y="3602736"/>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Synthesizer combines all worker outputs into a final answer</a:t>
            </a:r>
            <a:endParaRPr lang="en-US" sz="900" dirty="0"/>
          </a:p>
        </p:txBody>
      </p:sp>
      <p:sp>
        <p:nvSpPr>
          <p:cNvPr id="27" name="Shape 25"/>
          <p:cNvSpPr/>
          <p:nvPr/>
        </p:nvSpPr>
        <p:spPr>
          <a:xfrm>
            <a:off x="4663440" y="1115568"/>
            <a:ext cx="4160520" cy="2926080"/>
          </a:xfrm>
          <a:prstGeom prst="rect">
            <a:avLst/>
          </a:prstGeom>
          <a:solidFill>
            <a:srgbClr val="FFFBEB"/>
          </a:solidFill>
          <a:ln w="12700">
            <a:solidFill>
              <a:srgbClr val="F59E0B"/>
            </a:solidFill>
            <a:prstDash val="solid"/>
          </a:ln>
        </p:spPr>
      </p:sp>
      <p:sp>
        <p:nvSpPr>
          <p:cNvPr id="28" name="Shape 26"/>
          <p:cNvSpPr/>
          <p:nvPr/>
        </p:nvSpPr>
        <p:spPr>
          <a:xfrm>
            <a:off x="4663440" y="1115568"/>
            <a:ext cx="4160520" cy="274320"/>
          </a:xfrm>
          <a:prstGeom prst="rect">
            <a:avLst/>
          </a:prstGeom>
          <a:solidFill>
            <a:srgbClr val="F59E0B"/>
          </a:solidFill>
          <a:ln w="12700">
            <a:solidFill>
              <a:srgbClr val="F59E0B"/>
            </a:solidFill>
            <a:prstDash val="solid"/>
          </a:ln>
        </p:spPr>
      </p:sp>
      <p:sp>
        <p:nvSpPr>
          <p:cNvPr id="29" name="Text 27"/>
          <p:cNvSpPr/>
          <p:nvPr/>
        </p:nvSpPr>
        <p:spPr>
          <a:xfrm>
            <a:off x="4754880" y="1115568"/>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Evaluator Optimizer</a:t>
            </a:r>
            <a:endParaRPr lang="en-US" sz="1050" dirty="0"/>
          </a:p>
        </p:txBody>
      </p:sp>
      <p:sp>
        <p:nvSpPr>
          <p:cNvPr id="30" name="Shape 28"/>
          <p:cNvSpPr/>
          <p:nvPr/>
        </p:nvSpPr>
        <p:spPr>
          <a:xfrm>
            <a:off x="4800600" y="1481328"/>
            <a:ext cx="411480" cy="274320"/>
          </a:xfrm>
          <a:prstGeom prst="rect">
            <a:avLst/>
          </a:prstGeom>
          <a:solidFill>
            <a:srgbClr val="FDE68A"/>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31" name="Text 29"/>
          <p:cNvSpPr/>
          <p:nvPr/>
        </p:nvSpPr>
        <p:spPr>
          <a:xfrm>
            <a:off x="4800600" y="1481328"/>
            <a:ext cx="411480" cy="274320"/>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In</a:t>
            </a:r>
            <a:endParaRPr lang="en-US" sz="850" dirty="0"/>
          </a:p>
        </p:txBody>
      </p:sp>
      <p:sp>
        <p:nvSpPr>
          <p:cNvPr id="32" name="Text 30"/>
          <p:cNvSpPr/>
          <p:nvPr/>
        </p:nvSpPr>
        <p:spPr>
          <a:xfrm>
            <a:off x="5230368" y="1517904"/>
            <a:ext cx="228600" cy="219456"/>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468112" y="1417320"/>
            <a:ext cx="1051560" cy="384048"/>
          </a:xfrm>
          <a:prstGeom prst="rect">
            <a:avLst/>
          </a:prstGeom>
          <a:solidFill>
            <a:srgbClr val="FDE68A"/>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34" name="Text 32"/>
          <p:cNvSpPr/>
          <p:nvPr/>
        </p:nvSpPr>
        <p:spPr>
          <a:xfrm>
            <a:off x="5468112" y="1417320"/>
            <a:ext cx="1051560" cy="384048"/>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LLM Call</a:t>
            </a:r>
            <a:endParaRPr lang="en-US" sz="850" dirty="0"/>
          </a:p>
          <a:p>
            <a:pPr algn="ctr" indent="0" marL="0">
              <a:buNone/>
            </a:pPr>
            <a:r>
              <a:rPr lang="en-US" sz="850" b="1" dirty="0">
                <a:solidFill>
                  <a:srgbClr val="713F12"/>
                </a:solidFill>
                <a:latin typeface="Calibri" pitchFamily="34" charset="0"/>
                <a:ea typeface="Calibri" pitchFamily="34" charset="-122"/>
                <a:cs typeface="Calibri" pitchFamily="34" charset="-120"/>
              </a:rPr>
              <a:t>Generator</a:t>
            </a:r>
            <a:endParaRPr lang="en-US" sz="850" dirty="0"/>
          </a:p>
        </p:txBody>
      </p:sp>
      <p:sp>
        <p:nvSpPr>
          <p:cNvPr id="35" name="Text 33"/>
          <p:cNvSpPr/>
          <p:nvPr/>
        </p:nvSpPr>
        <p:spPr>
          <a:xfrm>
            <a:off x="5852160" y="1828800"/>
            <a:ext cx="1097280" cy="219456"/>
          </a:xfrm>
          <a:prstGeom prst="rect">
            <a:avLst/>
          </a:prstGeom>
          <a:noFill/>
          <a:ln/>
        </p:spPr>
        <p:txBody>
          <a:bodyPr wrap="square" lIns="0" tIns="0" rIns="0" bIns="0" rtlCol="0" anchor="ctr"/>
          <a:lstStyle/>
          <a:p>
            <a:pPr algn="ctr" indent="0" marL="0">
              <a:buNone/>
            </a:pPr>
            <a:r>
              <a:rPr lang="en-US" sz="800" dirty="0">
                <a:solidFill>
                  <a:srgbClr val="F59E0B"/>
                </a:solidFill>
                <a:latin typeface="Calibri" pitchFamily="34" charset="0"/>
                <a:ea typeface="Calibri" pitchFamily="34" charset="-122"/>
                <a:cs typeface="Calibri" pitchFamily="34" charset="-120"/>
              </a:rPr>
              <a:t>↓ Solution</a:t>
            </a:r>
            <a:endParaRPr lang="en-US" sz="800" dirty="0"/>
          </a:p>
        </p:txBody>
      </p:sp>
      <p:sp>
        <p:nvSpPr>
          <p:cNvPr id="36" name="Shape 34"/>
          <p:cNvSpPr/>
          <p:nvPr/>
        </p:nvSpPr>
        <p:spPr>
          <a:xfrm>
            <a:off x="6949440" y="1417320"/>
            <a:ext cx="1051560" cy="384048"/>
          </a:xfrm>
          <a:prstGeom prst="rect">
            <a:avLst/>
          </a:prstGeom>
          <a:solidFill>
            <a:srgbClr val="FDE68A"/>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37" name="Text 35"/>
          <p:cNvSpPr/>
          <p:nvPr/>
        </p:nvSpPr>
        <p:spPr>
          <a:xfrm>
            <a:off x="6949440" y="1417320"/>
            <a:ext cx="1051560" cy="384048"/>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LLM Call</a:t>
            </a:r>
            <a:endParaRPr lang="en-US" sz="850" dirty="0"/>
          </a:p>
          <a:p>
            <a:pPr algn="ctr" indent="0" marL="0">
              <a:buNone/>
            </a:pPr>
            <a:r>
              <a:rPr lang="en-US" sz="850" b="1" dirty="0">
                <a:solidFill>
                  <a:srgbClr val="713F12"/>
                </a:solidFill>
                <a:latin typeface="Calibri" pitchFamily="34" charset="0"/>
                <a:ea typeface="Calibri" pitchFamily="34" charset="-122"/>
                <a:cs typeface="Calibri" pitchFamily="34" charset="-120"/>
              </a:rPr>
              <a:t>Evaluator</a:t>
            </a:r>
            <a:endParaRPr lang="en-US" sz="850" dirty="0"/>
          </a:p>
        </p:txBody>
      </p:sp>
      <p:sp>
        <p:nvSpPr>
          <p:cNvPr id="38" name="Text 36"/>
          <p:cNvSpPr/>
          <p:nvPr/>
        </p:nvSpPr>
        <p:spPr>
          <a:xfrm>
            <a:off x="8028432" y="1517904"/>
            <a:ext cx="713232" cy="256032"/>
          </a:xfrm>
          <a:prstGeom prst="rect">
            <a:avLst/>
          </a:prstGeom>
          <a:noFill/>
          <a:ln/>
        </p:spPr>
        <p:txBody>
          <a:bodyPr wrap="square" lIns="0" tIns="0" rIns="0" bIns="0" rtlCol="0" anchor="ctr"/>
          <a:lstStyle/>
          <a:p>
            <a:pPr indent="0" marL="0">
              <a:buNone/>
            </a:pPr>
            <a:r>
              <a:rPr lang="en-US" sz="750" b="1" dirty="0">
                <a:solidFill>
                  <a:srgbClr val="059669"/>
                </a:solidFill>
                <a:latin typeface="Calibri" pitchFamily="34" charset="0"/>
                <a:ea typeface="Calibri" pitchFamily="34" charset="-122"/>
                <a:cs typeface="Calibri" pitchFamily="34" charset="-120"/>
              </a:rPr>
              <a:t>→ Accepted → Out</a:t>
            </a:r>
            <a:endParaRPr lang="en-US" sz="750" dirty="0"/>
          </a:p>
        </p:txBody>
      </p:sp>
      <p:sp>
        <p:nvSpPr>
          <p:cNvPr id="39" name="Text 37"/>
          <p:cNvSpPr/>
          <p:nvPr/>
        </p:nvSpPr>
        <p:spPr>
          <a:xfrm>
            <a:off x="6217920" y="2057400"/>
            <a:ext cx="1097280" cy="329184"/>
          </a:xfrm>
          <a:prstGeom prst="rect">
            <a:avLst/>
          </a:prstGeom>
          <a:noFill/>
          <a:ln/>
        </p:spPr>
        <p:txBody>
          <a:bodyPr wrap="square" lIns="0" tIns="0" rIns="0" bIns="0" rtlCol="0" anchor="ctr"/>
          <a:lstStyle/>
          <a:p>
            <a:pPr algn="ctr" indent="0" marL="0">
              <a:buNone/>
            </a:pPr>
            <a:r>
              <a:rPr lang="en-US" sz="800" dirty="0">
                <a:solidFill>
                  <a:srgbClr val="DC2626"/>
                </a:solidFill>
                <a:latin typeface="Calibri" pitchFamily="34" charset="0"/>
                <a:ea typeface="Calibri" pitchFamily="34" charset="-122"/>
                <a:cs typeface="Calibri" pitchFamily="34" charset="-120"/>
              </a:rPr>
              <a:t>↙ Rejected</a:t>
            </a:r>
            <a:endParaRPr lang="en-US" sz="800" dirty="0"/>
          </a:p>
          <a:p>
            <a:pPr algn="ctr" indent="0" marL="0">
              <a:buNone/>
            </a:pPr>
            <a:r>
              <a:rPr lang="en-US" sz="800" dirty="0">
                <a:solidFill>
                  <a:srgbClr val="DC2626"/>
                </a:solidFill>
                <a:latin typeface="Calibri" pitchFamily="34" charset="0"/>
                <a:ea typeface="Calibri" pitchFamily="34" charset="-122"/>
                <a:cs typeface="Calibri" pitchFamily="34" charset="-120"/>
              </a:rPr>
              <a:t>+ Feedback</a:t>
            </a:r>
            <a:endParaRPr lang="en-US" sz="800" dirty="0"/>
          </a:p>
        </p:txBody>
      </p:sp>
      <p:sp>
        <p:nvSpPr>
          <p:cNvPr id="40" name="Text 38"/>
          <p:cNvSpPr/>
          <p:nvPr/>
        </p:nvSpPr>
        <p:spPr>
          <a:xfrm>
            <a:off x="4754880" y="2487168"/>
            <a:ext cx="3977640" cy="219456"/>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How it works:</a:t>
            </a:r>
            <a:endParaRPr lang="en-US" sz="1000" dirty="0"/>
          </a:p>
        </p:txBody>
      </p:sp>
      <p:sp>
        <p:nvSpPr>
          <p:cNvPr id="41" name="Text 39"/>
          <p:cNvSpPr/>
          <p:nvPr/>
        </p:nvSpPr>
        <p:spPr>
          <a:xfrm>
            <a:off x="4754880" y="2724912"/>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Generator produces a first attempt (email draft, blog post, code)</a:t>
            </a:r>
            <a:endParaRPr lang="en-US" sz="900" dirty="0"/>
          </a:p>
        </p:txBody>
      </p:sp>
      <p:sp>
        <p:nvSpPr>
          <p:cNvPr id="42" name="Text 40"/>
          <p:cNvSpPr/>
          <p:nvPr/>
        </p:nvSpPr>
        <p:spPr>
          <a:xfrm>
            <a:off x="4754880" y="2971800"/>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Evaluator critiques it: accepted → output; rejected → send feedback back</a:t>
            </a:r>
            <a:endParaRPr lang="en-US" sz="900" dirty="0"/>
          </a:p>
        </p:txBody>
      </p:sp>
      <p:sp>
        <p:nvSpPr>
          <p:cNvPr id="43" name="Text 41"/>
          <p:cNvSpPr/>
          <p:nvPr/>
        </p:nvSpPr>
        <p:spPr>
          <a:xfrm>
            <a:off x="4754880" y="3218688"/>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Generator improves and re-submits — the loop repeats until accepted</a:t>
            </a:r>
            <a:endParaRPr lang="en-US" sz="900" dirty="0"/>
          </a:p>
        </p:txBody>
      </p:sp>
      <p:sp>
        <p:nvSpPr>
          <p:cNvPr id="44" name="Text 42"/>
          <p:cNvSpPr/>
          <p:nvPr/>
        </p:nvSpPr>
        <p:spPr>
          <a:xfrm>
            <a:off x="4754880" y="3465576"/>
            <a:ext cx="393192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Examples: email drafting, blog writing, tweet generation, code review</a:t>
            </a:r>
            <a:endParaRPr lang="en-US" sz="900" dirty="0"/>
          </a:p>
        </p:txBody>
      </p:sp>
      <p:sp>
        <p:nvSpPr>
          <p:cNvPr id="45" name="Shape 43"/>
          <p:cNvSpPr/>
          <p:nvPr/>
        </p:nvSpPr>
        <p:spPr>
          <a:xfrm>
            <a:off x="320040" y="4133088"/>
            <a:ext cx="8503920" cy="402336"/>
          </a:xfrm>
          <a:prstGeom prst="rect">
            <a:avLst/>
          </a:prstGeom>
          <a:solidFill>
            <a:srgbClr val="FFFBEB"/>
          </a:solidFill>
          <a:ln w="12700">
            <a:solidFill>
              <a:srgbClr val="F59E0B"/>
            </a:solidFill>
            <a:prstDash val="solid"/>
          </a:ln>
        </p:spPr>
      </p:sp>
      <p:sp>
        <p:nvSpPr>
          <p:cNvPr id="46" name="Text 44"/>
          <p:cNvSpPr/>
          <p:nvPr/>
        </p:nvSpPr>
        <p:spPr>
          <a:xfrm>
            <a:off x="411480" y="4178808"/>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Evaluator Optimizer = the loop pattern. This is what makes LangGraph different — it supports cycles, not just linear chains.</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7C3AED"/>
          </a:solidFill>
          <a:ln w="12700">
            <a:solidFill>
              <a:srgbClr val="7C3AED"/>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Graphs, Nodes and Edges</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The three building blocks of every LangGraph workflow</a:t>
            </a:r>
            <a:endParaRPr lang="en-US" sz="1050" dirty="0"/>
          </a:p>
        </p:txBody>
      </p:sp>
      <p:sp>
        <p:nvSpPr>
          <p:cNvPr id="6" name="Shape 4"/>
          <p:cNvSpPr/>
          <p:nvPr/>
        </p:nvSpPr>
        <p:spPr>
          <a:xfrm>
            <a:off x="320040" y="1115568"/>
            <a:ext cx="8503920" cy="1170432"/>
          </a:xfrm>
          <a:prstGeom prst="rect">
            <a:avLst/>
          </a:prstGeom>
          <a:solidFill>
            <a:srgbClr val="F5F3FF"/>
          </a:solidFill>
          <a:ln w="12700">
            <a:solidFill>
              <a:srgbClr val="7C3AED"/>
            </a:solidFill>
            <a:prstDash val="solid"/>
          </a:ln>
        </p:spPr>
      </p:sp>
      <p:sp>
        <p:nvSpPr>
          <p:cNvPr id="7" name="Shape 5"/>
          <p:cNvSpPr/>
          <p:nvPr/>
        </p:nvSpPr>
        <p:spPr>
          <a:xfrm>
            <a:off x="320040" y="1115568"/>
            <a:ext cx="64008" cy="1170432"/>
          </a:xfrm>
          <a:prstGeom prst="rect">
            <a:avLst/>
          </a:prstGeom>
          <a:solidFill>
            <a:srgbClr val="7C3AED"/>
          </a:solidFill>
          <a:ln w="12700">
            <a:solidFill>
              <a:srgbClr val="7C3AED"/>
            </a:solidFill>
            <a:prstDash val="solid"/>
          </a:ln>
        </p:spPr>
      </p:sp>
      <p:sp>
        <p:nvSpPr>
          <p:cNvPr id="8" name="Text 6"/>
          <p:cNvSpPr/>
          <p:nvPr/>
        </p:nvSpPr>
        <p:spPr>
          <a:xfrm>
            <a:off x="475488" y="1170432"/>
            <a:ext cx="182880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  Graph</a:t>
            </a:r>
            <a:endParaRPr lang="en-US" sz="1200" dirty="0"/>
          </a:p>
        </p:txBody>
      </p:sp>
      <p:sp>
        <p:nvSpPr>
          <p:cNvPr id="9" name="Text 7"/>
          <p:cNvSpPr/>
          <p:nvPr/>
        </p:nvSpPr>
        <p:spPr>
          <a:xfrm>
            <a:off x="475488" y="1463040"/>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A StateGraph is the container for your entire workflow</a:t>
            </a:r>
            <a:endParaRPr lang="en-US" sz="950" dirty="0"/>
          </a:p>
        </p:txBody>
      </p:sp>
      <p:sp>
        <p:nvSpPr>
          <p:cNvPr id="10" name="Text 8"/>
          <p:cNvSpPr/>
          <p:nvPr/>
        </p:nvSpPr>
        <p:spPr>
          <a:xfrm>
            <a:off x="475488" y="1664208"/>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You define the state schema, add nodes and edges, then compile it</a:t>
            </a:r>
            <a:endParaRPr lang="en-US" sz="950" dirty="0"/>
          </a:p>
        </p:txBody>
      </p:sp>
      <p:sp>
        <p:nvSpPr>
          <p:cNvPr id="11" name="Text 9"/>
          <p:cNvSpPr/>
          <p:nvPr/>
        </p:nvSpPr>
        <p:spPr>
          <a:xfrm>
            <a:off x="475488" y="1865376"/>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Calling .compile() validates the structure and prepares it for execution</a:t>
            </a:r>
            <a:endParaRPr lang="en-US" sz="950" dirty="0"/>
          </a:p>
        </p:txBody>
      </p:sp>
      <p:sp>
        <p:nvSpPr>
          <p:cNvPr id="12" name="Text 10"/>
          <p:cNvSpPr/>
          <p:nvPr/>
        </p:nvSpPr>
        <p:spPr>
          <a:xfrm>
            <a:off x="475488" y="2066544"/>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The graph runs using .invoke(initial_state)</a:t>
            </a:r>
            <a:endParaRPr lang="en-US" sz="950" dirty="0"/>
          </a:p>
        </p:txBody>
      </p:sp>
      <p:sp>
        <p:nvSpPr>
          <p:cNvPr id="13" name="Shape 11"/>
          <p:cNvSpPr/>
          <p:nvPr/>
        </p:nvSpPr>
        <p:spPr>
          <a:xfrm>
            <a:off x="320040" y="2377440"/>
            <a:ext cx="8503920" cy="1170432"/>
          </a:xfrm>
          <a:prstGeom prst="rect">
            <a:avLst/>
          </a:prstGeom>
          <a:solidFill>
            <a:srgbClr val="F0FDF4"/>
          </a:solidFill>
          <a:ln w="12700">
            <a:solidFill>
              <a:srgbClr val="0D9488"/>
            </a:solidFill>
            <a:prstDash val="solid"/>
          </a:ln>
        </p:spPr>
      </p:sp>
      <p:sp>
        <p:nvSpPr>
          <p:cNvPr id="14" name="Shape 12"/>
          <p:cNvSpPr/>
          <p:nvPr/>
        </p:nvSpPr>
        <p:spPr>
          <a:xfrm>
            <a:off x="320040" y="2377440"/>
            <a:ext cx="64008" cy="1170432"/>
          </a:xfrm>
          <a:prstGeom prst="rect">
            <a:avLst/>
          </a:prstGeom>
          <a:solidFill>
            <a:srgbClr val="0D9488"/>
          </a:solidFill>
          <a:ln w="12700">
            <a:solidFill>
              <a:srgbClr val="0D9488"/>
            </a:solidFill>
            <a:prstDash val="solid"/>
          </a:ln>
        </p:spPr>
      </p:sp>
      <p:sp>
        <p:nvSpPr>
          <p:cNvPr id="15" name="Text 13"/>
          <p:cNvSpPr/>
          <p:nvPr/>
        </p:nvSpPr>
        <p:spPr>
          <a:xfrm>
            <a:off x="475488" y="2432304"/>
            <a:ext cx="1828800" cy="256032"/>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  Nodes</a:t>
            </a:r>
            <a:endParaRPr lang="en-US" sz="1200" dirty="0"/>
          </a:p>
        </p:txBody>
      </p:sp>
      <p:sp>
        <p:nvSpPr>
          <p:cNvPr id="16" name="Text 14"/>
          <p:cNvSpPr/>
          <p:nvPr/>
        </p:nvSpPr>
        <p:spPr>
          <a:xfrm>
            <a:off x="475488" y="2724912"/>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Nodes are plain Python functions that perform a single task</a:t>
            </a:r>
            <a:endParaRPr lang="en-US" sz="950" dirty="0"/>
          </a:p>
        </p:txBody>
      </p:sp>
      <p:sp>
        <p:nvSpPr>
          <p:cNvPr id="17" name="Text 15"/>
          <p:cNvSpPr/>
          <p:nvPr/>
        </p:nvSpPr>
        <p:spPr>
          <a:xfrm>
            <a:off x="475488" y="2926080"/>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Each node receives the current state, does its work, returns updates</a:t>
            </a:r>
            <a:endParaRPr lang="en-US" sz="950" dirty="0"/>
          </a:p>
        </p:txBody>
      </p:sp>
      <p:sp>
        <p:nvSpPr>
          <p:cNvPr id="18" name="Text 16"/>
          <p:cNvSpPr/>
          <p:nvPr/>
        </p:nvSpPr>
        <p:spPr>
          <a:xfrm>
            <a:off x="475488" y="3127248"/>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Examples: GenerateTopic, WriteEssay, EvaluateDepth, FinalEvaluation</a:t>
            </a:r>
            <a:endParaRPr lang="en-US" sz="950" dirty="0"/>
          </a:p>
        </p:txBody>
      </p:sp>
      <p:sp>
        <p:nvSpPr>
          <p:cNvPr id="19" name="Text 17"/>
          <p:cNvSpPr/>
          <p:nvPr/>
        </p:nvSpPr>
        <p:spPr>
          <a:xfrm>
            <a:off x="475488" y="3328416"/>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Nodes are registered with graph.add_node('name', function)</a:t>
            </a:r>
            <a:endParaRPr lang="en-US" sz="950" dirty="0"/>
          </a:p>
        </p:txBody>
      </p:sp>
      <p:sp>
        <p:nvSpPr>
          <p:cNvPr id="20" name="Shape 18"/>
          <p:cNvSpPr/>
          <p:nvPr/>
        </p:nvSpPr>
        <p:spPr>
          <a:xfrm>
            <a:off x="320040" y="3639312"/>
            <a:ext cx="8503920" cy="1170432"/>
          </a:xfrm>
          <a:prstGeom prst="rect">
            <a:avLst/>
          </a:prstGeom>
          <a:solidFill>
            <a:srgbClr val="EFF6FF"/>
          </a:solidFill>
          <a:ln w="12700">
            <a:solidFill>
              <a:srgbClr val="2563EB"/>
            </a:solidFill>
            <a:prstDash val="solid"/>
          </a:ln>
        </p:spPr>
      </p:sp>
      <p:sp>
        <p:nvSpPr>
          <p:cNvPr id="21" name="Shape 19"/>
          <p:cNvSpPr/>
          <p:nvPr/>
        </p:nvSpPr>
        <p:spPr>
          <a:xfrm>
            <a:off x="320040" y="3639312"/>
            <a:ext cx="64008" cy="1170432"/>
          </a:xfrm>
          <a:prstGeom prst="rect">
            <a:avLst/>
          </a:prstGeom>
          <a:solidFill>
            <a:srgbClr val="2563EB"/>
          </a:solidFill>
          <a:ln w="12700">
            <a:solidFill>
              <a:srgbClr val="2563EB"/>
            </a:solidFill>
            <a:prstDash val="solid"/>
          </a:ln>
        </p:spPr>
      </p:sp>
      <p:sp>
        <p:nvSpPr>
          <p:cNvPr id="22" name="Text 20"/>
          <p:cNvSpPr/>
          <p:nvPr/>
        </p:nvSpPr>
        <p:spPr>
          <a:xfrm>
            <a:off x="475488" y="3694176"/>
            <a:ext cx="1828800" cy="256032"/>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  Edges</a:t>
            </a:r>
            <a:endParaRPr lang="en-US" sz="1200" dirty="0"/>
          </a:p>
        </p:txBody>
      </p:sp>
      <p:sp>
        <p:nvSpPr>
          <p:cNvPr id="23" name="Text 21"/>
          <p:cNvSpPr/>
          <p:nvPr/>
        </p:nvSpPr>
        <p:spPr>
          <a:xfrm>
            <a:off x="475488" y="3986784"/>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Edges define which node runs after which</a:t>
            </a:r>
            <a:endParaRPr lang="en-US" sz="950" dirty="0"/>
          </a:p>
        </p:txBody>
      </p:sp>
      <p:sp>
        <p:nvSpPr>
          <p:cNvPr id="24" name="Text 22"/>
          <p:cNvSpPr/>
          <p:nvPr/>
        </p:nvSpPr>
        <p:spPr>
          <a:xfrm>
            <a:off x="475488" y="4187952"/>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Normal edge: graph.add_edge('node_a', 'node_b')</a:t>
            </a:r>
            <a:endParaRPr lang="en-US" sz="950" dirty="0"/>
          </a:p>
        </p:txBody>
      </p:sp>
      <p:sp>
        <p:nvSpPr>
          <p:cNvPr id="25" name="Text 23"/>
          <p:cNvSpPr/>
          <p:nvPr/>
        </p:nvSpPr>
        <p:spPr>
          <a:xfrm>
            <a:off x="475488" y="4389120"/>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Conditional edge: graph.add_conditional_edges('node', router_fn) — the router function returns the name of the next node</a:t>
            </a:r>
            <a:endParaRPr lang="en-US" sz="950" dirty="0"/>
          </a:p>
        </p:txBody>
      </p:sp>
      <p:sp>
        <p:nvSpPr>
          <p:cNvPr id="26" name="Text 24"/>
          <p:cNvSpPr/>
          <p:nvPr/>
        </p:nvSpPr>
        <p:spPr>
          <a:xfrm>
            <a:off x="475488" y="4590288"/>
            <a:ext cx="8229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START and END are special built-in nodes</a:t>
            </a:r>
            <a:endParaRPr lang="en-US" sz="950" dirty="0"/>
          </a:p>
        </p:txBody>
      </p:sp>
      <p:sp>
        <p:nvSpPr>
          <p:cNvPr id="27" name="Shape 25"/>
          <p:cNvSpPr/>
          <p:nvPr/>
        </p:nvSpPr>
        <p:spPr>
          <a:xfrm>
            <a:off x="320040" y="4919472"/>
            <a:ext cx="8503920" cy="402336"/>
          </a:xfrm>
          <a:prstGeom prst="rect">
            <a:avLst/>
          </a:prstGeom>
          <a:solidFill>
            <a:srgbClr val="F5F3FF"/>
          </a:solidFill>
          <a:ln w="12700">
            <a:solidFill>
              <a:srgbClr val="7C3AED"/>
            </a:solidFill>
            <a:prstDash val="solid"/>
          </a:ln>
        </p:spPr>
      </p:sp>
      <p:sp>
        <p:nvSpPr>
          <p:cNvPr id="28" name="Text 26"/>
          <p:cNvSpPr/>
          <p:nvPr/>
        </p:nvSpPr>
        <p:spPr>
          <a:xfrm>
            <a:off x="411480" y="4965192"/>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From notes: The UPSC essay workflow has 8 nodes — GenerateTopic, WriteEssay, EvaluateDepth, EvaluateLanguage, EvaluateClarity, AggregateResults, ConditionalRouting, ShowSuccess/GiveFeedback.</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F59E0B"/>
          </a:solidFill>
          <a:ln w="12700">
            <a:solidFill>
              <a:srgbClr val="F59E0B"/>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Real Example — UPSC Essay Evaluation Workflow</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From your notes: combines parallelism, conditional routing, and looping in one graph</a:t>
            </a:r>
            <a:endParaRPr lang="en-US" sz="1050" dirty="0"/>
          </a:p>
        </p:txBody>
      </p:sp>
      <p:sp>
        <p:nvSpPr>
          <p:cNvPr id="6" name="Text 4"/>
          <p:cNvSpPr/>
          <p:nvPr/>
        </p:nvSpPr>
        <p:spPr>
          <a:xfrm>
            <a:off x="347472" y="1115568"/>
            <a:ext cx="8412480" cy="384048"/>
          </a:xfrm>
          <a:prstGeom prst="rect">
            <a:avLst/>
          </a:prstGeom>
          <a:noFill/>
          <a:ln/>
        </p:spPr>
        <p:txBody>
          <a:bodyPr wrap="square" lIns="0" tIns="0" rIns="0" bIns="0" rtlCol="0" anchor="ctr"/>
          <a:lstStyle/>
          <a:p>
            <a:pPr indent="0" marL="0">
              <a:buNone/>
            </a:pPr>
            <a:r>
              <a:rPr lang="en-US" sz="1050" i="1" dirty="0">
                <a:solidFill>
                  <a:srgbClr val="475569"/>
                </a:solidFill>
                <a:latin typeface="Calibri" pitchFamily="34" charset="0"/>
                <a:ea typeface="Calibri" pitchFamily="34" charset="-122"/>
                <a:cs typeface="Calibri" pitchFamily="34" charset="-120"/>
              </a:rPr>
              <a:t>The system generates a UPSC topic, collects the student's essay, evaluates it in parallel on depth, language and clarity, then routes to success or improvement feedback.</a:t>
            </a:r>
            <a:endParaRPr lang="en-US" sz="1050" dirty="0"/>
          </a:p>
        </p:txBody>
      </p:sp>
      <p:sp>
        <p:nvSpPr>
          <p:cNvPr id="7" name="Shape 5"/>
          <p:cNvSpPr/>
          <p:nvPr/>
        </p:nvSpPr>
        <p:spPr>
          <a:xfrm>
            <a:off x="3749040" y="1600200"/>
            <a:ext cx="1645920" cy="402336"/>
          </a:xfrm>
          <a:prstGeom prst="rect">
            <a:avLst/>
          </a:prstGeom>
          <a:solidFill>
            <a:srgbClr val="FEF9C3"/>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8" name="Text 6"/>
          <p:cNvSpPr/>
          <p:nvPr/>
        </p:nvSpPr>
        <p:spPr>
          <a:xfrm>
            <a:off x="3749040" y="1600200"/>
            <a:ext cx="1645920" cy="402336"/>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Generate</a:t>
            </a:r>
            <a:endParaRPr lang="en-US" sz="850" dirty="0"/>
          </a:p>
          <a:p>
            <a:pPr algn="ctr" indent="0" marL="0">
              <a:buNone/>
            </a:pPr>
            <a:r>
              <a:rPr lang="en-US" sz="850" b="1" dirty="0">
                <a:solidFill>
                  <a:srgbClr val="713F12"/>
                </a:solidFill>
                <a:latin typeface="Calibri" pitchFamily="34" charset="0"/>
                <a:ea typeface="Calibri" pitchFamily="34" charset="-122"/>
                <a:cs typeface="Calibri" pitchFamily="34" charset="-120"/>
              </a:rPr>
              <a:t>Topic</a:t>
            </a:r>
            <a:endParaRPr lang="en-US" sz="850" dirty="0"/>
          </a:p>
        </p:txBody>
      </p:sp>
      <p:sp>
        <p:nvSpPr>
          <p:cNvPr id="9" name="Text 7"/>
          <p:cNvSpPr/>
          <p:nvPr/>
        </p:nvSpPr>
        <p:spPr>
          <a:xfrm>
            <a:off x="4343400" y="2020824"/>
            <a:ext cx="457200" cy="18288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3749040" y="2103120"/>
            <a:ext cx="1645920" cy="292608"/>
          </a:xfrm>
          <a:prstGeom prst="rect">
            <a:avLst/>
          </a:prstGeom>
          <a:solidFill>
            <a:srgbClr val="FEF9C3"/>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11" name="Text 9"/>
          <p:cNvSpPr/>
          <p:nvPr/>
        </p:nvSpPr>
        <p:spPr>
          <a:xfrm>
            <a:off x="3749040" y="2103120"/>
            <a:ext cx="1645920" cy="292608"/>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Write Essay</a:t>
            </a:r>
            <a:endParaRPr lang="en-US" sz="850" dirty="0"/>
          </a:p>
        </p:txBody>
      </p:sp>
      <p:sp>
        <p:nvSpPr>
          <p:cNvPr id="12" name="Text 10"/>
          <p:cNvSpPr/>
          <p:nvPr/>
        </p:nvSpPr>
        <p:spPr>
          <a:xfrm>
            <a:off x="3200400" y="2450592"/>
            <a:ext cx="2743200" cy="237744"/>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  ↓  ↘</a:t>
            </a:r>
            <a:endParaRPr lang="en-US" sz="1200" dirty="0"/>
          </a:p>
        </p:txBody>
      </p:sp>
      <p:sp>
        <p:nvSpPr>
          <p:cNvPr id="13" name="Shape 11"/>
          <p:cNvSpPr/>
          <p:nvPr/>
        </p:nvSpPr>
        <p:spPr>
          <a:xfrm>
            <a:off x="1737360" y="2697480"/>
            <a:ext cx="1417320" cy="402336"/>
          </a:xfrm>
          <a:prstGeom prst="rect">
            <a:avLst/>
          </a:prstGeom>
          <a:solidFill>
            <a:srgbClr val="A7F3D0"/>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14" name="Text 12"/>
          <p:cNvSpPr/>
          <p:nvPr/>
        </p:nvSpPr>
        <p:spPr>
          <a:xfrm>
            <a:off x="1737360" y="2697480"/>
            <a:ext cx="1417320" cy="402336"/>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Clarity</a:t>
            </a:r>
            <a:endParaRPr lang="en-US" sz="850" dirty="0"/>
          </a:p>
          <a:p>
            <a:pPr algn="ctr" indent="0" marL="0">
              <a:buNone/>
            </a:pPr>
            <a:r>
              <a:rPr lang="en-US" sz="850" b="1" dirty="0">
                <a:solidFill>
                  <a:srgbClr val="065F46"/>
                </a:solidFill>
                <a:latin typeface="Calibri" pitchFamily="34" charset="0"/>
                <a:ea typeface="Calibri" pitchFamily="34" charset="-122"/>
                <a:cs typeface="Calibri" pitchFamily="34" charset="-120"/>
              </a:rPr>
              <a:t>of Thought</a:t>
            </a:r>
            <a:endParaRPr lang="en-US" sz="850" dirty="0"/>
          </a:p>
        </p:txBody>
      </p:sp>
      <p:sp>
        <p:nvSpPr>
          <p:cNvPr id="15" name="Text 13"/>
          <p:cNvSpPr/>
          <p:nvPr/>
        </p:nvSpPr>
        <p:spPr>
          <a:xfrm>
            <a:off x="2148840" y="3136392"/>
            <a:ext cx="594360" cy="182880"/>
          </a:xfrm>
          <a:prstGeom prst="rect">
            <a:avLst/>
          </a:prstGeom>
          <a:noFill/>
          <a:ln/>
        </p:spPr>
        <p:txBody>
          <a:bodyPr wrap="square" lIns="0" tIns="0" rIns="0" bIns="0"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(5)</a:t>
            </a:r>
            <a:endParaRPr lang="en-US" sz="900" dirty="0"/>
          </a:p>
        </p:txBody>
      </p:sp>
      <p:sp>
        <p:nvSpPr>
          <p:cNvPr id="16" name="Shape 14"/>
          <p:cNvSpPr/>
          <p:nvPr/>
        </p:nvSpPr>
        <p:spPr>
          <a:xfrm>
            <a:off x="3703320" y="2697480"/>
            <a:ext cx="1417320" cy="402336"/>
          </a:xfrm>
          <a:prstGeom prst="rect">
            <a:avLst/>
          </a:prstGeom>
          <a:solidFill>
            <a:srgbClr val="A7F3D0"/>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17" name="Text 15"/>
          <p:cNvSpPr/>
          <p:nvPr/>
        </p:nvSpPr>
        <p:spPr>
          <a:xfrm>
            <a:off x="3703320" y="2697480"/>
            <a:ext cx="1417320" cy="402336"/>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Depth of</a:t>
            </a:r>
            <a:endParaRPr lang="en-US" sz="850" dirty="0"/>
          </a:p>
          <a:p>
            <a:pPr algn="ctr" indent="0" marL="0">
              <a:buNone/>
            </a:pPr>
            <a:r>
              <a:rPr lang="en-US" sz="850" b="1" dirty="0">
                <a:solidFill>
                  <a:srgbClr val="065F46"/>
                </a:solidFill>
                <a:latin typeface="Calibri" pitchFamily="34" charset="0"/>
                <a:ea typeface="Calibri" pitchFamily="34" charset="-122"/>
                <a:cs typeface="Calibri" pitchFamily="34" charset="-120"/>
              </a:rPr>
              <a:t>Analysis</a:t>
            </a:r>
            <a:endParaRPr lang="en-US" sz="850" dirty="0"/>
          </a:p>
        </p:txBody>
      </p:sp>
      <p:sp>
        <p:nvSpPr>
          <p:cNvPr id="18" name="Text 16"/>
          <p:cNvSpPr/>
          <p:nvPr/>
        </p:nvSpPr>
        <p:spPr>
          <a:xfrm>
            <a:off x="4114800" y="3136392"/>
            <a:ext cx="594360" cy="182880"/>
          </a:xfrm>
          <a:prstGeom prst="rect">
            <a:avLst/>
          </a:prstGeom>
          <a:noFill/>
          <a:ln/>
        </p:spPr>
        <p:txBody>
          <a:bodyPr wrap="square" lIns="0" tIns="0" rIns="0" bIns="0"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(5)</a:t>
            </a:r>
            <a:endParaRPr lang="en-US" sz="900" dirty="0"/>
          </a:p>
        </p:txBody>
      </p:sp>
      <p:sp>
        <p:nvSpPr>
          <p:cNvPr id="19" name="Shape 17"/>
          <p:cNvSpPr/>
          <p:nvPr/>
        </p:nvSpPr>
        <p:spPr>
          <a:xfrm>
            <a:off x="5715000" y="2697480"/>
            <a:ext cx="1325880" cy="402336"/>
          </a:xfrm>
          <a:prstGeom prst="rect">
            <a:avLst/>
          </a:prstGeom>
          <a:solidFill>
            <a:srgbClr val="A7F3D0"/>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20" name="Text 18"/>
          <p:cNvSpPr/>
          <p:nvPr/>
        </p:nvSpPr>
        <p:spPr>
          <a:xfrm>
            <a:off x="5715000" y="2697480"/>
            <a:ext cx="1325880" cy="402336"/>
          </a:xfrm>
          <a:prstGeom prst="rect">
            <a:avLst/>
          </a:prstGeom>
          <a:noFill/>
          <a:ln/>
        </p:spPr>
        <p:txBody>
          <a:bodyPr wrap="square" lIns="0" tIns="0" rIns="0" bIns="0" rtlCol="0" anchor="ctr"/>
          <a:lstStyle/>
          <a:p>
            <a:pPr algn="ctr" indent="0" marL="0">
              <a:buNone/>
            </a:pPr>
            <a:r>
              <a:rPr lang="en-US" sz="850" b="1" dirty="0">
                <a:solidFill>
                  <a:srgbClr val="065F46"/>
                </a:solidFill>
                <a:latin typeface="Calibri" pitchFamily="34" charset="0"/>
                <a:ea typeface="Calibri" pitchFamily="34" charset="-122"/>
                <a:cs typeface="Calibri" pitchFamily="34" charset="-120"/>
              </a:rPr>
              <a:t>Language</a:t>
            </a:r>
            <a:endParaRPr lang="en-US" sz="850" dirty="0"/>
          </a:p>
        </p:txBody>
      </p:sp>
      <p:sp>
        <p:nvSpPr>
          <p:cNvPr id="21" name="Text 19"/>
          <p:cNvSpPr/>
          <p:nvPr/>
        </p:nvSpPr>
        <p:spPr>
          <a:xfrm>
            <a:off x="6080760" y="3136392"/>
            <a:ext cx="594360" cy="182880"/>
          </a:xfrm>
          <a:prstGeom prst="rect">
            <a:avLst/>
          </a:prstGeom>
          <a:noFill/>
          <a:ln/>
        </p:spPr>
        <p:txBody>
          <a:bodyPr wrap="square" lIns="0" tIns="0" rIns="0" bIns="0"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(5)</a:t>
            </a:r>
            <a:endParaRPr lang="en-US" sz="900" dirty="0"/>
          </a:p>
        </p:txBody>
      </p:sp>
      <p:sp>
        <p:nvSpPr>
          <p:cNvPr id="22" name="Text 20"/>
          <p:cNvSpPr/>
          <p:nvPr/>
        </p:nvSpPr>
        <p:spPr>
          <a:xfrm>
            <a:off x="3200400" y="3355848"/>
            <a:ext cx="2743200" cy="237744"/>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  ↓  ↙</a:t>
            </a:r>
            <a:endParaRPr lang="en-US" sz="1200" dirty="0"/>
          </a:p>
        </p:txBody>
      </p:sp>
      <p:sp>
        <p:nvSpPr>
          <p:cNvPr id="23" name="Shape 21"/>
          <p:cNvSpPr/>
          <p:nvPr/>
        </p:nvSpPr>
        <p:spPr>
          <a:xfrm>
            <a:off x="3657600" y="3291840"/>
            <a:ext cx="1783080" cy="292608"/>
          </a:xfrm>
          <a:prstGeom prst="rect">
            <a:avLst/>
          </a:prstGeom>
          <a:solidFill>
            <a:srgbClr val="FEF9C3"/>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24" name="Text 22"/>
          <p:cNvSpPr/>
          <p:nvPr/>
        </p:nvSpPr>
        <p:spPr>
          <a:xfrm>
            <a:off x="3657600" y="3291840"/>
            <a:ext cx="1783080" cy="292608"/>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Final Evaluation</a:t>
            </a:r>
            <a:endParaRPr lang="en-US" sz="850" dirty="0"/>
          </a:p>
        </p:txBody>
      </p:sp>
      <p:sp>
        <p:nvSpPr>
          <p:cNvPr id="25" name="Text 23"/>
          <p:cNvSpPr/>
          <p:nvPr/>
        </p:nvSpPr>
        <p:spPr>
          <a:xfrm>
            <a:off x="4846320" y="3282696"/>
            <a:ext cx="548640" cy="292608"/>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(10)</a:t>
            </a:r>
            <a:endParaRPr lang="en-US" sz="900" dirty="0"/>
          </a:p>
        </p:txBody>
      </p:sp>
      <p:sp>
        <p:nvSpPr>
          <p:cNvPr id="26" name="Text 24"/>
          <p:cNvSpPr/>
          <p:nvPr/>
        </p:nvSpPr>
        <p:spPr>
          <a:xfrm>
            <a:off x="3474720" y="3621024"/>
            <a:ext cx="2148840" cy="237744"/>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  ↘</a:t>
            </a:r>
            <a:endParaRPr lang="en-US" sz="1200" dirty="0"/>
          </a:p>
        </p:txBody>
      </p:sp>
      <p:sp>
        <p:nvSpPr>
          <p:cNvPr id="27" name="Shape 25"/>
          <p:cNvSpPr/>
          <p:nvPr/>
        </p:nvSpPr>
        <p:spPr>
          <a:xfrm>
            <a:off x="2286000" y="3840480"/>
            <a:ext cx="1280160" cy="292608"/>
          </a:xfrm>
          <a:prstGeom prst="rect">
            <a:avLst/>
          </a:prstGeom>
          <a:solidFill>
            <a:srgbClr val="FEF9C3"/>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28" name="Text 26"/>
          <p:cNvSpPr/>
          <p:nvPr/>
        </p:nvSpPr>
        <p:spPr>
          <a:xfrm>
            <a:off x="2286000" y="3840480"/>
            <a:ext cx="1280160" cy="292608"/>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Success</a:t>
            </a:r>
            <a:endParaRPr lang="en-US" sz="850" dirty="0"/>
          </a:p>
        </p:txBody>
      </p:sp>
      <p:sp>
        <p:nvSpPr>
          <p:cNvPr id="29" name="Text 27"/>
          <p:cNvSpPr/>
          <p:nvPr/>
        </p:nvSpPr>
        <p:spPr>
          <a:xfrm>
            <a:off x="2606040" y="4169664"/>
            <a:ext cx="640080" cy="34747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END</a:t>
            </a:r>
            <a:endParaRPr lang="en-US" sz="900" dirty="0"/>
          </a:p>
        </p:txBody>
      </p:sp>
      <p:sp>
        <p:nvSpPr>
          <p:cNvPr id="30" name="Shape 28"/>
          <p:cNvSpPr/>
          <p:nvPr/>
        </p:nvSpPr>
        <p:spPr>
          <a:xfrm>
            <a:off x="4617720" y="3840480"/>
            <a:ext cx="1554480" cy="292608"/>
          </a:xfrm>
          <a:prstGeom prst="rect">
            <a:avLst/>
          </a:prstGeom>
          <a:solidFill>
            <a:srgbClr val="FCA5A5"/>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31" name="Text 29"/>
          <p:cNvSpPr/>
          <p:nvPr/>
        </p:nvSpPr>
        <p:spPr>
          <a:xfrm>
            <a:off x="4617720" y="3840480"/>
            <a:ext cx="1554480" cy="292608"/>
          </a:xfrm>
          <a:prstGeom prst="rect">
            <a:avLst/>
          </a:prstGeom>
          <a:noFill/>
          <a:ln/>
        </p:spPr>
        <p:txBody>
          <a:bodyPr wrap="square" lIns="0" tIns="0" rIns="0" bIns="0" rtlCol="0" anchor="ctr"/>
          <a:lstStyle/>
          <a:p>
            <a:pPr algn="ctr" indent="0" marL="0">
              <a:buNone/>
            </a:pPr>
            <a:r>
              <a:rPr lang="en-US" sz="850" b="1" dirty="0">
                <a:solidFill>
                  <a:srgbClr val="7F1D1D"/>
                </a:solidFill>
                <a:latin typeface="Calibri" pitchFamily="34" charset="0"/>
                <a:ea typeface="Calibri" pitchFamily="34" charset="-122"/>
                <a:cs typeface="Calibri" pitchFamily="34" charset="-120"/>
              </a:rPr>
              <a:t>Fail, Feedback</a:t>
            </a:r>
            <a:endParaRPr lang="en-US" sz="850" dirty="0"/>
          </a:p>
        </p:txBody>
      </p:sp>
      <p:sp>
        <p:nvSpPr>
          <p:cNvPr id="32" name="Text 30"/>
          <p:cNvSpPr/>
          <p:nvPr/>
        </p:nvSpPr>
        <p:spPr>
          <a:xfrm>
            <a:off x="5257800" y="4169664"/>
            <a:ext cx="365760" cy="18288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4617720" y="4434840"/>
            <a:ext cx="1554480" cy="292608"/>
          </a:xfrm>
          <a:prstGeom prst="rect">
            <a:avLst/>
          </a:prstGeom>
          <a:solidFill>
            <a:srgbClr val="FEF9C3"/>
          </a:solidFill>
          <a:ln w="12700">
            <a:solidFill>
              <a:srgbClr val="D4A017"/>
            </a:solidFill>
            <a:prstDash val="solid"/>
          </a:ln>
          <a:effectLst>
            <a:outerShdw sx="100000" sy="100000" kx="0" ky="0" algn="bl" rotWithShape="0" blurRad="50800" dist="25400" dir="8100000">
              <a:srgbClr val="000000">
                <a:alpha val="8000"/>
              </a:srgbClr>
            </a:outerShdw>
          </a:effectLst>
        </p:spPr>
      </p:sp>
      <p:sp>
        <p:nvSpPr>
          <p:cNvPr id="34" name="Text 32"/>
          <p:cNvSpPr/>
          <p:nvPr/>
        </p:nvSpPr>
        <p:spPr>
          <a:xfrm>
            <a:off x="4617720" y="4434840"/>
            <a:ext cx="1554480" cy="292608"/>
          </a:xfrm>
          <a:prstGeom prst="rect">
            <a:avLst/>
          </a:prstGeom>
          <a:noFill/>
          <a:ln/>
        </p:spPr>
        <p:txBody>
          <a:bodyPr wrap="square" lIns="0" tIns="0" rIns="0" bIns="0" rtlCol="0" anchor="ctr"/>
          <a:lstStyle/>
          <a:p>
            <a:pPr algn="ctr" indent="0" marL="0">
              <a:buNone/>
            </a:pPr>
            <a:r>
              <a:rPr lang="en-US" sz="850" b="1" dirty="0">
                <a:solidFill>
                  <a:srgbClr val="713F12"/>
                </a:solidFill>
                <a:latin typeface="Calibri" pitchFamily="34" charset="0"/>
                <a:ea typeface="Calibri" pitchFamily="34" charset="-122"/>
                <a:cs typeface="Calibri" pitchFamily="34" charset="-120"/>
              </a:rPr>
              <a:t>Retake?</a:t>
            </a:r>
            <a:endParaRPr lang="en-US" sz="850" dirty="0"/>
          </a:p>
        </p:txBody>
      </p:sp>
      <p:sp>
        <p:nvSpPr>
          <p:cNvPr id="35" name="Text 33"/>
          <p:cNvSpPr/>
          <p:nvPr/>
        </p:nvSpPr>
        <p:spPr>
          <a:xfrm>
            <a:off x="4114800" y="4754880"/>
            <a:ext cx="2286000" cy="201168"/>
          </a:xfrm>
          <a:prstGeom prst="rect">
            <a:avLst/>
          </a:prstGeom>
          <a:noFill/>
          <a:ln/>
        </p:spPr>
        <p:txBody>
          <a:bodyPr wrap="square" lIns="0" tIns="0" rIns="0" bIns="0" rtlCol="0" anchor="ctr"/>
          <a:lstStyle/>
          <a:p>
            <a:pPr indent="0" marL="0">
              <a:buNone/>
            </a:pPr>
            <a:r>
              <a:rPr lang="en-US" sz="850" dirty="0">
                <a:solidFill>
                  <a:srgbClr val="059669"/>
                </a:solidFill>
                <a:latin typeface="Calibri" pitchFamily="34" charset="0"/>
                <a:ea typeface="Calibri" pitchFamily="34" charset="-122"/>
                <a:cs typeface="Calibri" pitchFamily="34" charset="-120"/>
              </a:rPr>
              <a:t>Yes ↑ (loops to Write Essay)</a:t>
            </a:r>
            <a:endParaRPr lang="en-US" sz="850" dirty="0"/>
          </a:p>
        </p:txBody>
      </p:sp>
      <p:sp>
        <p:nvSpPr>
          <p:cNvPr id="36" name="Shape 34"/>
          <p:cNvSpPr/>
          <p:nvPr/>
        </p:nvSpPr>
        <p:spPr>
          <a:xfrm>
            <a:off x="320040" y="2624328"/>
            <a:ext cx="777240" cy="566928"/>
          </a:xfrm>
          <a:prstGeom prst="rect">
            <a:avLst/>
          </a:prstGeom>
          <a:solidFill>
            <a:srgbClr val="7C3AED"/>
          </a:solidFill>
          <a:ln w="12700">
            <a:solidFill>
              <a:srgbClr val="7C3AED"/>
            </a:solidFill>
            <a:prstDash val="solid"/>
          </a:ln>
        </p:spPr>
      </p:sp>
      <p:sp>
        <p:nvSpPr>
          <p:cNvPr id="37" name="Text 35"/>
          <p:cNvSpPr/>
          <p:nvPr/>
        </p:nvSpPr>
        <p:spPr>
          <a:xfrm>
            <a:off x="320040" y="2660904"/>
            <a:ext cx="777240" cy="49377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PARALLEL</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FAN-OUT</a:t>
            </a:r>
            <a:endParaRPr lang="en-US" sz="700" dirty="0"/>
          </a:p>
        </p:txBody>
      </p:sp>
      <p:sp>
        <p:nvSpPr>
          <p:cNvPr id="38" name="Shape 36"/>
          <p:cNvSpPr/>
          <p:nvPr/>
        </p:nvSpPr>
        <p:spPr>
          <a:xfrm>
            <a:off x="320040" y="3346704"/>
            <a:ext cx="777240" cy="457200"/>
          </a:xfrm>
          <a:prstGeom prst="rect">
            <a:avLst/>
          </a:prstGeom>
          <a:solidFill>
            <a:srgbClr val="2563EB"/>
          </a:solidFill>
          <a:ln w="12700">
            <a:solidFill>
              <a:srgbClr val="2563EB"/>
            </a:solidFill>
            <a:prstDash val="solid"/>
          </a:ln>
        </p:spPr>
      </p:sp>
      <p:sp>
        <p:nvSpPr>
          <p:cNvPr id="39" name="Text 37"/>
          <p:cNvSpPr/>
          <p:nvPr/>
        </p:nvSpPr>
        <p:spPr>
          <a:xfrm>
            <a:off x="320040" y="3383280"/>
            <a:ext cx="777240" cy="3840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COND.</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ROUTING</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2563EB"/>
          </a:solidFill>
          <a:ln w="12700">
            <a:solidFill>
              <a:srgbClr val="2563EB"/>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State — The Shared Memory of a LangGraph Workflow</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State is the dict-like object that flows through every node as the graph runs</a:t>
            </a:r>
            <a:endParaRPr lang="en-US" sz="1050" dirty="0"/>
          </a:p>
        </p:txBody>
      </p:sp>
      <p:sp>
        <p:nvSpPr>
          <p:cNvPr id="6" name="Shape 4"/>
          <p:cNvSpPr/>
          <p:nvPr/>
        </p:nvSpPr>
        <p:spPr>
          <a:xfrm>
            <a:off x="320040" y="1115568"/>
            <a:ext cx="4160520" cy="987552"/>
          </a:xfrm>
          <a:prstGeom prst="rect">
            <a:avLst/>
          </a:prstGeom>
          <a:solidFill>
            <a:srgbClr val="EFF6FF"/>
          </a:solidFill>
          <a:ln w="12700">
            <a:solidFill>
              <a:srgbClr val="2563EB"/>
            </a:solidFill>
            <a:prstDash val="solid"/>
          </a:ln>
        </p:spPr>
      </p:sp>
      <p:sp>
        <p:nvSpPr>
          <p:cNvPr id="7" name="Shape 5"/>
          <p:cNvSpPr/>
          <p:nvPr/>
        </p:nvSpPr>
        <p:spPr>
          <a:xfrm>
            <a:off x="320040" y="1115568"/>
            <a:ext cx="64008" cy="987552"/>
          </a:xfrm>
          <a:prstGeom prst="rect">
            <a:avLst/>
          </a:prstGeom>
          <a:solidFill>
            <a:srgbClr val="2563EB"/>
          </a:solidFill>
          <a:ln w="12700">
            <a:solidFill>
              <a:srgbClr val="2563EB"/>
            </a:solidFill>
            <a:prstDash val="solid"/>
          </a:ln>
        </p:spPr>
      </p:sp>
      <p:sp>
        <p:nvSpPr>
          <p:cNvPr id="8" name="Text 6"/>
          <p:cNvSpPr/>
          <p:nvPr/>
        </p:nvSpPr>
        <p:spPr>
          <a:xfrm>
            <a:off x="475488" y="1170432"/>
            <a:ext cx="3931920" cy="8686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In LangGraph, state is the shared memory that flows through your workflow — it holds all the data being passed between nodes as your graph runs.</a:t>
            </a:r>
            <a:endParaRPr lang="en-US" sz="1050" dirty="0"/>
          </a:p>
        </p:txBody>
      </p:sp>
      <p:sp>
        <p:nvSpPr>
          <p:cNvPr id="9" name="Text 7"/>
          <p:cNvSpPr/>
          <p:nvPr/>
        </p:nvSpPr>
        <p:spPr>
          <a:xfrm>
            <a:off x="347472" y="2176272"/>
            <a:ext cx="4114800" cy="237744"/>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State = shared, mutable dict that evolves as the graph runs</a:t>
            </a:r>
            <a:endParaRPr lang="en-US" sz="1000" dirty="0"/>
          </a:p>
        </p:txBody>
      </p:sp>
      <p:sp>
        <p:nvSpPr>
          <p:cNvPr id="10" name="Shape 8"/>
          <p:cNvSpPr/>
          <p:nvPr/>
        </p:nvSpPr>
        <p:spPr>
          <a:xfrm>
            <a:off x="320040" y="2450592"/>
            <a:ext cx="4160520" cy="1810512"/>
          </a:xfrm>
          <a:prstGeom prst="rect">
            <a:avLst/>
          </a:prstGeom>
          <a:solidFill>
            <a:srgbClr val="0F172A"/>
          </a:solidFill>
          <a:ln w="12700">
            <a:solidFill>
              <a:srgbClr val="1E3A5F"/>
            </a:solidFill>
            <a:prstDash val="solid"/>
          </a:ln>
        </p:spPr>
      </p:sp>
      <p:sp>
        <p:nvSpPr>
          <p:cNvPr id="11" name="Text 9"/>
          <p:cNvSpPr/>
          <p:nvPr/>
        </p:nvSpPr>
        <p:spPr>
          <a:xfrm>
            <a:off x="429768" y="2523744"/>
            <a:ext cx="3941064" cy="1664208"/>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 State for UPSC Essay Workflow</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class UPSCState(TypedDict):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essay_text:       str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topic:            str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depth_score:      int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language_score:   int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clarity_score:    int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total_score:      int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feedback:         Annotated[list[str], add]</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evaluation_round: int</a:t>
            </a:r>
            <a:endParaRPr lang="en-US" sz="950" dirty="0"/>
          </a:p>
        </p:txBody>
      </p:sp>
      <p:sp>
        <p:nvSpPr>
          <p:cNvPr id="12" name="Text 10"/>
          <p:cNvSpPr/>
          <p:nvPr/>
        </p:nvSpPr>
        <p:spPr>
          <a:xfrm>
            <a:off x="4663440" y="1115568"/>
            <a:ext cx="416052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4 Key Properties of State:</a:t>
            </a:r>
            <a:endParaRPr lang="en-US" sz="1200" dirty="0"/>
          </a:p>
        </p:txBody>
      </p:sp>
      <p:sp>
        <p:nvSpPr>
          <p:cNvPr id="13" name="Shape 11"/>
          <p:cNvSpPr/>
          <p:nvPr/>
        </p:nvSpPr>
        <p:spPr>
          <a:xfrm>
            <a:off x="4663440" y="1417320"/>
            <a:ext cx="4160520" cy="822960"/>
          </a:xfrm>
          <a:prstGeom prst="rect">
            <a:avLst/>
          </a:prstGeom>
          <a:solidFill>
            <a:srgbClr val="F0FDF4"/>
          </a:solidFill>
          <a:ln w="12700">
            <a:solidFill>
              <a:srgbClr val="0D9488"/>
            </a:solidFill>
            <a:prstDash val="solid"/>
          </a:ln>
        </p:spPr>
      </p:sp>
      <p:sp>
        <p:nvSpPr>
          <p:cNvPr id="14" name="Shape 12"/>
          <p:cNvSpPr/>
          <p:nvPr/>
        </p:nvSpPr>
        <p:spPr>
          <a:xfrm>
            <a:off x="4663440" y="1417320"/>
            <a:ext cx="64008" cy="822960"/>
          </a:xfrm>
          <a:prstGeom prst="rect">
            <a:avLst/>
          </a:prstGeom>
          <a:solidFill>
            <a:srgbClr val="0D9488"/>
          </a:solidFill>
          <a:ln w="12700">
            <a:solidFill>
              <a:srgbClr val="0D9488"/>
            </a:solidFill>
            <a:prstDash val="solid"/>
          </a:ln>
        </p:spPr>
      </p:sp>
      <p:sp>
        <p:nvSpPr>
          <p:cNvPr id="15" name="Text 13"/>
          <p:cNvSpPr/>
          <p:nvPr/>
        </p:nvSpPr>
        <p:spPr>
          <a:xfrm>
            <a:off x="4800600" y="1472184"/>
            <a:ext cx="1828800" cy="237744"/>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Shared</a:t>
            </a:r>
            <a:endParaRPr lang="en-US" sz="1100" dirty="0"/>
          </a:p>
        </p:txBody>
      </p:sp>
      <p:sp>
        <p:nvSpPr>
          <p:cNvPr id="16" name="Text 14"/>
          <p:cNvSpPr/>
          <p:nvPr/>
        </p:nvSpPr>
        <p:spPr>
          <a:xfrm>
            <a:off x="4800600" y="1746504"/>
            <a:ext cx="3931920" cy="42062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All nodes read from and write to the SAME state object — there is no separate inter-node messaging system</a:t>
            </a:r>
            <a:endParaRPr lang="en-US" sz="900" dirty="0"/>
          </a:p>
        </p:txBody>
      </p:sp>
      <p:sp>
        <p:nvSpPr>
          <p:cNvPr id="17" name="Shape 15"/>
          <p:cNvSpPr/>
          <p:nvPr/>
        </p:nvSpPr>
        <p:spPr>
          <a:xfrm>
            <a:off x="4663440" y="2331720"/>
            <a:ext cx="4160520" cy="822960"/>
          </a:xfrm>
          <a:prstGeom prst="rect">
            <a:avLst/>
          </a:prstGeom>
          <a:solidFill>
            <a:srgbClr val="F5F3FF"/>
          </a:solidFill>
          <a:ln w="12700">
            <a:solidFill>
              <a:srgbClr val="7C3AED"/>
            </a:solidFill>
            <a:prstDash val="solid"/>
          </a:ln>
        </p:spPr>
      </p:sp>
      <p:sp>
        <p:nvSpPr>
          <p:cNvPr id="18" name="Shape 16"/>
          <p:cNvSpPr/>
          <p:nvPr/>
        </p:nvSpPr>
        <p:spPr>
          <a:xfrm>
            <a:off x="4663440" y="2331720"/>
            <a:ext cx="64008" cy="822960"/>
          </a:xfrm>
          <a:prstGeom prst="rect">
            <a:avLst/>
          </a:prstGeom>
          <a:solidFill>
            <a:srgbClr val="7C3AED"/>
          </a:solidFill>
          <a:ln w="12700">
            <a:solidFill>
              <a:srgbClr val="7C3AED"/>
            </a:solidFill>
            <a:prstDash val="solid"/>
          </a:ln>
        </p:spPr>
      </p:sp>
      <p:sp>
        <p:nvSpPr>
          <p:cNvPr id="19" name="Text 17"/>
          <p:cNvSpPr/>
          <p:nvPr/>
        </p:nvSpPr>
        <p:spPr>
          <a:xfrm>
            <a:off x="4800600" y="2386584"/>
            <a:ext cx="1828800" cy="237744"/>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  Mutable</a:t>
            </a:r>
            <a:endParaRPr lang="en-US" sz="1100" dirty="0"/>
          </a:p>
        </p:txBody>
      </p:sp>
      <p:sp>
        <p:nvSpPr>
          <p:cNvPr id="20" name="Text 18"/>
          <p:cNvSpPr/>
          <p:nvPr/>
        </p:nvSpPr>
        <p:spPr>
          <a:xfrm>
            <a:off x="4800600" y="2660904"/>
            <a:ext cx="3931920" cy="42062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Each node can update any field in the state. The changes are merged back after the node returns</a:t>
            </a:r>
            <a:endParaRPr lang="en-US" sz="900" dirty="0"/>
          </a:p>
        </p:txBody>
      </p:sp>
      <p:sp>
        <p:nvSpPr>
          <p:cNvPr id="21" name="Shape 19"/>
          <p:cNvSpPr/>
          <p:nvPr/>
        </p:nvSpPr>
        <p:spPr>
          <a:xfrm>
            <a:off x="4663440" y="3246120"/>
            <a:ext cx="4160520" cy="822960"/>
          </a:xfrm>
          <a:prstGeom prst="rect">
            <a:avLst/>
          </a:prstGeom>
          <a:solidFill>
            <a:srgbClr val="F0FDF4"/>
          </a:solidFill>
          <a:ln w="12700">
            <a:solidFill>
              <a:srgbClr val="059669"/>
            </a:solidFill>
            <a:prstDash val="solid"/>
          </a:ln>
        </p:spPr>
      </p:sp>
      <p:sp>
        <p:nvSpPr>
          <p:cNvPr id="22" name="Shape 20"/>
          <p:cNvSpPr/>
          <p:nvPr/>
        </p:nvSpPr>
        <p:spPr>
          <a:xfrm>
            <a:off x="4663440" y="3246120"/>
            <a:ext cx="64008" cy="822960"/>
          </a:xfrm>
          <a:prstGeom prst="rect">
            <a:avLst/>
          </a:prstGeom>
          <a:solidFill>
            <a:srgbClr val="059669"/>
          </a:solidFill>
          <a:ln w="12700">
            <a:solidFill>
              <a:srgbClr val="059669"/>
            </a:solidFill>
            <a:prstDash val="solid"/>
          </a:ln>
        </p:spPr>
      </p:sp>
      <p:sp>
        <p:nvSpPr>
          <p:cNvPr id="23" name="Text 21"/>
          <p:cNvSpPr/>
          <p:nvPr/>
        </p:nvSpPr>
        <p:spPr>
          <a:xfrm>
            <a:off x="4800600" y="3300984"/>
            <a:ext cx="1828800" cy="237744"/>
          </a:xfrm>
          <a:prstGeom prst="rect">
            <a:avLst/>
          </a:prstGeom>
          <a:noFill/>
          <a:ln/>
        </p:spPr>
        <p:txBody>
          <a:bodyPr wrap="square" lIns="0" tIns="0" rIns="0" bIns="0" rtlCol="0" anchor="ctr"/>
          <a:lstStyle/>
          <a:p>
            <a:pPr indent="0" marL="0">
              <a:buNone/>
            </a:pPr>
            <a:r>
              <a:rPr lang="en-US" sz="1100" b="1" dirty="0">
                <a:solidFill>
                  <a:srgbClr val="059669"/>
                </a:solidFill>
                <a:latin typeface="Calibri" pitchFamily="34" charset="0"/>
                <a:ea typeface="Calibri" pitchFamily="34" charset="-122"/>
                <a:cs typeface="Calibri" pitchFamily="34" charset="-120"/>
              </a:rPr>
              <a:t>🌱  Evolves</a:t>
            </a:r>
            <a:endParaRPr lang="en-US" sz="1100" dirty="0"/>
          </a:p>
        </p:txBody>
      </p:sp>
      <p:sp>
        <p:nvSpPr>
          <p:cNvPr id="24" name="Text 22"/>
          <p:cNvSpPr/>
          <p:nvPr/>
        </p:nvSpPr>
        <p:spPr>
          <a:xfrm>
            <a:off x="4800600" y="3575304"/>
            <a:ext cx="3931920" cy="42062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State grows richer with each node's output. By the time you reach the final node, state holds the full history of computation</a:t>
            </a:r>
            <a:endParaRPr lang="en-US" sz="900" dirty="0"/>
          </a:p>
        </p:txBody>
      </p:sp>
      <p:sp>
        <p:nvSpPr>
          <p:cNvPr id="25" name="Shape 23"/>
          <p:cNvSpPr/>
          <p:nvPr/>
        </p:nvSpPr>
        <p:spPr>
          <a:xfrm>
            <a:off x="4663440" y="4160520"/>
            <a:ext cx="4160520" cy="822960"/>
          </a:xfrm>
          <a:prstGeom prst="rect">
            <a:avLst/>
          </a:prstGeom>
          <a:solidFill>
            <a:srgbClr val="EFF6FF"/>
          </a:solidFill>
          <a:ln w="12700">
            <a:solidFill>
              <a:srgbClr val="2563EB"/>
            </a:solidFill>
            <a:prstDash val="solid"/>
          </a:ln>
        </p:spPr>
      </p:sp>
      <p:sp>
        <p:nvSpPr>
          <p:cNvPr id="26" name="Shape 24"/>
          <p:cNvSpPr/>
          <p:nvPr/>
        </p:nvSpPr>
        <p:spPr>
          <a:xfrm>
            <a:off x="4663440" y="4160520"/>
            <a:ext cx="64008" cy="822960"/>
          </a:xfrm>
          <a:prstGeom prst="rect">
            <a:avLst/>
          </a:prstGeom>
          <a:solidFill>
            <a:srgbClr val="2563EB"/>
          </a:solidFill>
          <a:ln w="12700">
            <a:solidFill>
              <a:srgbClr val="2563EB"/>
            </a:solidFill>
            <a:prstDash val="solid"/>
          </a:ln>
        </p:spPr>
      </p:sp>
      <p:sp>
        <p:nvSpPr>
          <p:cNvPr id="27" name="Text 25"/>
          <p:cNvSpPr/>
          <p:nvPr/>
        </p:nvSpPr>
        <p:spPr>
          <a:xfrm>
            <a:off x="4800600" y="4215384"/>
            <a:ext cx="1828800" cy="237744"/>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  TypedDict</a:t>
            </a:r>
            <a:endParaRPr lang="en-US" sz="1100" dirty="0"/>
          </a:p>
        </p:txBody>
      </p:sp>
      <p:sp>
        <p:nvSpPr>
          <p:cNvPr id="28" name="Text 26"/>
          <p:cNvSpPr/>
          <p:nvPr/>
        </p:nvSpPr>
        <p:spPr>
          <a:xfrm>
            <a:off x="4800600" y="4489704"/>
            <a:ext cx="3931920" cy="42062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Defined as a Python TypedDict class. Each field has a type hint. LangGraph validates state schema at compile time</a:t>
            </a:r>
            <a:endParaRPr lang="en-US" sz="900" dirty="0"/>
          </a:p>
        </p:txBody>
      </p:sp>
      <p:sp>
        <p:nvSpPr>
          <p:cNvPr id="29" name="Shape 27"/>
          <p:cNvSpPr/>
          <p:nvPr/>
        </p:nvSpPr>
        <p:spPr>
          <a:xfrm>
            <a:off x="320040" y="4343400"/>
            <a:ext cx="8503920" cy="402336"/>
          </a:xfrm>
          <a:prstGeom prst="rect">
            <a:avLst/>
          </a:prstGeom>
          <a:solidFill>
            <a:srgbClr val="EFF6FF"/>
          </a:solidFill>
          <a:ln w="12700">
            <a:solidFill>
              <a:srgbClr val="2563EB"/>
            </a:solidFill>
            <a:prstDash val="solid"/>
          </a:ln>
        </p:spPr>
      </p:sp>
      <p:sp>
        <p:nvSpPr>
          <p:cNvPr id="30" name="Text 28"/>
          <p:cNvSpPr/>
          <p:nvPr/>
        </p:nvSpPr>
        <p:spPr>
          <a:xfrm>
            <a:off x="411480" y="4389120"/>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Think of state like a Python dict passed to every function. Each function can read any key and write any key back. The dict is the 'memory' of your workflow.</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0D9488"/>
          </a:solidFill>
          <a:ln w="12700">
            <a:solidFill>
              <a:srgbClr val="0D9488"/>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Reducers — How State Updates Are Applied</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Reducers define whether node updates replace, add to, or merge with the existing state value</a:t>
            </a:r>
            <a:endParaRPr lang="en-US" sz="1050" dirty="0"/>
          </a:p>
        </p:txBody>
      </p:sp>
      <p:sp>
        <p:nvSpPr>
          <p:cNvPr id="6" name="Text 4"/>
          <p:cNvSpPr/>
          <p:nvPr/>
        </p:nvSpPr>
        <p:spPr>
          <a:xfrm>
            <a:off x="347472" y="1115568"/>
            <a:ext cx="84124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Reducers in LangGraph define how updates from nodes are applied to the shared state. Each key in the state can have its own reducer, which determines whether new data replaces, merges, or adds to the existing value.</a:t>
            </a:r>
            <a:endParaRPr lang="en-US" sz="1050" dirty="0"/>
          </a:p>
        </p:txBody>
      </p:sp>
      <p:sp>
        <p:nvSpPr>
          <p:cNvPr id="7" name="Shape 5"/>
          <p:cNvSpPr/>
          <p:nvPr/>
        </p:nvSpPr>
        <p:spPr>
          <a:xfrm>
            <a:off x="320040" y="1691640"/>
            <a:ext cx="8503920" cy="1005840"/>
          </a:xfrm>
          <a:prstGeom prst="rect">
            <a:avLst/>
          </a:prstGeom>
          <a:solidFill>
            <a:srgbClr val="EFF6FF"/>
          </a:solidFill>
          <a:ln w="12700">
            <a:solidFill>
              <a:srgbClr val="2563EB"/>
            </a:solidFill>
            <a:prstDash val="solid"/>
          </a:ln>
        </p:spPr>
      </p:sp>
      <p:sp>
        <p:nvSpPr>
          <p:cNvPr id="8" name="Shape 6"/>
          <p:cNvSpPr/>
          <p:nvPr/>
        </p:nvSpPr>
        <p:spPr>
          <a:xfrm>
            <a:off x="320040" y="1691640"/>
            <a:ext cx="64008" cy="1005840"/>
          </a:xfrm>
          <a:prstGeom prst="rect">
            <a:avLst/>
          </a:prstGeom>
          <a:solidFill>
            <a:srgbClr val="2563EB"/>
          </a:solidFill>
          <a:ln w="12700">
            <a:solidFill>
              <a:srgbClr val="2563EB"/>
            </a:solidFill>
            <a:prstDash val="solid"/>
          </a:ln>
        </p:spPr>
      </p:sp>
      <p:sp>
        <p:nvSpPr>
          <p:cNvPr id="9" name="Text 7"/>
          <p:cNvSpPr/>
          <p:nvPr/>
        </p:nvSpPr>
        <p:spPr>
          <a:xfrm>
            <a:off x="475488" y="1746504"/>
            <a:ext cx="3657600" cy="237744"/>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Replace (Default)</a:t>
            </a:r>
            <a:endParaRPr lang="en-US" sz="1100" dirty="0"/>
          </a:p>
        </p:txBody>
      </p:sp>
      <p:sp>
        <p:nvSpPr>
          <p:cNvPr id="10" name="Text 8"/>
          <p:cNvSpPr/>
          <p:nvPr/>
        </p:nvSpPr>
        <p:spPr>
          <a:xfrm>
            <a:off x="475488" y="2011680"/>
            <a:ext cx="4206240" cy="59436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If a node returns a new value for a key with no reducer, it REPLACES the old value. Most fields (score, topic, essay_text) use this.</a:t>
            </a:r>
            <a:endParaRPr lang="en-US" sz="900" dirty="0"/>
          </a:p>
        </p:txBody>
      </p:sp>
      <p:sp>
        <p:nvSpPr>
          <p:cNvPr id="11" name="Shape 9"/>
          <p:cNvSpPr/>
          <p:nvPr/>
        </p:nvSpPr>
        <p:spPr>
          <a:xfrm>
            <a:off x="4663440" y="1746504"/>
            <a:ext cx="4069080" cy="877824"/>
          </a:xfrm>
          <a:prstGeom prst="rect">
            <a:avLst/>
          </a:prstGeom>
          <a:solidFill>
            <a:srgbClr val="0F172A"/>
          </a:solidFill>
          <a:ln w="12700">
            <a:solidFill>
              <a:srgbClr val="1E3A5F"/>
            </a:solidFill>
            <a:prstDash val="solid"/>
          </a:ln>
        </p:spPr>
      </p:sp>
      <p:sp>
        <p:nvSpPr>
          <p:cNvPr id="12" name="Text 10"/>
          <p:cNvSpPr/>
          <p:nvPr/>
        </p:nvSpPr>
        <p:spPr>
          <a:xfrm>
            <a:off x="4773168" y="1819656"/>
            <a:ext cx="3849624" cy="73152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 No reducer annotation — just returns new value</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def calculate_score(state):</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return {'total_score': 10}  # replaces old value</a:t>
            </a:r>
            <a:endParaRPr lang="en-US" sz="850" dirty="0"/>
          </a:p>
        </p:txBody>
      </p:sp>
      <p:sp>
        <p:nvSpPr>
          <p:cNvPr id="13" name="Shape 11"/>
          <p:cNvSpPr/>
          <p:nvPr/>
        </p:nvSpPr>
        <p:spPr>
          <a:xfrm>
            <a:off x="320040" y="2788920"/>
            <a:ext cx="8503920" cy="1005840"/>
          </a:xfrm>
          <a:prstGeom prst="rect">
            <a:avLst/>
          </a:prstGeom>
          <a:solidFill>
            <a:srgbClr val="F0FDF4"/>
          </a:solidFill>
          <a:ln w="12700">
            <a:solidFill>
              <a:srgbClr val="059669"/>
            </a:solidFill>
            <a:prstDash val="solid"/>
          </a:ln>
        </p:spPr>
      </p:sp>
      <p:sp>
        <p:nvSpPr>
          <p:cNvPr id="14" name="Shape 12"/>
          <p:cNvSpPr/>
          <p:nvPr/>
        </p:nvSpPr>
        <p:spPr>
          <a:xfrm>
            <a:off x="320040" y="2788920"/>
            <a:ext cx="64008" cy="1005840"/>
          </a:xfrm>
          <a:prstGeom prst="rect">
            <a:avLst/>
          </a:prstGeom>
          <a:solidFill>
            <a:srgbClr val="059669"/>
          </a:solidFill>
          <a:ln w="12700">
            <a:solidFill>
              <a:srgbClr val="059669"/>
            </a:solidFill>
            <a:prstDash val="solid"/>
          </a:ln>
        </p:spPr>
      </p:sp>
      <p:sp>
        <p:nvSpPr>
          <p:cNvPr id="15" name="Text 13"/>
          <p:cNvSpPr/>
          <p:nvPr/>
        </p:nvSpPr>
        <p:spPr>
          <a:xfrm>
            <a:off x="475488" y="2843784"/>
            <a:ext cx="3657600" cy="237744"/>
          </a:xfrm>
          <a:prstGeom prst="rect">
            <a:avLst/>
          </a:prstGeom>
          <a:noFill/>
          <a:ln/>
        </p:spPr>
        <p:txBody>
          <a:bodyPr wrap="square" lIns="0" tIns="0" rIns="0" bIns="0" rtlCol="0" anchor="ctr"/>
          <a:lstStyle/>
          <a:p>
            <a:pPr indent="0" marL="0">
              <a:buNone/>
            </a:pPr>
            <a:r>
              <a:rPr lang="en-US" sz="1100" b="1" dirty="0">
                <a:solidFill>
                  <a:srgbClr val="059669"/>
                </a:solidFill>
                <a:latin typeface="Calibri" pitchFamily="34" charset="0"/>
                <a:ea typeface="Calibri" pitchFamily="34" charset="-122"/>
                <a:cs typeface="Calibri" pitchFamily="34" charset="-120"/>
              </a:rPr>
              <a:t>Add (Annotated + operator.add)</a:t>
            </a:r>
            <a:endParaRPr lang="en-US" sz="1100" dirty="0"/>
          </a:p>
        </p:txBody>
      </p:sp>
      <p:sp>
        <p:nvSpPr>
          <p:cNvPr id="16" name="Text 14"/>
          <p:cNvSpPr/>
          <p:nvPr/>
        </p:nvSpPr>
        <p:spPr>
          <a:xfrm>
            <a:off x="475488" y="3108960"/>
            <a:ext cx="4206240" cy="59436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If a key is Annotated with operator.add, each node's return APPENDS to the existing list instead of overwriting. Used for feedback, scores.</a:t>
            </a:r>
            <a:endParaRPr lang="en-US" sz="900" dirty="0"/>
          </a:p>
        </p:txBody>
      </p:sp>
      <p:sp>
        <p:nvSpPr>
          <p:cNvPr id="17" name="Shape 15"/>
          <p:cNvSpPr/>
          <p:nvPr/>
        </p:nvSpPr>
        <p:spPr>
          <a:xfrm>
            <a:off x="4663440" y="2843784"/>
            <a:ext cx="4069080" cy="877824"/>
          </a:xfrm>
          <a:prstGeom prst="rect">
            <a:avLst/>
          </a:prstGeom>
          <a:solidFill>
            <a:srgbClr val="0F172A"/>
          </a:solidFill>
          <a:ln w="12700">
            <a:solidFill>
              <a:srgbClr val="1E3A5F"/>
            </a:solidFill>
            <a:prstDash val="solid"/>
          </a:ln>
        </p:spPr>
      </p:sp>
      <p:sp>
        <p:nvSpPr>
          <p:cNvPr id="18" name="Text 16"/>
          <p:cNvSpPr/>
          <p:nvPr/>
        </p:nvSpPr>
        <p:spPr>
          <a:xfrm>
            <a:off x="4773168" y="2916936"/>
            <a:ext cx="3849624" cy="73152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from typing import Annotated</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import operator</a:t>
            </a:r>
            <a:endParaRPr lang="en-US" sz="850" dirty="0"/>
          </a:p>
          <a:p>
            <a:pPr indent="0" marL="0">
              <a:buNone/>
            </a:pP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class State(TypedDict):</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feedback: Annotated[list[str], operator.add]</a:t>
            </a:r>
            <a:endParaRPr lang="en-US" sz="850" dirty="0"/>
          </a:p>
          <a:p>
            <a:pPr indent="0" marL="0">
              <a:buNone/>
            </a:pP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Each node appends: ['fb1'] + ['fb2'] → ['fb1','fb2']</a:t>
            </a:r>
            <a:endParaRPr lang="en-US" sz="850" dirty="0"/>
          </a:p>
        </p:txBody>
      </p:sp>
      <p:sp>
        <p:nvSpPr>
          <p:cNvPr id="19" name="Shape 17"/>
          <p:cNvSpPr/>
          <p:nvPr/>
        </p:nvSpPr>
        <p:spPr>
          <a:xfrm>
            <a:off x="320040" y="3886200"/>
            <a:ext cx="8503920" cy="1005840"/>
          </a:xfrm>
          <a:prstGeom prst="rect">
            <a:avLst/>
          </a:prstGeom>
          <a:solidFill>
            <a:srgbClr val="F5F3FF"/>
          </a:solidFill>
          <a:ln w="12700">
            <a:solidFill>
              <a:srgbClr val="7C3AED"/>
            </a:solidFill>
            <a:prstDash val="solid"/>
          </a:ln>
        </p:spPr>
      </p:sp>
      <p:sp>
        <p:nvSpPr>
          <p:cNvPr id="20" name="Shape 18"/>
          <p:cNvSpPr/>
          <p:nvPr/>
        </p:nvSpPr>
        <p:spPr>
          <a:xfrm>
            <a:off x="320040" y="3886200"/>
            <a:ext cx="64008" cy="1005840"/>
          </a:xfrm>
          <a:prstGeom prst="rect">
            <a:avLst/>
          </a:prstGeom>
          <a:solidFill>
            <a:srgbClr val="7C3AED"/>
          </a:solidFill>
          <a:ln w="12700">
            <a:solidFill>
              <a:srgbClr val="7C3AED"/>
            </a:solidFill>
            <a:prstDash val="solid"/>
          </a:ln>
        </p:spPr>
      </p:sp>
      <p:sp>
        <p:nvSpPr>
          <p:cNvPr id="21" name="Text 19"/>
          <p:cNvSpPr/>
          <p:nvPr/>
        </p:nvSpPr>
        <p:spPr>
          <a:xfrm>
            <a:off x="475488" y="3941064"/>
            <a:ext cx="3657600" cy="237744"/>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Custom Reducers</a:t>
            </a:r>
            <a:endParaRPr lang="en-US" sz="1100" dirty="0"/>
          </a:p>
        </p:txBody>
      </p:sp>
      <p:sp>
        <p:nvSpPr>
          <p:cNvPr id="22" name="Text 20"/>
          <p:cNvSpPr/>
          <p:nvPr/>
        </p:nvSpPr>
        <p:spPr>
          <a:xfrm>
            <a:off x="475488" y="4206240"/>
            <a:ext cx="4206240" cy="59436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You can write any reducer function: merge dicts, keep latest, deduplicate lists, take the max of a set of scores. Full flexibility.</a:t>
            </a:r>
            <a:endParaRPr lang="en-US" sz="900" dirty="0"/>
          </a:p>
        </p:txBody>
      </p:sp>
      <p:sp>
        <p:nvSpPr>
          <p:cNvPr id="23" name="Shape 21"/>
          <p:cNvSpPr/>
          <p:nvPr/>
        </p:nvSpPr>
        <p:spPr>
          <a:xfrm>
            <a:off x="4663440" y="3941064"/>
            <a:ext cx="4069080" cy="877824"/>
          </a:xfrm>
          <a:prstGeom prst="rect">
            <a:avLst/>
          </a:prstGeom>
          <a:solidFill>
            <a:srgbClr val="0F172A"/>
          </a:solidFill>
          <a:ln w="12700">
            <a:solidFill>
              <a:srgbClr val="1E3A5F"/>
            </a:solidFill>
            <a:prstDash val="solid"/>
          </a:ln>
        </p:spPr>
      </p:sp>
      <p:sp>
        <p:nvSpPr>
          <p:cNvPr id="24" name="Text 22"/>
          <p:cNvSpPr/>
          <p:nvPr/>
        </p:nvSpPr>
        <p:spPr>
          <a:xfrm>
            <a:off x="4773168" y="4014216"/>
            <a:ext cx="3849624" cy="73152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def keep_max(old, new):</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return max(old or 0, new or 0)</a:t>
            </a:r>
            <a:endParaRPr lang="en-US" sz="850" dirty="0"/>
          </a:p>
          <a:p>
            <a:pPr indent="0" marL="0">
              <a:buNone/>
            </a:pP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class State(TypedDict):</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best_score: Annotated[int, keep_max]</a:t>
            </a:r>
            <a:endParaRPr lang="en-US" sz="850" dirty="0"/>
          </a:p>
        </p:txBody>
      </p:sp>
      <p:sp>
        <p:nvSpPr>
          <p:cNvPr id="25" name="Shape 23"/>
          <p:cNvSpPr/>
          <p:nvPr/>
        </p:nvSpPr>
        <p:spPr>
          <a:xfrm>
            <a:off x="320040" y="4956048"/>
            <a:ext cx="8503920" cy="402336"/>
          </a:xfrm>
          <a:prstGeom prst="rect">
            <a:avLst/>
          </a:prstGeom>
          <a:solidFill>
            <a:srgbClr val="FFFBEB"/>
          </a:solidFill>
          <a:ln w="12700">
            <a:solidFill>
              <a:srgbClr val="F59E0B"/>
            </a:solidFill>
            <a:prstDash val="solid"/>
          </a:ln>
        </p:spPr>
      </p:sp>
      <p:sp>
        <p:nvSpPr>
          <p:cNvPr id="26" name="Text 24"/>
          <p:cNvSpPr/>
          <p:nvPr/>
        </p:nvSpPr>
        <p:spPr>
          <a:xfrm>
            <a:off x="411480" y="5001768"/>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The UPSC essay workflow uses Annotated[list[int], operator.add] for individual_scores so all 3 parallel evaluators ADD their score to the list rather than overwriting each other.</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059669"/>
          </a:solidFill>
          <a:ln w="12700">
            <a:solidFill>
              <a:srgbClr val="059669"/>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LangGraph Execution Model — How the Graph Actually Runs</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Inspired by Google Pregel's super-step model for large-scale graph processing</a:t>
            </a:r>
            <a:endParaRPr lang="en-US" sz="1050" dirty="0"/>
          </a:p>
        </p:txBody>
      </p:sp>
      <p:sp>
        <p:nvSpPr>
          <p:cNvPr id="6" name="Shape 4"/>
          <p:cNvSpPr/>
          <p:nvPr/>
        </p:nvSpPr>
        <p:spPr>
          <a:xfrm>
            <a:off x="320040" y="1115568"/>
            <a:ext cx="4160520" cy="1170432"/>
          </a:xfrm>
          <a:prstGeom prst="rect">
            <a:avLst/>
          </a:prstGeom>
          <a:solidFill>
            <a:srgbClr val="F5F3FF"/>
          </a:solidFill>
          <a:ln w="12700">
            <a:solidFill>
              <a:srgbClr val="7C3AED"/>
            </a:solidFill>
            <a:prstDash val="solid"/>
          </a:ln>
        </p:spPr>
      </p:sp>
      <p:sp>
        <p:nvSpPr>
          <p:cNvPr id="7" name="Shape 5"/>
          <p:cNvSpPr/>
          <p:nvPr/>
        </p:nvSpPr>
        <p:spPr>
          <a:xfrm>
            <a:off x="320040" y="1115568"/>
            <a:ext cx="4160520" cy="274320"/>
          </a:xfrm>
          <a:prstGeom prst="rect">
            <a:avLst/>
          </a:prstGeom>
          <a:solidFill>
            <a:srgbClr val="7C3AED"/>
          </a:solidFill>
          <a:ln w="12700">
            <a:solidFill>
              <a:srgbClr val="7C3AED"/>
            </a:solidFill>
            <a:prstDash val="solid"/>
          </a:ln>
        </p:spPr>
      </p:sp>
      <p:sp>
        <p:nvSpPr>
          <p:cNvPr id="8" name="Text 6"/>
          <p:cNvSpPr/>
          <p:nvPr/>
        </p:nvSpPr>
        <p:spPr>
          <a:xfrm>
            <a:off x="411480" y="1115568"/>
            <a:ext cx="397764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 Graph Definition</a:t>
            </a:r>
            <a:endParaRPr lang="en-US" sz="950" dirty="0"/>
          </a:p>
        </p:txBody>
      </p:sp>
      <p:sp>
        <p:nvSpPr>
          <p:cNvPr id="9" name="Text 7"/>
          <p:cNvSpPr/>
          <p:nvPr/>
        </p:nvSpPr>
        <p:spPr>
          <a:xfrm>
            <a:off x="411480" y="1426464"/>
            <a:ext cx="3977640" cy="78638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You define:</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The state schema (TypedDict)</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Nodes — functions that perform tasks</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Edges — which node connects to which</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Conditional edges for routing</a:t>
            </a:r>
            <a:endParaRPr lang="en-US" sz="900" dirty="0"/>
          </a:p>
        </p:txBody>
      </p:sp>
      <p:sp>
        <p:nvSpPr>
          <p:cNvPr id="10" name="Shape 8"/>
          <p:cNvSpPr/>
          <p:nvPr/>
        </p:nvSpPr>
        <p:spPr>
          <a:xfrm>
            <a:off x="320040" y="2377440"/>
            <a:ext cx="4160520" cy="1170432"/>
          </a:xfrm>
          <a:prstGeom prst="rect">
            <a:avLst/>
          </a:prstGeom>
          <a:solidFill>
            <a:srgbClr val="F0FDF4"/>
          </a:solidFill>
          <a:ln w="12700">
            <a:solidFill>
              <a:srgbClr val="0D9488"/>
            </a:solidFill>
            <a:prstDash val="solid"/>
          </a:ln>
        </p:spPr>
      </p:sp>
      <p:sp>
        <p:nvSpPr>
          <p:cNvPr id="11" name="Shape 9"/>
          <p:cNvSpPr/>
          <p:nvPr/>
        </p:nvSpPr>
        <p:spPr>
          <a:xfrm>
            <a:off x="320040" y="2377440"/>
            <a:ext cx="4160520" cy="274320"/>
          </a:xfrm>
          <a:prstGeom prst="rect">
            <a:avLst/>
          </a:prstGeom>
          <a:solidFill>
            <a:srgbClr val="0D9488"/>
          </a:solidFill>
          <a:ln w="12700">
            <a:solidFill>
              <a:srgbClr val="0D9488"/>
            </a:solidFill>
            <a:prstDash val="solid"/>
          </a:ln>
        </p:spPr>
      </p:sp>
      <p:sp>
        <p:nvSpPr>
          <p:cNvPr id="12" name="Text 10"/>
          <p:cNvSpPr/>
          <p:nvPr/>
        </p:nvSpPr>
        <p:spPr>
          <a:xfrm>
            <a:off x="411480" y="2377440"/>
            <a:ext cx="397764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2. Compilation</a:t>
            </a:r>
            <a:endParaRPr lang="en-US" sz="950" dirty="0"/>
          </a:p>
        </p:txBody>
      </p:sp>
      <p:sp>
        <p:nvSpPr>
          <p:cNvPr id="13" name="Text 11"/>
          <p:cNvSpPr/>
          <p:nvPr/>
        </p:nvSpPr>
        <p:spPr>
          <a:xfrm>
            <a:off x="411480" y="2688336"/>
            <a:ext cx="3977640" cy="78638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You call .compile() on the StateGraph.</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This checks the graph structure for errors and prepares it for execution.</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Optionally attach a checkpointer for memory.</a:t>
            </a:r>
            <a:endParaRPr lang="en-US" sz="900" dirty="0"/>
          </a:p>
        </p:txBody>
      </p:sp>
      <p:sp>
        <p:nvSpPr>
          <p:cNvPr id="14" name="Shape 12"/>
          <p:cNvSpPr/>
          <p:nvPr/>
        </p:nvSpPr>
        <p:spPr>
          <a:xfrm>
            <a:off x="320040" y="3639312"/>
            <a:ext cx="4160520" cy="1170432"/>
          </a:xfrm>
          <a:prstGeom prst="rect">
            <a:avLst/>
          </a:prstGeom>
          <a:solidFill>
            <a:srgbClr val="EFF6FF"/>
          </a:solidFill>
          <a:ln w="12700">
            <a:solidFill>
              <a:srgbClr val="2563EB"/>
            </a:solidFill>
            <a:prstDash val="solid"/>
          </a:ln>
        </p:spPr>
      </p:sp>
      <p:sp>
        <p:nvSpPr>
          <p:cNvPr id="15" name="Shape 13"/>
          <p:cNvSpPr/>
          <p:nvPr/>
        </p:nvSpPr>
        <p:spPr>
          <a:xfrm>
            <a:off x="320040" y="3639312"/>
            <a:ext cx="4160520" cy="274320"/>
          </a:xfrm>
          <a:prstGeom prst="rect">
            <a:avLst/>
          </a:prstGeom>
          <a:solidFill>
            <a:srgbClr val="2563EB"/>
          </a:solidFill>
          <a:ln w="12700">
            <a:solidFill>
              <a:srgbClr val="2563EB"/>
            </a:solidFill>
            <a:prstDash val="solid"/>
          </a:ln>
        </p:spPr>
      </p:sp>
      <p:sp>
        <p:nvSpPr>
          <p:cNvPr id="16" name="Text 14"/>
          <p:cNvSpPr/>
          <p:nvPr/>
        </p:nvSpPr>
        <p:spPr>
          <a:xfrm>
            <a:off x="411480" y="3639312"/>
            <a:ext cx="397764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3. Invocation</a:t>
            </a:r>
            <a:endParaRPr lang="en-US" sz="950" dirty="0"/>
          </a:p>
        </p:txBody>
      </p:sp>
      <p:sp>
        <p:nvSpPr>
          <p:cNvPr id="17" name="Text 15"/>
          <p:cNvSpPr/>
          <p:nvPr/>
        </p:nvSpPr>
        <p:spPr>
          <a:xfrm>
            <a:off x="411480" y="3950208"/>
            <a:ext cx="3977640" cy="78638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You run the graph with .invoke(initial_state).</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LangGraph sends the initial state as a message to the START node(s).</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Execution begins.</a:t>
            </a:r>
            <a:endParaRPr lang="en-US" sz="900" dirty="0"/>
          </a:p>
        </p:txBody>
      </p:sp>
      <p:sp>
        <p:nvSpPr>
          <p:cNvPr id="18" name="Shape 16"/>
          <p:cNvSpPr/>
          <p:nvPr/>
        </p:nvSpPr>
        <p:spPr>
          <a:xfrm>
            <a:off x="4681728" y="1115568"/>
            <a:ext cx="4160520" cy="1170432"/>
          </a:xfrm>
          <a:prstGeom prst="rect">
            <a:avLst/>
          </a:prstGeom>
          <a:solidFill>
            <a:srgbClr val="FFFBEB"/>
          </a:solidFill>
          <a:ln w="12700">
            <a:solidFill>
              <a:srgbClr val="F59E0B"/>
            </a:solidFill>
            <a:prstDash val="solid"/>
          </a:ln>
        </p:spPr>
      </p:sp>
      <p:sp>
        <p:nvSpPr>
          <p:cNvPr id="19" name="Shape 17"/>
          <p:cNvSpPr/>
          <p:nvPr/>
        </p:nvSpPr>
        <p:spPr>
          <a:xfrm>
            <a:off x="4681728" y="1115568"/>
            <a:ext cx="4160520" cy="274320"/>
          </a:xfrm>
          <a:prstGeom prst="rect">
            <a:avLst/>
          </a:prstGeom>
          <a:solidFill>
            <a:srgbClr val="F59E0B"/>
          </a:solidFill>
          <a:ln w="12700">
            <a:solidFill>
              <a:srgbClr val="F59E0B"/>
            </a:solidFill>
            <a:prstDash val="solid"/>
          </a:ln>
        </p:spPr>
      </p:sp>
      <p:sp>
        <p:nvSpPr>
          <p:cNvPr id="20" name="Text 18"/>
          <p:cNvSpPr/>
          <p:nvPr/>
        </p:nvSpPr>
        <p:spPr>
          <a:xfrm>
            <a:off x="4773168" y="1115568"/>
            <a:ext cx="397764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4. Super-Steps Begin</a:t>
            </a:r>
            <a:endParaRPr lang="en-US" sz="950" dirty="0"/>
          </a:p>
        </p:txBody>
      </p:sp>
      <p:sp>
        <p:nvSpPr>
          <p:cNvPr id="21" name="Text 19"/>
          <p:cNvSpPr/>
          <p:nvPr/>
        </p:nvSpPr>
        <p:spPr>
          <a:xfrm>
            <a:off x="4773168" y="1426464"/>
            <a:ext cx="3977640" cy="78638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Execution proceeds in rounds (super-steps):</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All active nodes (those that received messages) run in parallel</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Each returns an update (message) to the state</a:t>
            </a:r>
            <a:endParaRPr lang="en-US" sz="900" dirty="0"/>
          </a:p>
        </p:txBody>
      </p:sp>
      <p:sp>
        <p:nvSpPr>
          <p:cNvPr id="22" name="Shape 20"/>
          <p:cNvSpPr/>
          <p:nvPr/>
        </p:nvSpPr>
        <p:spPr>
          <a:xfrm>
            <a:off x="4681728" y="2377440"/>
            <a:ext cx="4160520" cy="1170432"/>
          </a:xfrm>
          <a:prstGeom prst="rect">
            <a:avLst/>
          </a:prstGeom>
          <a:solidFill>
            <a:srgbClr val="F0FDF4"/>
          </a:solidFill>
          <a:ln w="12700">
            <a:solidFill>
              <a:srgbClr val="059669"/>
            </a:solidFill>
            <a:prstDash val="solid"/>
          </a:ln>
        </p:spPr>
      </p:sp>
      <p:sp>
        <p:nvSpPr>
          <p:cNvPr id="23" name="Shape 21"/>
          <p:cNvSpPr/>
          <p:nvPr/>
        </p:nvSpPr>
        <p:spPr>
          <a:xfrm>
            <a:off x="4681728" y="2377440"/>
            <a:ext cx="4160520" cy="274320"/>
          </a:xfrm>
          <a:prstGeom prst="rect">
            <a:avLst/>
          </a:prstGeom>
          <a:solidFill>
            <a:srgbClr val="059669"/>
          </a:solidFill>
          <a:ln w="12700">
            <a:solidFill>
              <a:srgbClr val="059669"/>
            </a:solidFill>
            <a:prstDash val="solid"/>
          </a:ln>
        </p:spPr>
      </p:sp>
      <p:sp>
        <p:nvSpPr>
          <p:cNvPr id="24" name="Text 22"/>
          <p:cNvSpPr/>
          <p:nvPr/>
        </p:nvSpPr>
        <p:spPr>
          <a:xfrm>
            <a:off x="4773168" y="2377440"/>
            <a:ext cx="397764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5. Message Passing &amp; Node Activation</a:t>
            </a:r>
            <a:endParaRPr lang="en-US" sz="950" dirty="0"/>
          </a:p>
        </p:txBody>
      </p:sp>
      <p:sp>
        <p:nvSpPr>
          <p:cNvPr id="25" name="Text 23"/>
          <p:cNvSpPr/>
          <p:nvPr/>
        </p:nvSpPr>
        <p:spPr>
          <a:xfrm>
            <a:off x="4773168" y="2688336"/>
            <a:ext cx="3977640" cy="78638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Updated state is passed downstream via edges.</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Nodes that receive messages become active for the next round.</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This is how parallelism naturally emerges.</a:t>
            </a:r>
            <a:endParaRPr lang="en-US" sz="900" dirty="0"/>
          </a:p>
        </p:txBody>
      </p:sp>
      <p:sp>
        <p:nvSpPr>
          <p:cNvPr id="26" name="Shape 24"/>
          <p:cNvSpPr/>
          <p:nvPr/>
        </p:nvSpPr>
        <p:spPr>
          <a:xfrm>
            <a:off x="4681728" y="3639312"/>
            <a:ext cx="4160520" cy="1170432"/>
          </a:xfrm>
          <a:prstGeom prst="rect">
            <a:avLst/>
          </a:prstGeom>
          <a:solidFill>
            <a:srgbClr val="FEF2F2"/>
          </a:solidFill>
          <a:ln w="12700">
            <a:solidFill>
              <a:srgbClr val="DC2626"/>
            </a:solidFill>
            <a:prstDash val="solid"/>
          </a:ln>
        </p:spPr>
      </p:sp>
      <p:sp>
        <p:nvSpPr>
          <p:cNvPr id="27" name="Shape 25"/>
          <p:cNvSpPr/>
          <p:nvPr/>
        </p:nvSpPr>
        <p:spPr>
          <a:xfrm>
            <a:off x="4681728" y="3639312"/>
            <a:ext cx="4160520" cy="274320"/>
          </a:xfrm>
          <a:prstGeom prst="rect">
            <a:avLst/>
          </a:prstGeom>
          <a:solidFill>
            <a:srgbClr val="DC2626"/>
          </a:solidFill>
          <a:ln w="12700">
            <a:solidFill>
              <a:srgbClr val="DC2626"/>
            </a:solidFill>
            <a:prstDash val="solid"/>
          </a:ln>
        </p:spPr>
      </p:sp>
      <p:sp>
        <p:nvSpPr>
          <p:cNvPr id="28" name="Text 26"/>
          <p:cNvSpPr/>
          <p:nvPr/>
        </p:nvSpPr>
        <p:spPr>
          <a:xfrm>
            <a:off x="4773168" y="3639312"/>
            <a:ext cx="397764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6. Halting Condition</a:t>
            </a:r>
            <a:endParaRPr lang="en-US" sz="950" dirty="0"/>
          </a:p>
        </p:txBody>
      </p:sp>
      <p:sp>
        <p:nvSpPr>
          <p:cNvPr id="29" name="Text 27"/>
          <p:cNvSpPr/>
          <p:nvPr/>
        </p:nvSpPr>
        <p:spPr>
          <a:xfrm>
            <a:off x="4773168" y="3950208"/>
            <a:ext cx="3977640" cy="786384"/>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Execution stops when:</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No nodes are active, AND</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 No messages are in transit</a:t>
            </a:r>
            <a:endParaRPr lang="en-US" sz="900" dirty="0"/>
          </a:p>
          <a:p>
            <a:pPr indent="0" marL="0">
              <a:buNone/>
            </a:pPr>
            <a:r>
              <a:rPr lang="en-US" sz="900" dirty="0">
                <a:solidFill>
                  <a:srgbClr val="475569"/>
                </a:solidFill>
                <a:latin typeface="Calibri" pitchFamily="34" charset="0"/>
                <a:ea typeface="Calibri" pitchFamily="34" charset="-122"/>
                <a:cs typeface="Calibri" pitchFamily="34" charset="-120"/>
              </a:rPr>
              <a:t>(both conditions must be true simultaneously)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DC2626"/>
          </a:solidFill>
          <a:ln w="12700">
            <a:solidFill>
              <a:srgbClr val="DC2626"/>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Fault Tolerance — Checkpointing &amp; Resilience</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LangGraph makes long-running agentic workflows resilient to failures</a:t>
            </a:r>
            <a:endParaRPr lang="en-US" sz="1050" dirty="0"/>
          </a:p>
        </p:txBody>
      </p:sp>
      <p:sp>
        <p:nvSpPr>
          <p:cNvPr id="6" name="Text 4"/>
          <p:cNvSpPr/>
          <p:nvPr/>
        </p:nvSpPr>
        <p:spPr>
          <a:xfrm>
            <a:off x="347472" y="1115568"/>
            <a:ext cx="822960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The Problem Without Fault Tolerance:</a:t>
            </a:r>
            <a:endParaRPr lang="en-US" sz="1200" dirty="0"/>
          </a:p>
        </p:txBody>
      </p:sp>
      <p:sp>
        <p:nvSpPr>
          <p:cNvPr id="7" name="Text 5"/>
          <p:cNvSpPr/>
          <p:nvPr/>
        </p:nvSpPr>
        <p:spPr>
          <a:xfrm>
            <a:off x="347472" y="1389888"/>
            <a:ext cx="8412480" cy="402336"/>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In a complex 10-node workflow that takes 5 minutes to run, if node 8 fails due to a network error, without fault tolerance you lose all the work from nodes 1–7 and must start over from scratch.</a:t>
            </a:r>
            <a:endParaRPr lang="en-US" sz="1050" dirty="0"/>
          </a:p>
        </p:txBody>
      </p:sp>
      <p:sp>
        <p:nvSpPr>
          <p:cNvPr id="8" name="Shape 6"/>
          <p:cNvSpPr/>
          <p:nvPr/>
        </p:nvSpPr>
        <p:spPr>
          <a:xfrm>
            <a:off x="320040" y="1874520"/>
            <a:ext cx="4160520" cy="896112"/>
          </a:xfrm>
          <a:prstGeom prst="rect">
            <a:avLst/>
          </a:prstGeom>
          <a:solidFill>
            <a:srgbClr val="F0FDF4"/>
          </a:solidFill>
          <a:ln w="12700">
            <a:solidFill>
              <a:srgbClr val="0D9488"/>
            </a:solidFill>
            <a:prstDash val="solid"/>
          </a:ln>
        </p:spPr>
      </p:sp>
      <p:sp>
        <p:nvSpPr>
          <p:cNvPr id="9" name="Shape 7"/>
          <p:cNvSpPr/>
          <p:nvPr/>
        </p:nvSpPr>
        <p:spPr>
          <a:xfrm>
            <a:off x="320040" y="1874520"/>
            <a:ext cx="64008" cy="896112"/>
          </a:xfrm>
          <a:prstGeom prst="rect">
            <a:avLst/>
          </a:prstGeom>
          <a:solidFill>
            <a:srgbClr val="0D9488"/>
          </a:solidFill>
          <a:ln w="12700">
            <a:solidFill>
              <a:srgbClr val="0D9488"/>
            </a:solidFill>
            <a:prstDash val="solid"/>
          </a:ln>
        </p:spPr>
      </p:sp>
      <p:sp>
        <p:nvSpPr>
          <p:cNvPr id="10" name="Text 8"/>
          <p:cNvSpPr/>
          <p:nvPr/>
        </p:nvSpPr>
        <p:spPr>
          <a:xfrm>
            <a:off x="475488" y="1929384"/>
            <a:ext cx="1828800" cy="237744"/>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Checkpointers</a:t>
            </a:r>
            <a:endParaRPr lang="en-US" sz="1050" dirty="0"/>
          </a:p>
        </p:txBody>
      </p:sp>
      <p:sp>
        <p:nvSpPr>
          <p:cNvPr id="11" name="Text 9"/>
          <p:cNvSpPr/>
          <p:nvPr/>
        </p:nvSpPr>
        <p:spPr>
          <a:xfrm>
            <a:off x="475488" y="2203704"/>
            <a:ext cx="3931920" cy="493776"/>
          </a:xfrm>
          <a:prstGeom prst="rect">
            <a:avLst/>
          </a:prstGeom>
          <a:noFill/>
          <a:ln/>
        </p:spPr>
        <p:txBody>
          <a:bodyPr wrap="square" lIns="0" tIns="0" rIns="0" bIns="0" rtlCol="0" anchor="ctr"/>
          <a:lstStyle/>
          <a:p>
            <a:pPr indent="0" marL="0">
              <a:buNone/>
            </a:pPr>
            <a:r>
              <a:rPr lang="en-US" sz="880" dirty="0">
                <a:solidFill>
                  <a:srgbClr val="475569"/>
                </a:solidFill>
                <a:latin typeface="Calibri" pitchFamily="34" charset="0"/>
                <a:ea typeface="Calibri" pitchFamily="34" charset="-122"/>
                <a:cs typeface="Calibri" pitchFamily="34" charset="-120"/>
              </a:rPr>
              <a:t>LangGraph supports pluggable checkpointers (MemorySaver, SqliteSaver, PostgresSaver). After each super-step, the full state is saved. On failure, the graph resumes from the last saved checkpoint — not from the beginning.</a:t>
            </a:r>
            <a:endParaRPr lang="en-US" sz="880" dirty="0"/>
          </a:p>
        </p:txBody>
      </p:sp>
      <p:sp>
        <p:nvSpPr>
          <p:cNvPr id="12" name="Shape 10"/>
          <p:cNvSpPr/>
          <p:nvPr/>
        </p:nvSpPr>
        <p:spPr>
          <a:xfrm>
            <a:off x="4663440" y="1929384"/>
            <a:ext cx="4069080" cy="786384"/>
          </a:xfrm>
          <a:prstGeom prst="rect">
            <a:avLst/>
          </a:prstGeom>
          <a:solidFill>
            <a:srgbClr val="0F172A"/>
          </a:solidFill>
          <a:ln w="12700">
            <a:solidFill>
              <a:srgbClr val="1E3A5F"/>
            </a:solidFill>
            <a:prstDash val="solid"/>
          </a:ln>
        </p:spPr>
      </p:sp>
      <p:sp>
        <p:nvSpPr>
          <p:cNvPr id="13" name="Text 11"/>
          <p:cNvSpPr/>
          <p:nvPr/>
        </p:nvSpPr>
        <p:spPr>
          <a:xfrm>
            <a:off x="4773168" y="2002536"/>
            <a:ext cx="3849624" cy="64008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from langgraph.checkpoint.memory import MemorySaver</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checkpointer = MemorySaver()</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graph = workflow.compile(checkpointer=checkpointer)</a:t>
            </a:r>
            <a:endParaRPr lang="en-US" sz="850" dirty="0"/>
          </a:p>
        </p:txBody>
      </p:sp>
      <p:sp>
        <p:nvSpPr>
          <p:cNvPr id="14" name="Shape 12"/>
          <p:cNvSpPr/>
          <p:nvPr/>
        </p:nvSpPr>
        <p:spPr>
          <a:xfrm>
            <a:off x="320040" y="2862072"/>
            <a:ext cx="4160520" cy="896112"/>
          </a:xfrm>
          <a:prstGeom prst="rect">
            <a:avLst/>
          </a:prstGeom>
          <a:solidFill>
            <a:srgbClr val="F5F3FF"/>
          </a:solidFill>
          <a:ln w="12700">
            <a:solidFill>
              <a:srgbClr val="7C3AED"/>
            </a:solidFill>
            <a:prstDash val="solid"/>
          </a:ln>
        </p:spPr>
      </p:sp>
      <p:sp>
        <p:nvSpPr>
          <p:cNvPr id="15" name="Shape 13"/>
          <p:cNvSpPr/>
          <p:nvPr/>
        </p:nvSpPr>
        <p:spPr>
          <a:xfrm>
            <a:off x="320040" y="2862072"/>
            <a:ext cx="64008" cy="896112"/>
          </a:xfrm>
          <a:prstGeom prst="rect">
            <a:avLst/>
          </a:prstGeom>
          <a:solidFill>
            <a:srgbClr val="7C3AED"/>
          </a:solidFill>
          <a:ln w="12700">
            <a:solidFill>
              <a:srgbClr val="7C3AED"/>
            </a:solidFill>
            <a:prstDash val="solid"/>
          </a:ln>
        </p:spPr>
      </p:sp>
      <p:sp>
        <p:nvSpPr>
          <p:cNvPr id="16" name="Text 14"/>
          <p:cNvSpPr/>
          <p:nvPr/>
        </p:nvSpPr>
        <p:spPr>
          <a:xfrm>
            <a:off x="475488" y="2916936"/>
            <a:ext cx="1828800" cy="237744"/>
          </a:xfrm>
          <a:prstGeom prst="rect">
            <a:avLst/>
          </a:prstGeom>
          <a:noFill/>
          <a:ln/>
        </p:spPr>
        <p:txBody>
          <a:bodyPr wrap="square" lIns="0" tIns="0" rIns="0" bIns="0" rtlCol="0" anchor="ctr"/>
          <a:lstStyle/>
          <a:p>
            <a:pPr indent="0" marL="0">
              <a:buNone/>
            </a:pPr>
            <a:r>
              <a:rPr lang="en-US" sz="1050" b="1" dirty="0">
                <a:solidFill>
                  <a:srgbClr val="7C3AED"/>
                </a:solidFill>
                <a:latin typeface="Calibri" pitchFamily="34" charset="0"/>
                <a:ea typeface="Calibri" pitchFamily="34" charset="-122"/>
                <a:cs typeface="Calibri" pitchFamily="34" charset="-120"/>
              </a:rPr>
              <a:t>⏸️  Pause &amp; Resume</a:t>
            </a:r>
            <a:endParaRPr lang="en-US" sz="1050" dirty="0"/>
          </a:p>
        </p:txBody>
      </p:sp>
      <p:sp>
        <p:nvSpPr>
          <p:cNvPr id="17" name="Text 15"/>
          <p:cNvSpPr/>
          <p:nvPr/>
        </p:nvSpPr>
        <p:spPr>
          <a:xfrm>
            <a:off x="475488" y="3191256"/>
            <a:ext cx="3931920" cy="493776"/>
          </a:xfrm>
          <a:prstGeom prst="rect">
            <a:avLst/>
          </a:prstGeom>
          <a:noFill/>
          <a:ln/>
        </p:spPr>
        <p:txBody>
          <a:bodyPr wrap="square" lIns="0" tIns="0" rIns="0" bIns="0" rtlCol="0" anchor="ctr"/>
          <a:lstStyle/>
          <a:p>
            <a:pPr indent="0" marL="0">
              <a:buNone/>
            </a:pPr>
            <a:r>
              <a:rPr lang="en-US" sz="880" dirty="0">
                <a:solidFill>
                  <a:srgbClr val="475569"/>
                </a:solidFill>
                <a:latin typeface="Calibri" pitchFamily="34" charset="0"/>
                <a:ea typeface="Calibri" pitchFamily="34" charset="-122"/>
                <a:cs typeface="Calibri" pitchFamily="34" charset="-120"/>
              </a:rPr>
              <a:t>Human-in-the-loop workflows need to pause and wait for human approval before continuing. LangGraph supports this with interrupt_before and interrupt_after parameters — the graph saves state, pauses, and resumes when the human responds.</a:t>
            </a:r>
            <a:endParaRPr lang="en-US" sz="880" dirty="0"/>
          </a:p>
        </p:txBody>
      </p:sp>
      <p:sp>
        <p:nvSpPr>
          <p:cNvPr id="18" name="Shape 16"/>
          <p:cNvSpPr/>
          <p:nvPr/>
        </p:nvSpPr>
        <p:spPr>
          <a:xfrm>
            <a:off x="4663440" y="2916936"/>
            <a:ext cx="4069080" cy="786384"/>
          </a:xfrm>
          <a:prstGeom prst="rect">
            <a:avLst/>
          </a:prstGeom>
          <a:solidFill>
            <a:srgbClr val="0F172A"/>
          </a:solidFill>
          <a:ln w="12700">
            <a:solidFill>
              <a:srgbClr val="1E3A5F"/>
            </a:solidFill>
            <a:prstDash val="solid"/>
          </a:ln>
        </p:spPr>
      </p:sp>
      <p:sp>
        <p:nvSpPr>
          <p:cNvPr id="19" name="Text 17"/>
          <p:cNvSpPr/>
          <p:nvPr/>
        </p:nvSpPr>
        <p:spPr>
          <a:xfrm>
            <a:off x="4773168" y="2990088"/>
            <a:ext cx="3849624" cy="64008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 Pause before a node and wait for human approval</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graph = workflow.compile(</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checkpointer=checkpointer,</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interrupt_before=['send_email']</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a:t>
            </a:r>
            <a:endParaRPr lang="en-US" sz="850" dirty="0"/>
          </a:p>
        </p:txBody>
      </p:sp>
      <p:sp>
        <p:nvSpPr>
          <p:cNvPr id="20" name="Shape 18"/>
          <p:cNvSpPr/>
          <p:nvPr/>
        </p:nvSpPr>
        <p:spPr>
          <a:xfrm>
            <a:off x="320040" y="3849624"/>
            <a:ext cx="4160520" cy="896112"/>
          </a:xfrm>
          <a:prstGeom prst="rect">
            <a:avLst/>
          </a:prstGeom>
          <a:solidFill>
            <a:srgbClr val="FFFBEB"/>
          </a:solidFill>
          <a:ln w="12700">
            <a:solidFill>
              <a:srgbClr val="F59E0B"/>
            </a:solidFill>
            <a:prstDash val="solid"/>
          </a:ln>
        </p:spPr>
      </p:sp>
      <p:sp>
        <p:nvSpPr>
          <p:cNvPr id="21" name="Shape 19"/>
          <p:cNvSpPr/>
          <p:nvPr/>
        </p:nvSpPr>
        <p:spPr>
          <a:xfrm>
            <a:off x="320040" y="3849624"/>
            <a:ext cx="64008" cy="896112"/>
          </a:xfrm>
          <a:prstGeom prst="rect">
            <a:avLst/>
          </a:prstGeom>
          <a:solidFill>
            <a:srgbClr val="F59E0B"/>
          </a:solidFill>
          <a:ln w="12700">
            <a:solidFill>
              <a:srgbClr val="F59E0B"/>
            </a:solidFill>
            <a:prstDash val="solid"/>
          </a:ln>
        </p:spPr>
      </p:sp>
      <p:sp>
        <p:nvSpPr>
          <p:cNvPr id="22" name="Text 20"/>
          <p:cNvSpPr/>
          <p:nvPr/>
        </p:nvSpPr>
        <p:spPr>
          <a:xfrm>
            <a:off x="475488" y="3904488"/>
            <a:ext cx="1828800" cy="237744"/>
          </a:xfrm>
          <a:prstGeom prst="rect">
            <a:avLst/>
          </a:prstGeom>
          <a:noFill/>
          <a:ln/>
        </p:spPr>
        <p:txBody>
          <a:bodyPr wrap="square" lIns="0" tIns="0" rIns="0" bIns="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  Automatic Retry</a:t>
            </a:r>
            <a:endParaRPr lang="en-US" sz="1050" dirty="0"/>
          </a:p>
        </p:txBody>
      </p:sp>
      <p:sp>
        <p:nvSpPr>
          <p:cNvPr id="23" name="Text 21"/>
          <p:cNvSpPr/>
          <p:nvPr/>
        </p:nvSpPr>
        <p:spPr>
          <a:xfrm>
            <a:off x="475488" y="4178808"/>
            <a:ext cx="3931920" cy="493776"/>
          </a:xfrm>
          <a:prstGeom prst="rect">
            <a:avLst/>
          </a:prstGeom>
          <a:noFill/>
          <a:ln/>
        </p:spPr>
        <p:txBody>
          <a:bodyPr wrap="square" lIns="0" tIns="0" rIns="0" bIns="0" rtlCol="0" anchor="ctr"/>
          <a:lstStyle/>
          <a:p>
            <a:pPr indent="0" marL="0">
              <a:buNone/>
            </a:pPr>
            <a:r>
              <a:rPr lang="en-US" sz="880" dirty="0">
                <a:solidFill>
                  <a:srgbClr val="475569"/>
                </a:solidFill>
                <a:latin typeface="Calibri" pitchFamily="34" charset="0"/>
                <a:ea typeface="Calibri" pitchFamily="34" charset="-122"/>
                <a:cs typeface="Calibri" pitchFamily="34" charset="-120"/>
              </a:rPr>
              <a:t>Individual nodes can be configured with retry policies. If an LLM call or tool call fails due to a transient error (rate limit, timeout), LangGraph will automatically retry the node with exponential backoff before raising an error.</a:t>
            </a:r>
            <a:endParaRPr lang="en-US" sz="880" dirty="0"/>
          </a:p>
        </p:txBody>
      </p:sp>
      <p:sp>
        <p:nvSpPr>
          <p:cNvPr id="24" name="Shape 22"/>
          <p:cNvSpPr/>
          <p:nvPr/>
        </p:nvSpPr>
        <p:spPr>
          <a:xfrm>
            <a:off x="4663440" y="3904488"/>
            <a:ext cx="4069080" cy="786384"/>
          </a:xfrm>
          <a:prstGeom prst="rect">
            <a:avLst/>
          </a:prstGeom>
          <a:solidFill>
            <a:srgbClr val="0F172A"/>
          </a:solidFill>
          <a:ln w="12700">
            <a:solidFill>
              <a:srgbClr val="1E3A5F"/>
            </a:solidFill>
            <a:prstDash val="solid"/>
          </a:ln>
        </p:spPr>
      </p:sp>
      <p:sp>
        <p:nvSpPr>
          <p:cNvPr id="25" name="Text 23"/>
          <p:cNvSpPr/>
          <p:nvPr/>
        </p:nvSpPr>
        <p:spPr>
          <a:xfrm>
            <a:off x="4773168" y="3977640"/>
            <a:ext cx="3849624" cy="64008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from langgraph.pregel import RetryPolicy</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graph.add_node('call_api', api_fn,</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retry=RetryPolicy(max_attempts=3))</a:t>
            </a:r>
            <a:endParaRPr lang="en-US" sz="850" dirty="0"/>
          </a:p>
        </p:txBody>
      </p:sp>
      <p:sp>
        <p:nvSpPr>
          <p:cNvPr id="26" name="Shape 24"/>
          <p:cNvSpPr/>
          <p:nvPr/>
        </p:nvSpPr>
        <p:spPr>
          <a:xfrm>
            <a:off x="320040" y="4864608"/>
            <a:ext cx="8503920" cy="402336"/>
          </a:xfrm>
          <a:prstGeom prst="rect">
            <a:avLst/>
          </a:prstGeom>
          <a:solidFill>
            <a:srgbClr val="FEF2F2"/>
          </a:solidFill>
          <a:ln w="12700">
            <a:solidFill>
              <a:srgbClr val="DC2626"/>
            </a:solidFill>
            <a:prstDash val="solid"/>
          </a:ln>
        </p:spPr>
      </p:sp>
      <p:sp>
        <p:nvSpPr>
          <p:cNvPr id="27" name="Text 25"/>
          <p:cNvSpPr/>
          <p:nvPr/>
        </p:nvSpPr>
        <p:spPr>
          <a:xfrm>
            <a:off x="411480" y="4910328"/>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Checkpointing is what separates LangGraph from simple function chains. Without it, any long-running agentic task is fragile. With it, workflows are production-grade.</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7C3AED"/>
          </a:solidFill>
          <a:ln w="12700">
            <a:solidFill>
              <a:srgbClr val="7C3AED"/>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Agent-Driven Execution — Agentic AI with LangGraph</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Agents use LangGraph to autonomously decide their next action at every step</a:t>
            </a:r>
            <a:endParaRPr lang="en-US" sz="1050" dirty="0"/>
          </a:p>
        </p:txBody>
      </p:sp>
      <p:sp>
        <p:nvSpPr>
          <p:cNvPr id="6" name="Text 4"/>
          <p:cNvSpPr/>
          <p:nvPr/>
        </p:nvSpPr>
        <p:spPr>
          <a:xfrm>
            <a:off x="347472" y="1115568"/>
            <a:ext cx="8229600" cy="256032"/>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What is Agentic Execution?</a:t>
            </a:r>
            <a:endParaRPr lang="en-US" sz="1200" dirty="0"/>
          </a:p>
        </p:txBody>
      </p:sp>
      <p:sp>
        <p:nvSpPr>
          <p:cNvPr id="7" name="Text 5"/>
          <p:cNvSpPr/>
          <p:nvPr/>
        </p:nvSpPr>
        <p:spPr>
          <a:xfrm>
            <a:off x="347472" y="1389888"/>
            <a:ext cx="8412480"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In a standard workflow the developer hardcodes the path. In an AGENTIC workflow, the LLM itself decides at each node whether to call a tool, loop back, branch, or stop. LangGraph makes this possible by giving the LLM access to the full state.</a:t>
            </a:r>
            <a:endParaRPr lang="en-US" sz="1050" dirty="0"/>
          </a:p>
        </p:txBody>
      </p:sp>
      <p:sp>
        <p:nvSpPr>
          <p:cNvPr id="8" name="Shape 6"/>
          <p:cNvSpPr/>
          <p:nvPr/>
        </p:nvSpPr>
        <p:spPr>
          <a:xfrm>
            <a:off x="320040" y="1920240"/>
            <a:ext cx="4160520" cy="1938528"/>
          </a:xfrm>
          <a:prstGeom prst="rect">
            <a:avLst/>
          </a:prstGeom>
          <a:solidFill>
            <a:srgbClr val="EFF6FF"/>
          </a:solidFill>
          <a:ln w="12700">
            <a:solidFill>
              <a:srgbClr val="2563EB"/>
            </a:solidFill>
            <a:prstDash val="solid"/>
          </a:ln>
        </p:spPr>
      </p:sp>
      <p:sp>
        <p:nvSpPr>
          <p:cNvPr id="9" name="Shape 7"/>
          <p:cNvSpPr/>
          <p:nvPr/>
        </p:nvSpPr>
        <p:spPr>
          <a:xfrm>
            <a:off x="320040" y="1920240"/>
            <a:ext cx="4160520" cy="274320"/>
          </a:xfrm>
          <a:prstGeom prst="rect">
            <a:avLst/>
          </a:prstGeom>
          <a:solidFill>
            <a:srgbClr val="2563EB"/>
          </a:solidFill>
          <a:ln w="12700">
            <a:solidFill>
              <a:srgbClr val="2563EB"/>
            </a:solidFill>
            <a:prstDash val="solid"/>
          </a:ln>
        </p:spPr>
      </p:sp>
      <p:sp>
        <p:nvSpPr>
          <p:cNvPr id="10" name="Text 8"/>
          <p:cNvSpPr/>
          <p:nvPr/>
        </p:nvSpPr>
        <p:spPr>
          <a:xfrm>
            <a:off x="411480" y="1920240"/>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Standard Workflow</a:t>
            </a:r>
            <a:endParaRPr lang="en-US" sz="1050" dirty="0"/>
          </a:p>
        </p:txBody>
      </p:sp>
      <p:sp>
        <p:nvSpPr>
          <p:cNvPr id="11" name="Text 9"/>
          <p:cNvSpPr/>
          <p:nvPr/>
        </p:nvSpPr>
        <p:spPr>
          <a:xfrm>
            <a:off x="429768" y="224028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Developer defines every step in advance</a:t>
            </a:r>
            <a:endParaRPr lang="en-US" sz="950" dirty="0"/>
          </a:p>
        </p:txBody>
      </p:sp>
      <p:sp>
        <p:nvSpPr>
          <p:cNvPr id="12" name="Text 10"/>
          <p:cNvSpPr/>
          <p:nvPr/>
        </p:nvSpPr>
        <p:spPr>
          <a:xfrm>
            <a:off x="429768" y="256032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Path through the graph is fixed at design time</a:t>
            </a:r>
            <a:endParaRPr lang="en-US" sz="950" dirty="0"/>
          </a:p>
        </p:txBody>
      </p:sp>
      <p:sp>
        <p:nvSpPr>
          <p:cNvPr id="13" name="Text 11"/>
          <p:cNvSpPr/>
          <p:nvPr/>
        </p:nvSpPr>
        <p:spPr>
          <a:xfrm>
            <a:off x="429768" y="288036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No autonomy — nodes cannot decide their own next step</a:t>
            </a:r>
            <a:endParaRPr lang="en-US" sz="950" dirty="0"/>
          </a:p>
        </p:txBody>
      </p:sp>
      <p:sp>
        <p:nvSpPr>
          <p:cNvPr id="14" name="Text 12"/>
          <p:cNvSpPr/>
          <p:nvPr/>
        </p:nvSpPr>
        <p:spPr>
          <a:xfrm>
            <a:off x="429768" y="320040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Good for: deterministic pipelines (BMI calc, report gen)</a:t>
            </a:r>
            <a:endParaRPr lang="en-US" sz="950" dirty="0"/>
          </a:p>
        </p:txBody>
      </p:sp>
      <p:sp>
        <p:nvSpPr>
          <p:cNvPr id="15" name="Text 13"/>
          <p:cNvSpPr/>
          <p:nvPr/>
        </p:nvSpPr>
        <p:spPr>
          <a:xfrm>
            <a:off x="429768" y="352044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Example: START → outline → blog → rate → END</a:t>
            </a:r>
            <a:endParaRPr lang="en-US" sz="950" dirty="0"/>
          </a:p>
        </p:txBody>
      </p:sp>
      <p:sp>
        <p:nvSpPr>
          <p:cNvPr id="16" name="Shape 14"/>
          <p:cNvSpPr/>
          <p:nvPr/>
        </p:nvSpPr>
        <p:spPr>
          <a:xfrm>
            <a:off x="4681728" y="1920240"/>
            <a:ext cx="4160520" cy="1938528"/>
          </a:xfrm>
          <a:prstGeom prst="rect">
            <a:avLst/>
          </a:prstGeom>
          <a:solidFill>
            <a:srgbClr val="F5F3FF"/>
          </a:solidFill>
          <a:ln w="12700">
            <a:solidFill>
              <a:srgbClr val="7C3AED"/>
            </a:solidFill>
            <a:prstDash val="solid"/>
          </a:ln>
        </p:spPr>
      </p:sp>
      <p:sp>
        <p:nvSpPr>
          <p:cNvPr id="17" name="Shape 15"/>
          <p:cNvSpPr/>
          <p:nvPr/>
        </p:nvSpPr>
        <p:spPr>
          <a:xfrm>
            <a:off x="4681728" y="1920240"/>
            <a:ext cx="4160520" cy="274320"/>
          </a:xfrm>
          <a:prstGeom prst="rect">
            <a:avLst/>
          </a:prstGeom>
          <a:solidFill>
            <a:srgbClr val="7C3AED"/>
          </a:solidFill>
          <a:ln w="12700">
            <a:solidFill>
              <a:srgbClr val="7C3AED"/>
            </a:solidFill>
            <a:prstDash val="solid"/>
          </a:ln>
        </p:spPr>
      </p:sp>
      <p:sp>
        <p:nvSpPr>
          <p:cNvPr id="18" name="Text 16"/>
          <p:cNvSpPr/>
          <p:nvPr/>
        </p:nvSpPr>
        <p:spPr>
          <a:xfrm>
            <a:off x="4773168" y="1920240"/>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Agent-Driven Execution</a:t>
            </a:r>
            <a:endParaRPr lang="en-US" sz="1050" dirty="0"/>
          </a:p>
        </p:txBody>
      </p:sp>
      <p:sp>
        <p:nvSpPr>
          <p:cNvPr id="19" name="Text 17"/>
          <p:cNvSpPr/>
          <p:nvPr/>
        </p:nvSpPr>
        <p:spPr>
          <a:xfrm>
            <a:off x="4791456" y="224028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LLM agent decides what to do next at runtime</a:t>
            </a:r>
            <a:endParaRPr lang="en-US" sz="950" dirty="0"/>
          </a:p>
        </p:txBody>
      </p:sp>
      <p:sp>
        <p:nvSpPr>
          <p:cNvPr id="20" name="Text 18"/>
          <p:cNvSpPr/>
          <p:nvPr/>
        </p:nvSpPr>
        <p:spPr>
          <a:xfrm>
            <a:off x="4791456" y="256032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Agent can call tools, loop, branch, ask for help</a:t>
            </a:r>
            <a:endParaRPr lang="en-US" sz="950" dirty="0"/>
          </a:p>
        </p:txBody>
      </p:sp>
      <p:sp>
        <p:nvSpPr>
          <p:cNvPr id="21" name="Text 19"/>
          <p:cNvSpPr/>
          <p:nvPr/>
        </p:nvSpPr>
        <p:spPr>
          <a:xfrm>
            <a:off x="4791456" y="288036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Conditional edges are driven by the LLM's own output</a:t>
            </a:r>
            <a:endParaRPr lang="en-US" sz="950" dirty="0"/>
          </a:p>
        </p:txBody>
      </p:sp>
      <p:sp>
        <p:nvSpPr>
          <p:cNvPr id="22" name="Text 20"/>
          <p:cNvSpPr/>
          <p:nvPr/>
        </p:nvSpPr>
        <p:spPr>
          <a:xfrm>
            <a:off x="4791456" y="320040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Good for: autonomous research, coding assistants, chatbots</a:t>
            </a:r>
            <a:endParaRPr lang="en-US" sz="950" dirty="0"/>
          </a:p>
        </p:txBody>
      </p:sp>
      <p:sp>
        <p:nvSpPr>
          <p:cNvPr id="23" name="Text 21"/>
          <p:cNvSpPr/>
          <p:nvPr/>
        </p:nvSpPr>
        <p:spPr>
          <a:xfrm>
            <a:off x="4791456" y="3520440"/>
            <a:ext cx="3931920" cy="29260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Example: agent decides to search → read → compare → answer</a:t>
            </a:r>
            <a:endParaRPr lang="en-US" sz="950" dirty="0"/>
          </a:p>
        </p:txBody>
      </p:sp>
      <p:sp>
        <p:nvSpPr>
          <p:cNvPr id="24" name="Text 22"/>
          <p:cNvSpPr/>
          <p:nvPr/>
        </p:nvSpPr>
        <p:spPr>
          <a:xfrm>
            <a:off x="347472" y="3931920"/>
            <a:ext cx="4114800" cy="237744"/>
          </a:xfrm>
          <a:prstGeom prst="rect">
            <a:avLst/>
          </a:prstGeom>
          <a:noFill/>
          <a:ln/>
        </p:spPr>
        <p:txBody>
          <a:bodyPr wrap="square" lIns="0" tIns="0" rIns="0" bIns="0"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The ReAct Loop (used in LangGraph agents):</a:t>
            </a:r>
            <a:endParaRPr lang="en-US" sz="1100" dirty="0"/>
          </a:p>
        </p:txBody>
      </p:sp>
      <p:sp>
        <p:nvSpPr>
          <p:cNvPr id="25" name="Shape 23"/>
          <p:cNvSpPr/>
          <p:nvPr/>
        </p:nvSpPr>
        <p:spPr>
          <a:xfrm>
            <a:off x="320040" y="4206240"/>
            <a:ext cx="1965960" cy="685800"/>
          </a:xfrm>
          <a:prstGeom prst="rect">
            <a:avLst/>
          </a:prstGeom>
          <a:solidFill>
            <a:srgbClr val="7C3AED"/>
          </a:solidFill>
          <a:ln w="12700">
            <a:solidFill>
              <a:srgbClr val="7C3AED"/>
            </a:solidFill>
            <a:prstDash val="solid"/>
          </a:ln>
        </p:spPr>
      </p:sp>
      <p:sp>
        <p:nvSpPr>
          <p:cNvPr id="26" name="Text 24"/>
          <p:cNvSpPr/>
          <p:nvPr/>
        </p:nvSpPr>
        <p:spPr>
          <a:xfrm>
            <a:off x="374904" y="4224528"/>
            <a:ext cx="1856232"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Thought: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reason about what to do</a:t>
            </a:r>
            <a:endParaRPr lang="en-US" sz="950" dirty="0"/>
          </a:p>
        </p:txBody>
      </p:sp>
      <p:sp>
        <p:nvSpPr>
          <p:cNvPr id="27" name="Text 25"/>
          <p:cNvSpPr/>
          <p:nvPr/>
        </p:nvSpPr>
        <p:spPr>
          <a:xfrm>
            <a:off x="2304288" y="4462272"/>
            <a:ext cx="146304" cy="201168"/>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2468880" y="4206240"/>
            <a:ext cx="1965960" cy="685800"/>
          </a:xfrm>
          <a:prstGeom prst="rect">
            <a:avLst/>
          </a:prstGeom>
          <a:solidFill>
            <a:srgbClr val="0D9488"/>
          </a:solidFill>
          <a:ln w="12700">
            <a:solidFill>
              <a:srgbClr val="0D9488"/>
            </a:solidFill>
            <a:prstDash val="solid"/>
          </a:ln>
        </p:spPr>
      </p:sp>
      <p:sp>
        <p:nvSpPr>
          <p:cNvPr id="29" name="Text 27"/>
          <p:cNvSpPr/>
          <p:nvPr/>
        </p:nvSpPr>
        <p:spPr>
          <a:xfrm>
            <a:off x="2523744" y="4224528"/>
            <a:ext cx="1856232"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call a tool / LLM</a:t>
            </a:r>
            <a:endParaRPr lang="en-US" sz="950" dirty="0"/>
          </a:p>
        </p:txBody>
      </p:sp>
      <p:sp>
        <p:nvSpPr>
          <p:cNvPr id="30" name="Text 28"/>
          <p:cNvSpPr/>
          <p:nvPr/>
        </p:nvSpPr>
        <p:spPr>
          <a:xfrm>
            <a:off x="4453128" y="4462272"/>
            <a:ext cx="146304" cy="201168"/>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31" name="Shape 29"/>
          <p:cNvSpPr/>
          <p:nvPr/>
        </p:nvSpPr>
        <p:spPr>
          <a:xfrm>
            <a:off x="4617720" y="4206240"/>
            <a:ext cx="1965960" cy="685800"/>
          </a:xfrm>
          <a:prstGeom prst="rect">
            <a:avLst/>
          </a:prstGeom>
          <a:solidFill>
            <a:srgbClr val="059669"/>
          </a:solidFill>
          <a:ln w="12700">
            <a:solidFill>
              <a:srgbClr val="059669"/>
            </a:solidFill>
            <a:prstDash val="solid"/>
          </a:ln>
        </p:spPr>
      </p:sp>
      <p:sp>
        <p:nvSpPr>
          <p:cNvPr id="32" name="Text 30"/>
          <p:cNvSpPr/>
          <p:nvPr/>
        </p:nvSpPr>
        <p:spPr>
          <a:xfrm>
            <a:off x="4672584" y="4224528"/>
            <a:ext cx="1856232"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see the tool result</a:t>
            </a:r>
            <a:endParaRPr lang="en-US" sz="950" dirty="0"/>
          </a:p>
        </p:txBody>
      </p:sp>
      <p:sp>
        <p:nvSpPr>
          <p:cNvPr id="33" name="Text 31"/>
          <p:cNvSpPr/>
          <p:nvPr/>
        </p:nvSpPr>
        <p:spPr>
          <a:xfrm>
            <a:off x="6601968" y="4462272"/>
            <a:ext cx="146304" cy="201168"/>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6766560" y="4206240"/>
            <a:ext cx="1965960" cy="685800"/>
          </a:xfrm>
          <a:prstGeom prst="rect">
            <a:avLst/>
          </a:prstGeom>
          <a:solidFill>
            <a:srgbClr val="F59E0B"/>
          </a:solidFill>
          <a:ln w="12700">
            <a:solidFill>
              <a:srgbClr val="F59E0B"/>
            </a:solidFill>
            <a:prstDash val="solid"/>
          </a:ln>
        </p:spPr>
      </p:sp>
      <p:sp>
        <p:nvSpPr>
          <p:cNvPr id="35" name="Text 33"/>
          <p:cNvSpPr/>
          <p:nvPr/>
        </p:nvSpPr>
        <p:spPr>
          <a:xfrm>
            <a:off x="6821424" y="4224528"/>
            <a:ext cx="1856232"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Repeat or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Finish</a:t>
            </a:r>
            <a:endParaRPr lang="en-US" sz="950" dirty="0"/>
          </a:p>
        </p:txBody>
      </p:sp>
      <p:sp>
        <p:nvSpPr>
          <p:cNvPr id="36" name="Shape 34"/>
          <p:cNvSpPr/>
          <p:nvPr/>
        </p:nvSpPr>
        <p:spPr>
          <a:xfrm>
            <a:off x="320040" y="4956048"/>
            <a:ext cx="8503920" cy="402336"/>
          </a:xfrm>
          <a:prstGeom prst="rect">
            <a:avLst/>
          </a:prstGeom>
          <a:solidFill>
            <a:srgbClr val="F5F3FF"/>
          </a:solidFill>
          <a:ln w="12700">
            <a:solidFill>
              <a:srgbClr val="7C3AED"/>
            </a:solidFill>
            <a:prstDash val="solid"/>
          </a:ln>
        </p:spPr>
      </p:sp>
      <p:sp>
        <p:nvSpPr>
          <p:cNvPr id="37" name="Text 35"/>
          <p:cNvSpPr/>
          <p:nvPr/>
        </p:nvSpPr>
        <p:spPr>
          <a:xfrm>
            <a:off x="411480" y="5001768"/>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LangGraph's conditional edges are what give agents their autonomy. The router function receives the state (which contains the LLM's last output) and returns the next node name.</a:t>
            </a:r>
            <a:endParaRPr lang="en-US" sz="9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059669"/>
          </a:solidFill>
          <a:ln w="12700">
            <a:solidFill>
              <a:srgbClr val="059669"/>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Human-in-the-Loop &amp; Memory</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LangGraph enables AI workflows that pause for human approval and remember across sessions</a:t>
            </a:r>
            <a:endParaRPr lang="en-US" sz="1050" dirty="0"/>
          </a:p>
        </p:txBody>
      </p:sp>
      <p:sp>
        <p:nvSpPr>
          <p:cNvPr id="6" name="Shape 4"/>
          <p:cNvSpPr/>
          <p:nvPr/>
        </p:nvSpPr>
        <p:spPr>
          <a:xfrm>
            <a:off x="320040" y="1115568"/>
            <a:ext cx="4160520" cy="3310128"/>
          </a:xfrm>
          <a:prstGeom prst="rect">
            <a:avLst/>
          </a:prstGeom>
          <a:solidFill>
            <a:srgbClr val="F0FDF4"/>
          </a:solidFill>
          <a:ln w="12700">
            <a:solidFill>
              <a:srgbClr val="059669"/>
            </a:solidFill>
            <a:prstDash val="solid"/>
          </a:ln>
        </p:spPr>
      </p:sp>
      <p:sp>
        <p:nvSpPr>
          <p:cNvPr id="7" name="Shape 5"/>
          <p:cNvSpPr/>
          <p:nvPr/>
        </p:nvSpPr>
        <p:spPr>
          <a:xfrm>
            <a:off x="320040" y="1115568"/>
            <a:ext cx="4160520" cy="274320"/>
          </a:xfrm>
          <a:prstGeom prst="rect">
            <a:avLst/>
          </a:prstGeom>
          <a:solidFill>
            <a:srgbClr val="059669"/>
          </a:solidFill>
          <a:ln w="12700">
            <a:solidFill>
              <a:srgbClr val="059669"/>
            </a:solidFill>
            <a:prstDash val="solid"/>
          </a:ln>
        </p:spPr>
      </p:sp>
      <p:sp>
        <p:nvSpPr>
          <p:cNvPr id="8" name="Text 6"/>
          <p:cNvSpPr/>
          <p:nvPr/>
        </p:nvSpPr>
        <p:spPr>
          <a:xfrm>
            <a:off x="411480" y="1115568"/>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Human-in-the-Loop (HITL)</a:t>
            </a:r>
            <a:endParaRPr lang="en-US" sz="1050" dirty="0"/>
          </a:p>
        </p:txBody>
      </p:sp>
      <p:sp>
        <p:nvSpPr>
          <p:cNvPr id="9" name="Text 7"/>
          <p:cNvSpPr/>
          <p:nvPr/>
        </p:nvSpPr>
        <p:spPr>
          <a:xfrm>
            <a:off x="411480" y="1444752"/>
            <a:ext cx="3977640" cy="219456"/>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Why it matters:</a:t>
            </a:r>
            <a:endParaRPr lang="en-US" sz="1000" dirty="0"/>
          </a:p>
        </p:txBody>
      </p:sp>
      <p:sp>
        <p:nvSpPr>
          <p:cNvPr id="10" name="Text 8"/>
          <p:cNvSpPr/>
          <p:nvPr/>
        </p:nvSpPr>
        <p:spPr>
          <a:xfrm>
            <a:off x="411480" y="1691640"/>
            <a:ext cx="393192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AI must not take irreversible actions without human approval</a:t>
            </a:r>
            <a:endParaRPr lang="en-US" sz="950" dirty="0"/>
          </a:p>
        </p:txBody>
      </p:sp>
      <p:sp>
        <p:nvSpPr>
          <p:cNvPr id="11" name="Text 9"/>
          <p:cNvSpPr/>
          <p:nvPr/>
        </p:nvSpPr>
        <p:spPr>
          <a:xfrm>
            <a:off x="411480" y="1965960"/>
            <a:ext cx="393192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Useful for: sending emails, executing code, making payments</a:t>
            </a:r>
            <a:endParaRPr lang="en-US" sz="950" dirty="0"/>
          </a:p>
        </p:txBody>
      </p:sp>
      <p:sp>
        <p:nvSpPr>
          <p:cNvPr id="12" name="Text 10"/>
          <p:cNvSpPr/>
          <p:nvPr/>
        </p:nvSpPr>
        <p:spPr>
          <a:xfrm>
            <a:off x="411480" y="2240280"/>
            <a:ext cx="393192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Agent pauses at interrupt_before the critical node</a:t>
            </a:r>
            <a:endParaRPr lang="en-US" sz="950" dirty="0"/>
          </a:p>
        </p:txBody>
      </p:sp>
      <p:sp>
        <p:nvSpPr>
          <p:cNvPr id="13" name="Text 11"/>
          <p:cNvSpPr/>
          <p:nvPr/>
        </p:nvSpPr>
        <p:spPr>
          <a:xfrm>
            <a:off x="411480" y="2514600"/>
            <a:ext cx="393192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Human reviews state, optionally edits it, then resumes</a:t>
            </a:r>
            <a:endParaRPr lang="en-US" sz="950" dirty="0"/>
          </a:p>
        </p:txBody>
      </p:sp>
      <p:sp>
        <p:nvSpPr>
          <p:cNvPr id="14" name="Shape 12"/>
          <p:cNvSpPr/>
          <p:nvPr/>
        </p:nvSpPr>
        <p:spPr>
          <a:xfrm>
            <a:off x="384048" y="2816352"/>
            <a:ext cx="4023360" cy="1536192"/>
          </a:xfrm>
          <a:prstGeom prst="rect">
            <a:avLst/>
          </a:prstGeom>
          <a:solidFill>
            <a:srgbClr val="0F172A"/>
          </a:solidFill>
          <a:ln w="12700">
            <a:solidFill>
              <a:srgbClr val="1E3A5F"/>
            </a:solidFill>
            <a:prstDash val="solid"/>
          </a:ln>
        </p:spPr>
      </p:sp>
      <p:sp>
        <p:nvSpPr>
          <p:cNvPr id="15" name="Text 13"/>
          <p:cNvSpPr/>
          <p:nvPr/>
        </p:nvSpPr>
        <p:spPr>
          <a:xfrm>
            <a:off x="493776" y="2889504"/>
            <a:ext cx="3803904" cy="1389888"/>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 Interrupt before sending the email</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app = workflow.compile(</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checkpointer=MemorySaver(),</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interrupt_before=["send_email"]</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Run until interrupt</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result = app.invoke(state, config)</a:t>
            </a:r>
            <a:endParaRPr lang="en-US" sz="850" dirty="0"/>
          </a:p>
          <a:p>
            <a:pPr indent="0" marL="0">
              <a:buNone/>
            </a:pP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Human reviews, then resumes</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app.invoke(None, config)  # continues</a:t>
            </a:r>
            <a:endParaRPr lang="en-US" sz="850" dirty="0"/>
          </a:p>
        </p:txBody>
      </p:sp>
      <p:sp>
        <p:nvSpPr>
          <p:cNvPr id="16" name="Shape 14"/>
          <p:cNvSpPr/>
          <p:nvPr/>
        </p:nvSpPr>
        <p:spPr>
          <a:xfrm>
            <a:off x="4663440" y="1115568"/>
            <a:ext cx="4160520" cy="3310128"/>
          </a:xfrm>
          <a:prstGeom prst="rect">
            <a:avLst/>
          </a:prstGeom>
          <a:solidFill>
            <a:srgbClr val="FFFBEB"/>
          </a:solidFill>
          <a:ln w="12700">
            <a:solidFill>
              <a:srgbClr val="F59E0B"/>
            </a:solidFill>
            <a:prstDash val="solid"/>
          </a:ln>
        </p:spPr>
      </p:sp>
      <p:sp>
        <p:nvSpPr>
          <p:cNvPr id="17" name="Shape 15"/>
          <p:cNvSpPr/>
          <p:nvPr/>
        </p:nvSpPr>
        <p:spPr>
          <a:xfrm>
            <a:off x="4663440" y="1115568"/>
            <a:ext cx="4160520" cy="274320"/>
          </a:xfrm>
          <a:prstGeom prst="rect">
            <a:avLst/>
          </a:prstGeom>
          <a:solidFill>
            <a:srgbClr val="F59E0B"/>
          </a:solidFill>
          <a:ln w="12700">
            <a:solidFill>
              <a:srgbClr val="F59E0B"/>
            </a:solidFill>
            <a:prstDash val="solid"/>
          </a:ln>
        </p:spPr>
      </p:sp>
      <p:sp>
        <p:nvSpPr>
          <p:cNvPr id="18" name="Text 16"/>
          <p:cNvSpPr/>
          <p:nvPr/>
        </p:nvSpPr>
        <p:spPr>
          <a:xfrm>
            <a:off x="4754880" y="1115568"/>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Memory in LangGraph</a:t>
            </a:r>
            <a:endParaRPr lang="en-US" sz="1050" dirty="0"/>
          </a:p>
        </p:txBody>
      </p:sp>
      <p:sp>
        <p:nvSpPr>
          <p:cNvPr id="19" name="Shape 17"/>
          <p:cNvSpPr/>
          <p:nvPr/>
        </p:nvSpPr>
        <p:spPr>
          <a:xfrm>
            <a:off x="4736592" y="1463040"/>
            <a:ext cx="4005072" cy="731520"/>
          </a:xfrm>
          <a:prstGeom prst="rect">
            <a:avLst/>
          </a:prstGeom>
          <a:solidFill>
            <a:srgbClr val="FEFCE8"/>
          </a:solidFill>
          <a:ln w="12700">
            <a:solidFill>
              <a:srgbClr val="FDE68A"/>
            </a:solidFill>
            <a:prstDash val="solid"/>
          </a:ln>
        </p:spPr>
      </p:sp>
      <p:sp>
        <p:nvSpPr>
          <p:cNvPr id="20" name="Text 18"/>
          <p:cNvSpPr/>
          <p:nvPr/>
        </p:nvSpPr>
        <p:spPr>
          <a:xfrm>
            <a:off x="4828032" y="1517904"/>
            <a:ext cx="3822192" cy="219456"/>
          </a:xfrm>
          <a:prstGeom prst="rect">
            <a:avLst/>
          </a:prstGeom>
          <a:noFill/>
          <a:ln/>
        </p:spPr>
        <p:txBody>
          <a:bodyPr wrap="square" lIns="0" tIns="0" rIns="0" bIns="0" rtlCol="0" anchor="ctr"/>
          <a:lstStyle/>
          <a:p>
            <a:pPr indent="0" marL="0">
              <a:buNone/>
            </a:pPr>
            <a:r>
              <a:rPr lang="en-US" sz="1000" b="1" dirty="0">
                <a:solidFill>
                  <a:srgbClr val="92400E"/>
                </a:solidFill>
                <a:latin typeface="Calibri" pitchFamily="34" charset="0"/>
                <a:ea typeface="Calibri" pitchFamily="34" charset="-122"/>
                <a:cs typeface="Calibri" pitchFamily="34" charset="-120"/>
              </a:rPr>
              <a:t>Short-term Memory</a:t>
            </a:r>
            <a:endParaRPr lang="en-US" sz="1000" dirty="0"/>
          </a:p>
        </p:txBody>
      </p:sp>
      <p:sp>
        <p:nvSpPr>
          <p:cNvPr id="21" name="Text 19"/>
          <p:cNvSpPr/>
          <p:nvPr/>
        </p:nvSpPr>
        <p:spPr>
          <a:xfrm>
            <a:off x="4828032" y="1783080"/>
            <a:ext cx="3822192"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The state itself — shared across all nodes within a single graph run. Resets when the run ends.</a:t>
            </a:r>
            <a:endParaRPr lang="en-US" sz="900" dirty="0"/>
          </a:p>
        </p:txBody>
      </p:sp>
      <p:sp>
        <p:nvSpPr>
          <p:cNvPr id="22" name="Shape 20"/>
          <p:cNvSpPr/>
          <p:nvPr/>
        </p:nvSpPr>
        <p:spPr>
          <a:xfrm>
            <a:off x="4736592" y="2286000"/>
            <a:ext cx="4005072" cy="731520"/>
          </a:xfrm>
          <a:prstGeom prst="rect">
            <a:avLst/>
          </a:prstGeom>
          <a:solidFill>
            <a:srgbClr val="FEFCE8"/>
          </a:solidFill>
          <a:ln w="12700">
            <a:solidFill>
              <a:srgbClr val="FDE68A"/>
            </a:solidFill>
            <a:prstDash val="solid"/>
          </a:ln>
        </p:spPr>
      </p:sp>
      <p:sp>
        <p:nvSpPr>
          <p:cNvPr id="23" name="Text 21"/>
          <p:cNvSpPr/>
          <p:nvPr/>
        </p:nvSpPr>
        <p:spPr>
          <a:xfrm>
            <a:off x="4828032" y="2340864"/>
            <a:ext cx="3822192" cy="219456"/>
          </a:xfrm>
          <a:prstGeom prst="rect">
            <a:avLst/>
          </a:prstGeom>
          <a:noFill/>
          <a:ln/>
        </p:spPr>
        <p:txBody>
          <a:bodyPr wrap="square" lIns="0" tIns="0" rIns="0" bIns="0" rtlCol="0" anchor="ctr"/>
          <a:lstStyle/>
          <a:p>
            <a:pPr indent="0" marL="0">
              <a:buNone/>
            </a:pPr>
            <a:r>
              <a:rPr lang="en-US" sz="1000" b="1" dirty="0">
                <a:solidFill>
                  <a:srgbClr val="92400E"/>
                </a:solidFill>
                <a:latin typeface="Calibri" pitchFamily="34" charset="0"/>
                <a:ea typeface="Calibri" pitchFamily="34" charset="-122"/>
                <a:cs typeface="Calibri" pitchFamily="34" charset="-120"/>
              </a:rPr>
              <a:t>Long-term Memory</a:t>
            </a:r>
            <a:endParaRPr lang="en-US" sz="1000" dirty="0"/>
          </a:p>
        </p:txBody>
      </p:sp>
      <p:sp>
        <p:nvSpPr>
          <p:cNvPr id="24" name="Text 22"/>
          <p:cNvSpPr/>
          <p:nvPr/>
        </p:nvSpPr>
        <p:spPr>
          <a:xfrm>
            <a:off x="4828032" y="2606040"/>
            <a:ext cx="3822192"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Enabled by checkpointers — state is saved to disk/DB after each super-step. Survives crashes and can be resumed.</a:t>
            </a:r>
            <a:endParaRPr lang="en-US" sz="900" dirty="0"/>
          </a:p>
        </p:txBody>
      </p:sp>
      <p:sp>
        <p:nvSpPr>
          <p:cNvPr id="25" name="Shape 23"/>
          <p:cNvSpPr/>
          <p:nvPr/>
        </p:nvSpPr>
        <p:spPr>
          <a:xfrm>
            <a:off x="4736592" y="3108960"/>
            <a:ext cx="4005072" cy="731520"/>
          </a:xfrm>
          <a:prstGeom prst="rect">
            <a:avLst/>
          </a:prstGeom>
          <a:solidFill>
            <a:srgbClr val="FEFCE8"/>
          </a:solidFill>
          <a:ln w="12700">
            <a:solidFill>
              <a:srgbClr val="FDE68A"/>
            </a:solidFill>
            <a:prstDash val="solid"/>
          </a:ln>
        </p:spPr>
      </p:sp>
      <p:sp>
        <p:nvSpPr>
          <p:cNvPr id="26" name="Text 24"/>
          <p:cNvSpPr/>
          <p:nvPr/>
        </p:nvSpPr>
        <p:spPr>
          <a:xfrm>
            <a:off x="4828032" y="3163824"/>
            <a:ext cx="3822192" cy="219456"/>
          </a:xfrm>
          <a:prstGeom prst="rect">
            <a:avLst/>
          </a:prstGeom>
          <a:noFill/>
          <a:ln/>
        </p:spPr>
        <p:txBody>
          <a:bodyPr wrap="square" lIns="0" tIns="0" rIns="0" bIns="0" rtlCol="0" anchor="ctr"/>
          <a:lstStyle/>
          <a:p>
            <a:pPr indent="0" marL="0">
              <a:buNone/>
            </a:pPr>
            <a:r>
              <a:rPr lang="en-US" sz="1000" b="1" dirty="0">
                <a:solidFill>
                  <a:srgbClr val="92400E"/>
                </a:solidFill>
                <a:latin typeface="Calibri" pitchFamily="34" charset="0"/>
                <a:ea typeface="Calibri" pitchFamily="34" charset="-122"/>
                <a:cs typeface="Calibri" pitchFamily="34" charset="-120"/>
              </a:rPr>
              <a:t>Cross-session Memory</a:t>
            </a:r>
            <a:endParaRPr lang="en-US" sz="1000" dirty="0"/>
          </a:p>
        </p:txBody>
      </p:sp>
      <p:sp>
        <p:nvSpPr>
          <p:cNvPr id="27" name="Text 25"/>
          <p:cNvSpPr/>
          <p:nvPr/>
        </p:nvSpPr>
        <p:spPr>
          <a:xfrm>
            <a:off x="4828032" y="3429000"/>
            <a:ext cx="3822192"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Using thread_id config, the same conversation thread persists across multiple separate .invoke() calls — giving chatbots true memory.</a:t>
            </a:r>
            <a:endParaRPr lang="en-US" sz="900" dirty="0"/>
          </a:p>
        </p:txBody>
      </p:sp>
      <p:sp>
        <p:nvSpPr>
          <p:cNvPr id="28" name="Shape 26"/>
          <p:cNvSpPr/>
          <p:nvPr/>
        </p:nvSpPr>
        <p:spPr>
          <a:xfrm>
            <a:off x="4736592" y="3877056"/>
            <a:ext cx="4005072" cy="1389888"/>
          </a:xfrm>
          <a:prstGeom prst="rect">
            <a:avLst/>
          </a:prstGeom>
          <a:solidFill>
            <a:srgbClr val="0F172A"/>
          </a:solidFill>
          <a:ln w="12700">
            <a:solidFill>
              <a:srgbClr val="1E3A5F"/>
            </a:solidFill>
            <a:prstDash val="solid"/>
          </a:ln>
        </p:spPr>
      </p:sp>
      <p:sp>
        <p:nvSpPr>
          <p:cNvPr id="29" name="Text 27"/>
          <p:cNvSpPr/>
          <p:nvPr/>
        </p:nvSpPr>
        <p:spPr>
          <a:xfrm>
            <a:off x="4846320" y="3950208"/>
            <a:ext cx="3785616" cy="1243584"/>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 Persist memory across sessions</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config = {"configurable": {"thread_id": "user_42"}}</a:t>
            </a:r>
            <a:endParaRPr lang="en-US" sz="850" dirty="0"/>
          </a:p>
          <a:p>
            <a:pPr indent="0" marL="0">
              <a:buNone/>
            </a:pP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Session 1</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app.invoke({"messages": [HumanMessage("Hi!")]}, config)</a:t>
            </a:r>
            <a:endParaRPr lang="en-US" sz="850" dirty="0"/>
          </a:p>
          <a:p>
            <a:pPr indent="0" marL="0">
              <a:buNone/>
            </a:pP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 Session 2 — remembers session 1</a:t>
            </a:r>
            <a:endParaRPr lang="en-US" sz="850" dirty="0"/>
          </a:p>
          <a:p>
            <a:pPr indent="0" marL="0">
              <a:buNone/>
            </a:pPr>
            <a:r>
              <a:rPr lang="en-US" sz="850" dirty="0">
                <a:solidFill>
                  <a:srgbClr val="7DD3FC"/>
                </a:solidFill>
                <a:latin typeface="Consolas" pitchFamily="34" charset="0"/>
                <a:ea typeface="Consolas" pitchFamily="34" charset="-122"/>
                <a:cs typeface="Consolas" pitchFamily="34" charset="-120"/>
              </a:rPr>
              <a:t>app.invoke({"messages": [HumanMessage("What did I say?")]}, config)</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F59E0B"/>
          </a:solidFill>
          <a:ln w="12700">
            <a:solidFill>
              <a:srgbClr val="F59E0B"/>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Real-World Example — Automated Hiring Workflow</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From your notes: a complete multi-step agentic hiring pipeline in LangGraph</a:t>
            </a:r>
            <a:endParaRPr lang="en-US" sz="1050" dirty="0"/>
          </a:p>
        </p:txBody>
      </p:sp>
      <p:sp>
        <p:nvSpPr>
          <p:cNvPr id="6" name="Text 4"/>
          <p:cNvSpPr/>
          <p:nvPr/>
        </p:nvSpPr>
        <p:spPr>
          <a:xfrm>
            <a:off x="347472" y="1115568"/>
            <a:ext cx="8412480" cy="347472"/>
          </a:xfrm>
          <a:prstGeom prst="rect">
            <a:avLst/>
          </a:prstGeom>
          <a:noFill/>
          <a:ln/>
        </p:spPr>
        <p:txBody>
          <a:bodyPr wrap="square" lIns="0" tIns="0" rIns="0" bIns="0" rtlCol="0" anchor="ctr"/>
          <a:lstStyle/>
          <a:p>
            <a:pPr indent="0" marL="0">
              <a:buNone/>
            </a:pPr>
            <a:r>
              <a:rPr lang="en-US" sz="1050" i="1" dirty="0">
                <a:solidFill>
                  <a:srgbClr val="475569"/>
                </a:solidFill>
                <a:latin typeface="Calibri" pitchFamily="34" charset="0"/>
                <a:ea typeface="Calibri" pitchFamily="34" charset="-122"/>
                <a:cs typeface="Calibri" pitchFamily="34" charset="-120"/>
              </a:rPr>
              <a:t>This is the full workflow from your OneNote diagram — it uses sequential steps, conditional routing, parallel actions, and a retry loop.</a:t>
            </a:r>
            <a:endParaRPr lang="en-US" sz="1050" dirty="0"/>
          </a:p>
        </p:txBody>
      </p:sp>
      <p:sp>
        <p:nvSpPr>
          <p:cNvPr id="7" name="Shape 5"/>
          <p:cNvSpPr/>
          <p:nvPr/>
        </p:nvSpPr>
        <p:spPr>
          <a:xfrm>
            <a:off x="347472" y="1554480"/>
            <a:ext cx="3108960" cy="347472"/>
          </a:xfrm>
          <a:prstGeom prst="rect">
            <a:avLst/>
          </a:prstGeom>
          <a:solidFill>
            <a:srgbClr val="EFF6FF"/>
          </a:solidFill>
          <a:ln w="12700">
            <a:solidFill>
              <a:srgbClr val="2563EB"/>
            </a:solidFill>
            <a:prstDash val="solid"/>
          </a:ln>
        </p:spPr>
      </p:sp>
      <p:sp>
        <p:nvSpPr>
          <p:cNvPr id="8" name="Text 6"/>
          <p:cNvSpPr/>
          <p:nvPr/>
        </p:nvSpPr>
        <p:spPr>
          <a:xfrm>
            <a:off x="420624" y="1572768"/>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Hiring Request</a:t>
            </a:r>
            <a:endParaRPr lang="en-US" sz="850" dirty="0"/>
          </a:p>
        </p:txBody>
      </p:sp>
      <p:sp>
        <p:nvSpPr>
          <p:cNvPr id="9" name="Text 7"/>
          <p:cNvSpPr/>
          <p:nvPr/>
        </p:nvSpPr>
        <p:spPr>
          <a:xfrm>
            <a:off x="3502152" y="1600200"/>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3776472" y="1591056"/>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Input from hiring manager</a:t>
            </a:r>
            <a:endParaRPr lang="en-US" sz="850" dirty="0"/>
          </a:p>
        </p:txBody>
      </p:sp>
      <p:sp>
        <p:nvSpPr>
          <p:cNvPr id="11" name="Text 9"/>
          <p:cNvSpPr/>
          <p:nvPr/>
        </p:nvSpPr>
        <p:spPr>
          <a:xfrm>
            <a:off x="1627632" y="1901952"/>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12" name="Shape 10"/>
          <p:cNvSpPr/>
          <p:nvPr/>
        </p:nvSpPr>
        <p:spPr>
          <a:xfrm>
            <a:off x="347472" y="1883664"/>
            <a:ext cx="3108960" cy="347472"/>
          </a:xfrm>
          <a:prstGeom prst="rect">
            <a:avLst/>
          </a:prstGeom>
          <a:solidFill>
            <a:srgbClr val="EFF6FF"/>
          </a:solidFill>
          <a:ln w="12700">
            <a:solidFill>
              <a:srgbClr val="2563EB"/>
            </a:solidFill>
            <a:prstDash val="solid"/>
          </a:ln>
        </p:spPr>
      </p:sp>
      <p:sp>
        <p:nvSpPr>
          <p:cNvPr id="13" name="Text 11"/>
          <p:cNvSpPr/>
          <p:nvPr/>
        </p:nvSpPr>
        <p:spPr>
          <a:xfrm>
            <a:off x="420624" y="1901952"/>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Create JD</a:t>
            </a:r>
            <a:endParaRPr lang="en-US" sz="850" dirty="0"/>
          </a:p>
        </p:txBody>
      </p:sp>
      <p:sp>
        <p:nvSpPr>
          <p:cNvPr id="14" name="Text 12"/>
          <p:cNvSpPr/>
          <p:nvPr/>
        </p:nvSpPr>
        <p:spPr>
          <a:xfrm>
            <a:off x="3502152" y="1929384"/>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3776472" y="1920240"/>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AI generates job description</a:t>
            </a:r>
            <a:endParaRPr lang="en-US" sz="850" dirty="0"/>
          </a:p>
        </p:txBody>
      </p:sp>
      <p:sp>
        <p:nvSpPr>
          <p:cNvPr id="16" name="Text 14"/>
          <p:cNvSpPr/>
          <p:nvPr/>
        </p:nvSpPr>
        <p:spPr>
          <a:xfrm>
            <a:off x="1627632" y="2231136"/>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17" name="Shape 15"/>
          <p:cNvSpPr/>
          <p:nvPr/>
        </p:nvSpPr>
        <p:spPr>
          <a:xfrm>
            <a:off x="347472" y="2212848"/>
            <a:ext cx="3108960" cy="347472"/>
          </a:xfrm>
          <a:prstGeom prst="rect">
            <a:avLst/>
          </a:prstGeom>
          <a:solidFill>
            <a:srgbClr val="FEF3C7"/>
          </a:solidFill>
          <a:ln w="12700">
            <a:solidFill>
              <a:srgbClr val="F59E0B"/>
            </a:solidFill>
            <a:prstDash val="solid"/>
          </a:ln>
        </p:spPr>
      </p:sp>
      <p:sp>
        <p:nvSpPr>
          <p:cNvPr id="18" name="Text 16"/>
          <p:cNvSpPr/>
          <p:nvPr/>
        </p:nvSpPr>
        <p:spPr>
          <a:xfrm>
            <a:off x="420624" y="2231136"/>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JD Approved?</a:t>
            </a:r>
            <a:endParaRPr lang="en-US" sz="850" dirty="0"/>
          </a:p>
        </p:txBody>
      </p:sp>
      <p:sp>
        <p:nvSpPr>
          <p:cNvPr id="19" name="Text 17"/>
          <p:cNvSpPr/>
          <p:nvPr/>
        </p:nvSpPr>
        <p:spPr>
          <a:xfrm>
            <a:off x="3502152" y="2258568"/>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3776472" y="2249424"/>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Conditional: Yes → Post JD, No → Modify JD (loop)</a:t>
            </a:r>
            <a:endParaRPr lang="en-US" sz="850" dirty="0"/>
          </a:p>
        </p:txBody>
      </p:sp>
      <p:sp>
        <p:nvSpPr>
          <p:cNvPr id="21" name="Text 19"/>
          <p:cNvSpPr/>
          <p:nvPr/>
        </p:nvSpPr>
        <p:spPr>
          <a:xfrm>
            <a:off x="1627632" y="2560320"/>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22" name="Shape 20"/>
          <p:cNvSpPr/>
          <p:nvPr/>
        </p:nvSpPr>
        <p:spPr>
          <a:xfrm>
            <a:off x="347472" y="2542032"/>
            <a:ext cx="3108960" cy="347472"/>
          </a:xfrm>
          <a:prstGeom prst="rect">
            <a:avLst/>
          </a:prstGeom>
          <a:solidFill>
            <a:srgbClr val="EFF6FF"/>
          </a:solidFill>
          <a:ln w="12700">
            <a:solidFill>
              <a:srgbClr val="2563EB"/>
            </a:solidFill>
            <a:prstDash val="solid"/>
          </a:ln>
        </p:spPr>
      </p:sp>
      <p:sp>
        <p:nvSpPr>
          <p:cNvPr id="23" name="Text 21"/>
          <p:cNvSpPr/>
          <p:nvPr/>
        </p:nvSpPr>
        <p:spPr>
          <a:xfrm>
            <a:off x="420624" y="2560320"/>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Post JD</a:t>
            </a:r>
            <a:endParaRPr lang="en-US" sz="850" dirty="0"/>
          </a:p>
        </p:txBody>
      </p:sp>
      <p:sp>
        <p:nvSpPr>
          <p:cNvPr id="24" name="Text 22"/>
          <p:cNvSpPr/>
          <p:nvPr/>
        </p:nvSpPr>
        <p:spPr>
          <a:xfrm>
            <a:off x="3502152" y="2587752"/>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3776472" y="2578608"/>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Posts to job boards automatically</a:t>
            </a:r>
            <a:endParaRPr lang="en-US" sz="850" dirty="0"/>
          </a:p>
        </p:txBody>
      </p:sp>
      <p:sp>
        <p:nvSpPr>
          <p:cNvPr id="26" name="Text 24"/>
          <p:cNvSpPr/>
          <p:nvPr/>
        </p:nvSpPr>
        <p:spPr>
          <a:xfrm>
            <a:off x="1627632" y="2889504"/>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27" name="Shape 25"/>
          <p:cNvSpPr/>
          <p:nvPr/>
        </p:nvSpPr>
        <p:spPr>
          <a:xfrm>
            <a:off x="347472" y="2871216"/>
            <a:ext cx="3108960" cy="347472"/>
          </a:xfrm>
          <a:prstGeom prst="rect">
            <a:avLst/>
          </a:prstGeom>
          <a:solidFill>
            <a:srgbClr val="EFF6FF"/>
          </a:solidFill>
          <a:ln w="12700">
            <a:solidFill>
              <a:srgbClr val="2563EB"/>
            </a:solidFill>
            <a:prstDash val="solid"/>
          </a:ln>
        </p:spPr>
      </p:sp>
      <p:sp>
        <p:nvSpPr>
          <p:cNvPr id="28" name="Text 26"/>
          <p:cNvSpPr/>
          <p:nvPr/>
        </p:nvSpPr>
        <p:spPr>
          <a:xfrm>
            <a:off x="420624" y="2889504"/>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Wait 7 Days</a:t>
            </a:r>
            <a:endParaRPr lang="en-US" sz="850" dirty="0"/>
          </a:p>
        </p:txBody>
      </p:sp>
      <p:sp>
        <p:nvSpPr>
          <p:cNvPr id="29" name="Text 27"/>
          <p:cNvSpPr/>
          <p:nvPr/>
        </p:nvSpPr>
        <p:spPr>
          <a:xfrm>
            <a:off x="3502152" y="2916936"/>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3776472" y="2907792"/>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Timer node — waits for applications</a:t>
            </a:r>
            <a:endParaRPr lang="en-US" sz="850" dirty="0"/>
          </a:p>
        </p:txBody>
      </p:sp>
      <p:sp>
        <p:nvSpPr>
          <p:cNvPr id="31" name="Text 29"/>
          <p:cNvSpPr/>
          <p:nvPr/>
        </p:nvSpPr>
        <p:spPr>
          <a:xfrm>
            <a:off x="1627632" y="3218688"/>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32" name="Shape 30"/>
          <p:cNvSpPr/>
          <p:nvPr/>
        </p:nvSpPr>
        <p:spPr>
          <a:xfrm>
            <a:off x="347472" y="3200400"/>
            <a:ext cx="3108960" cy="347472"/>
          </a:xfrm>
          <a:prstGeom prst="rect">
            <a:avLst/>
          </a:prstGeom>
          <a:solidFill>
            <a:srgbClr val="EFF6FF"/>
          </a:solidFill>
          <a:ln w="12700">
            <a:solidFill>
              <a:srgbClr val="2563EB"/>
            </a:solidFill>
            <a:prstDash val="solid"/>
          </a:ln>
        </p:spPr>
      </p:sp>
      <p:sp>
        <p:nvSpPr>
          <p:cNvPr id="33" name="Text 31"/>
          <p:cNvSpPr/>
          <p:nvPr/>
        </p:nvSpPr>
        <p:spPr>
          <a:xfrm>
            <a:off x="420624" y="3218688"/>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Monitor Applications</a:t>
            </a:r>
            <a:endParaRPr lang="en-US" sz="850" dirty="0"/>
          </a:p>
        </p:txBody>
      </p:sp>
      <p:sp>
        <p:nvSpPr>
          <p:cNvPr id="34" name="Text 32"/>
          <p:cNvSpPr/>
          <p:nvPr/>
        </p:nvSpPr>
        <p:spPr>
          <a:xfrm>
            <a:off x="3502152" y="3246120"/>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35" name="Text 33"/>
          <p:cNvSpPr/>
          <p:nvPr/>
        </p:nvSpPr>
        <p:spPr>
          <a:xfrm>
            <a:off x="3776472" y="3236976"/>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Checks incoming CVs</a:t>
            </a:r>
            <a:endParaRPr lang="en-US" sz="850" dirty="0"/>
          </a:p>
        </p:txBody>
      </p:sp>
      <p:sp>
        <p:nvSpPr>
          <p:cNvPr id="36" name="Text 34"/>
          <p:cNvSpPr/>
          <p:nvPr/>
        </p:nvSpPr>
        <p:spPr>
          <a:xfrm>
            <a:off x="1627632" y="3547872"/>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37" name="Shape 35"/>
          <p:cNvSpPr/>
          <p:nvPr/>
        </p:nvSpPr>
        <p:spPr>
          <a:xfrm>
            <a:off x="347472" y="3529584"/>
            <a:ext cx="3108960" cy="347472"/>
          </a:xfrm>
          <a:prstGeom prst="rect">
            <a:avLst/>
          </a:prstGeom>
          <a:solidFill>
            <a:srgbClr val="FEF3C7"/>
          </a:solidFill>
          <a:ln w="12700">
            <a:solidFill>
              <a:srgbClr val="F59E0B"/>
            </a:solidFill>
            <a:prstDash val="solid"/>
          </a:ln>
        </p:spPr>
      </p:sp>
      <p:sp>
        <p:nvSpPr>
          <p:cNvPr id="38" name="Text 36"/>
          <p:cNvSpPr/>
          <p:nvPr/>
        </p:nvSpPr>
        <p:spPr>
          <a:xfrm>
            <a:off x="420624" y="3547872"/>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Enough Applicants?</a:t>
            </a:r>
            <a:endParaRPr lang="en-US" sz="850" dirty="0"/>
          </a:p>
        </p:txBody>
      </p:sp>
      <p:sp>
        <p:nvSpPr>
          <p:cNvPr id="39" name="Text 37"/>
          <p:cNvSpPr/>
          <p:nvPr/>
        </p:nvSpPr>
        <p:spPr>
          <a:xfrm>
            <a:off x="3502152" y="3575304"/>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40" name="Text 38"/>
          <p:cNvSpPr/>
          <p:nvPr/>
        </p:nvSpPr>
        <p:spPr>
          <a:xfrm>
            <a:off x="3776472" y="3566160"/>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Conditional: No → Modify JD + Wait 48h (loop), Yes → Shortlist</a:t>
            </a:r>
            <a:endParaRPr lang="en-US" sz="850" dirty="0"/>
          </a:p>
        </p:txBody>
      </p:sp>
      <p:sp>
        <p:nvSpPr>
          <p:cNvPr id="41" name="Text 39"/>
          <p:cNvSpPr/>
          <p:nvPr/>
        </p:nvSpPr>
        <p:spPr>
          <a:xfrm>
            <a:off x="1627632" y="3877056"/>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42" name="Shape 40"/>
          <p:cNvSpPr/>
          <p:nvPr/>
        </p:nvSpPr>
        <p:spPr>
          <a:xfrm>
            <a:off x="347472" y="3858768"/>
            <a:ext cx="3108960" cy="347472"/>
          </a:xfrm>
          <a:prstGeom prst="rect">
            <a:avLst/>
          </a:prstGeom>
          <a:solidFill>
            <a:srgbClr val="EFF6FF"/>
          </a:solidFill>
          <a:ln w="12700">
            <a:solidFill>
              <a:srgbClr val="2563EB"/>
            </a:solidFill>
            <a:prstDash val="solid"/>
          </a:ln>
        </p:spPr>
      </p:sp>
      <p:sp>
        <p:nvSpPr>
          <p:cNvPr id="43" name="Text 41"/>
          <p:cNvSpPr/>
          <p:nvPr/>
        </p:nvSpPr>
        <p:spPr>
          <a:xfrm>
            <a:off x="420624" y="3877056"/>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Shortlist → Schedule →</a:t>
            </a:r>
            <a:endParaRPr lang="en-US" sz="850" dirty="0"/>
          </a:p>
          <a:p>
            <a:pPr indent="0" marL="0">
              <a:buNone/>
            </a:pPr>
            <a:r>
              <a:rPr lang="en-US" sz="850" b="1" dirty="0">
                <a:solidFill>
                  <a:srgbClr val="0A1628"/>
                </a:solidFill>
                <a:latin typeface="Calibri" pitchFamily="34" charset="0"/>
                <a:ea typeface="Calibri" pitchFamily="34" charset="-122"/>
                <a:cs typeface="Calibri" pitchFamily="34" charset="-120"/>
              </a:rPr>
              <a:t>Conduct Interview</a:t>
            </a:r>
            <a:endParaRPr lang="en-US" sz="850" dirty="0"/>
          </a:p>
        </p:txBody>
      </p:sp>
      <p:sp>
        <p:nvSpPr>
          <p:cNvPr id="44" name="Text 42"/>
          <p:cNvSpPr/>
          <p:nvPr/>
        </p:nvSpPr>
        <p:spPr>
          <a:xfrm>
            <a:off x="3502152" y="3904488"/>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45" name="Text 43"/>
          <p:cNvSpPr/>
          <p:nvPr/>
        </p:nvSpPr>
        <p:spPr>
          <a:xfrm>
            <a:off x="3776472" y="3895344"/>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Parallel: Shortlist + Schedule happen together</a:t>
            </a:r>
            <a:endParaRPr lang="en-US" sz="850" dirty="0"/>
          </a:p>
        </p:txBody>
      </p:sp>
      <p:sp>
        <p:nvSpPr>
          <p:cNvPr id="46" name="Text 44"/>
          <p:cNvSpPr/>
          <p:nvPr/>
        </p:nvSpPr>
        <p:spPr>
          <a:xfrm>
            <a:off x="1627632" y="4206240"/>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47" name="Shape 45"/>
          <p:cNvSpPr/>
          <p:nvPr/>
        </p:nvSpPr>
        <p:spPr>
          <a:xfrm>
            <a:off x="347472" y="4187952"/>
            <a:ext cx="3108960" cy="347472"/>
          </a:xfrm>
          <a:prstGeom prst="rect">
            <a:avLst/>
          </a:prstGeom>
          <a:solidFill>
            <a:srgbClr val="FEF3C7"/>
          </a:solidFill>
          <a:ln w="12700">
            <a:solidFill>
              <a:srgbClr val="F59E0B"/>
            </a:solidFill>
            <a:prstDash val="solid"/>
          </a:ln>
        </p:spPr>
      </p:sp>
      <p:sp>
        <p:nvSpPr>
          <p:cNvPr id="48" name="Text 46"/>
          <p:cNvSpPr/>
          <p:nvPr/>
        </p:nvSpPr>
        <p:spPr>
          <a:xfrm>
            <a:off x="420624" y="4206240"/>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Selected?</a:t>
            </a:r>
            <a:endParaRPr lang="en-US" sz="850" dirty="0"/>
          </a:p>
        </p:txBody>
      </p:sp>
      <p:sp>
        <p:nvSpPr>
          <p:cNvPr id="49" name="Text 47"/>
          <p:cNvSpPr/>
          <p:nvPr/>
        </p:nvSpPr>
        <p:spPr>
          <a:xfrm>
            <a:off x="3502152" y="4233672"/>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50" name="Text 48"/>
          <p:cNvSpPr/>
          <p:nvPr/>
        </p:nvSpPr>
        <p:spPr>
          <a:xfrm>
            <a:off x="3776472" y="4224528"/>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If Yes → Send Offer Letter, If No → Reject Email</a:t>
            </a:r>
            <a:endParaRPr lang="en-US" sz="850" dirty="0"/>
          </a:p>
        </p:txBody>
      </p:sp>
      <p:sp>
        <p:nvSpPr>
          <p:cNvPr id="51" name="Text 49"/>
          <p:cNvSpPr/>
          <p:nvPr/>
        </p:nvSpPr>
        <p:spPr>
          <a:xfrm>
            <a:off x="1627632" y="4535424"/>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52" name="Shape 50"/>
          <p:cNvSpPr/>
          <p:nvPr/>
        </p:nvSpPr>
        <p:spPr>
          <a:xfrm>
            <a:off x="347472" y="4517136"/>
            <a:ext cx="3108960" cy="347472"/>
          </a:xfrm>
          <a:prstGeom prst="rect">
            <a:avLst/>
          </a:prstGeom>
          <a:solidFill>
            <a:srgbClr val="FEF3C7"/>
          </a:solidFill>
          <a:ln w="12700">
            <a:solidFill>
              <a:srgbClr val="F59E0B"/>
            </a:solidFill>
            <a:prstDash val="solid"/>
          </a:ln>
        </p:spPr>
      </p:sp>
      <p:sp>
        <p:nvSpPr>
          <p:cNvPr id="53" name="Text 51"/>
          <p:cNvSpPr/>
          <p:nvPr/>
        </p:nvSpPr>
        <p:spPr>
          <a:xfrm>
            <a:off x="420624" y="4535424"/>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Accepted?</a:t>
            </a:r>
            <a:endParaRPr lang="en-US" sz="850" dirty="0"/>
          </a:p>
        </p:txBody>
      </p:sp>
      <p:sp>
        <p:nvSpPr>
          <p:cNvPr id="54" name="Text 52"/>
          <p:cNvSpPr/>
          <p:nvPr/>
        </p:nvSpPr>
        <p:spPr>
          <a:xfrm>
            <a:off x="3502152" y="4562856"/>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55" name="Text 53"/>
          <p:cNvSpPr/>
          <p:nvPr/>
        </p:nvSpPr>
        <p:spPr>
          <a:xfrm>
            <a:off x="3776472" y="4553712"/>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 If Yes → Onboarding, If No → Renegotiate (loop)</a:t>
            </a:r>
            <a:endParaRPr lang="en-US" sz="850" dirty="0"/>
          </a:p>
        </p:txBody>
      </p:sp>
      <p:sp>
        <p:nvSpPr>
          <p:cNvPr id="56" name="Text 54"/>
          <p:cNvSpPr/>
          <p:nvPr/>
        </p:nvSpPr>
        <p:spPr>
          <a:xfrm>
            <a:off x="1627632" y="4864608"/>
            <a:ext cx="457200" cy="7315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57" name="Shape 55"/>
          <p:cNvSpPr/>
          <p:nvPr/>
        </p:nvSpPr>
        <p:spPr>
          <a:xfrm>
            <a:off x="347472" y="4846320"/>
            <a:ext cx="3108960" cy="347472"/>
          </a:xfrm>
          <a:prstGeom prst="rect">
            <a:avLst/>
          </a:prstGeom>
          <a:solidFill>
            <a:srgbClr val="D1FAE5"/>
          </a:solidFill>
          <a:ln w="12700">
            <a:solidFill>
              <a:srgbClr val="059669"/>
            </a:solidFill>
            <a:prstDash val="solid"/>
          </a:ln>
        </p:spPr>
      </p:sp>
      <p:sp>
        <p:nvSpPr>
          <p:cNvPr id="58" name="Text 56"/>
          <p:cNvSpPr/>
          <p:nvPr/>
        </p:nvSpPr>
        <p:spPr>
          <a:xfrm>
            <a:off x="420624" y="4864608"/>
            <a:ext cx="2962656" cy="310896"/>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END</a:t>
            </a:r>
            <a:endParaRPr lang="en-US" sz="850" dirty="0"/>
          </a:p>
        </p:txBody>
      </p:sp>
      <p:sp>
        <p:nvSpPr>
          <p:cNvPr id="59" name="Text 57"/>
          <p:cNvSpPr/>
          <p:nvPr/>
        </p:nvSpPr>
        <p:spPr>
          <a:xfrm>
            <a:off x="3502152" y="4892040"/>
            <a:ext cx="228600" cy="219456"/>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60" name="Text 58"/>
          <p:cNvSpPr/>
          <p:nvPr/>
        </p:nvSpPr>
        <p:spPr>
          <a:xfrm>
            <a:off x="3776472" y="4882896"/>
            <a:ext cx="5303520" cy="27432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Candidate is onboarded</a:t>
            </a:r>
            <a:endParaRPr lang="en-US" sz="850" dirty="0"/>
          </a:p>
        </p:txBody>
      </p:sp>
      <p:sp>
        <p:nvSpPr>
          <p:cNvPr id="61" name="Shape 59"/>
          <p:cNvSpPr/>
          <p:nvPr/>
        </p:nvSpPr>
        <p:spPr>
          <a:xfrm>
            <a:off x="6858000" y="1554480"/>
            <a:ext cx="1938528" cy="2377440"/>
          </a:xfrm>
          <a:prstGeom prst="rect">
            <a:avLst/>
          </a:prstGeom>
          <a:solidFill>
            <a:srgbClr val="0A1628"/>
          </a:solidFill>
          <a:ln w="12700">
            <a:solidFill>
              <a:srgbClr val="0D9488"/>
            </a:solidFill>
            <a:prstDash val="solid"/>
          </a:ln>
        </p:spPr>
      </p:sp>
      <p:sp>
        <p:nvSpPr>
          <p:cNvPr id="62" name="Text 60"/>
          <p:cNvSpPr/>
          <p:nvPr/>
        </p:nvSpPr>
        <p:spPr>
          <a:xfrm>
            <a:off x="6949440" y="1600200"/>
            <a:ext cx="1755648" cy="237744"/>
          </a:xfrm>
          <a:prstGeom prst="rect">
            <a:avLst/>
          </a:prstGeom>
          <a:noFill/>
          <a:ln/>
        </p:spPr>
        <p:txBody>
          <a:bodyPr wrap="square" lIns="0" tIns="0" rIns="0" bIns="0" rtlCol="0" anchor="ctr"/>
          <a:lstStyle/>
          <a:p>
            <a:pPr indent="0" marL="0">
              <a:buNone/>
            </a:pPr>
            <a:r>
              <a:rPr lang="en-US" sz="950" b="1" dirty="0">
                <a:solidFill>
                  <a:srgbClr val="5EEAD4"/>
                </a:solidFill>
                <a:latin typeface="Calibri" pitchFamily="34" charset="0"/>
                <a:ea typeface="Calibri" pitchFamily="34" charset="-122"/>
                <a:cs typeface="Calibri" pitchFamily="34" charset="-120"/>
              </a:rPr>
              <a:t>Patterns used:</a:t>
            </a:r>
            <a:endParaRPr lang="en-US" sz="950" dirty="0"/>
          </a:p>
        </p:txBody>
      </p:sp>
      <p:sp>
        <p:nvSpPr>
          <p:cNvPr id="63" name="Shape 61"/>
          <p:cNvSpPr/>
          <p:nvPr/>
        </p:nvSpPr>
        <p:spPr>
          <a:xfrm>
            <a:off x="6949440" y="1883664"/>
            <a:ext cx="1737360" cy="420624"/>
          </a:xfrm>
          <a:prstGeom prst="rect">
            <a:avLst/>
          </a:prstGeom>
          <a:solidFill>
            <a:srgbClr val="0F2240"/>
          </a:solidFill>
          <a:ln w="12700">
            <a:solidFill>
              <a:srgbClr val="1E3A5F"/>
            </a:solidFill>
            <a:prstDash val="solid"/>
          </a:ln>
        </p:spPr>
      </p:sp>
      <p:sp>
        <p:nvSpPr>
          <p:cNvPr id="64" name="Text 62"/>
          <p:cNvSpPr/>
          <p:nvPr/>
        </p:nvSpPr>
        <p:spPr>
          <a:xfrm>
            <a:off x="6995160" y="1901952"/>
            <a:ext cx="1645920" cy="384048"/>
          </a:xfrm>
          <a:prstGeom prst="rect">
            <a:avLst/>
          </a:prstGeom>
          <a:noFill/>
          <a:ln/>
        </p:spPr>
        <p:txBody>
          <a:bodyPr wrap="square" lIns="0" tIns="0" rIns="0" bIns="0" rtlCol="0" anchor="ctr"/>
          <a:lstStyle/>
          <a:p>
            <a:pPr indent="0" marL="0">
              <a:buNone/>
            </a:pPr>
            <a:r>
              <a:rPr lang="en-US" sz="800" dirty="0">
                <a:solidFill>
                  <a:srgbClr val="5EEAD4"/>
                </a:solidFill>
                <a:latin typeface="Calibri" pitchFamily="34" charset="0"/>
                <a:ea typeface="Calibri" pitchFamily="34" charset="-122"/>
                <a:cs typeface="Calibri" pitchFamily="34" charset="-120"/>
              </a:rPr>
              <a:t>⬦ Conditional</a:t>
            </a:r>
            <a:endParaRPr lang="en-US" sz="800" dirty="0"/>
          </a:p>
          <a:p>
            <a:pPr indent="0" marL="0">
              <a:buNone/>
            </a:pPr>
            <a:r>
              <a:rPr lang="en-US" sz="800" dirty="0">
                <a:solidFill>
                  <a:srgbClr val="5EEAD4"/>
                </a:solidFill>
                <a:latin typeface="Calibri" pitchFamily="34" charset="0"/>
                <a:ea typeface="Calibri" pitchFamily="34" charset="-122"/>
                <a:cs typeface="Calibri" pitchFamily="34" charset="-120"/>
              </a:rPr>
              <a:t>  routing ×3</a:t>
            </a:r>
            <a:endParaRPr lang="en-US" sz="800" dirty="0"/>
          </a:p>
        </p:txBody>
      </p:sp>
      <p:sp>
        <p:nvSpPr>
          <p:cNvPr id="65" name="Shape 63"/>
          <p:cNvSpPr/>
          <p:nvPr/>
        </p:nvSpPr>
        <p:spPr>
          <a:xfrm>
            <a:off x="6949440" y="2377440"/>
            <a:ext cx="1737360" cy="420624"/>
          </a:xfrm>
          <a:prstGeom prst="rect">
            <a:avLst/>
          </a:prstGeom>
          <a:solidFill>
            <a:srgbClr val="0F2240"/>
          </a:solidFill>
          <a:ln w="12700">
            <a:solidFill>
              <a:srgbClr val="1E3A5F"/>
            </a:solidFill>
            <a:prstDash val="solid"/>
          </a:ln>
        </p:spPr>
      </p:sp>
      <p:sp>
        <p:nvSpPr>
          <p:cNvPr id="66" name="Text 64"/>
          <p:cNvSpPr/>
          <p:nvPr/>
        </p:nvSpPr>
        <p:spPr>
          <a:xfrm>
            <a:off x="6995160" y="2395728"/>
            <a:ext cx="1645920" cy="384048"/>
          </a:xfrm>
          <a:prstGeom prst="rect">
            <a:avLst/>
          </a:prstGeom>
          <a:noFill/>
          <a:ln/>
        </p:spPr>
        <p:txBody>
          <a:bodyPr wrap="square" lIns="0" tIns="0" rIns="0" bIns="0" rtlCol="0" anchor="ctr"/>
          <a:lstStyle/>
          <a:p>
            <a:pPr indent="0" marL="0">
              <a:buNone/>
            </a:pPr>
            <a:r>
              <a:rPr lang="en-US" sz="800" dirty="0">
                <a:solidFill>
                  <a:srgbClr val="5EEAD4"/>
                </a:solidFill>
                <a:latin typeface="Calibri" pitchFamily="34" charset="0"/>
                <a:ea typeface="Calibri" pitchFamily="34" charset="-122"/>
                <a:cs typeface="Calibri" pitchFamily="34" charset="-120"/>
              </a:rPr>
              <a:t>🔄 Retry loops</a:t>
            </a:r>
            <a:endParaRPr lang="en-US" sz="800" dirty="0"/>
          </a:p>
          <a:p>
            <a:pPr indent="0" marL="0">
              <a:buNone/>
            </a:pPr>
            <a:r>
              <a:rPr lang="en-US" sz="800" dirty="0">
                <a:solidFill>
                  <a:srgbClr val="5EEAD4"/>
                </a:solidFill>
                <a:latin typeface="Calibri" pitchFamily="34" charset="0"/>
                <a:ea typeface="Calibri" pitchFamily="34" charset="-122"/>
                <a:cs typeface="Calibri" pitchFamily="34" charset="-120"/>
              </a:rPr>
              <a:t>  (JD, offer)</a:t>
            </a:r>
            <a:endParaRPr lang="en-US" sz="800" dirty="0"/>
          </a:p>
        </p:txBody>
      </p:sp>
      <p:sp>
        <p:nvSpPr>
          <p:cNvPr id="67" name="Shape 65"/>
          <p:cNvSpPr/>
          <p:nvPr/>
        </p:nvSpPr>
        <p:spPr>
          <a:xfrm>
            <a:off x="6949440" y="2871216"/>
            <a:ext cx="1737360" cy="420624"/>
          </a:xfrm>
          <a:prstGeom prst="rect">
            <a:avLst/>
          </a:prstGeom>
          <a:solidFill>
            <a:srgbClr val="0F2240"/>
          </a:solidFill>
          <a:ln w="12700">
            <a:solidFill>
              <a:srgbClr val="1E3A5F"/>
            </a:solidFill>
            <a:prstDash val="solid"/>
          </a:ln>
        </p:spPr>
      </p:sp>
      <p:sp>
        <p:nvSpPr>
          <p:cNvPr id="68" name="Text 66"/>
          <p:cNvSpPr/>
          <p:nvPr/>
        </p:nvSpPr>
        <p:spPr>
          <a:xfrm>
            <a:off x="6995160" y="2889504"/>
            <a:ext cx="1645920" cy="384048"/>
          </a:xfrm>
          <a:prstGeom prst="rect">
            <a:avLst/>
          </a:prstGeom>
          <a:noFill/>
          <a:ln/>
        </p:spPr>
        <p:txBody>
          <a:bodyPr wrap="square" lIns="0" tIns="0" rIns="0" bIns="0" rtlCol="0" anchor="ctr"/>
          <a:lstStyle/>
          <a:p>
            <a:pPr indent="0" marL="0">
              <a:buNone/>
            </a:pPr>
            <a:r>
              <a:rPr lang="en-US" sz="800" dirty="0">
                <a:solidFill>
                  <a:srgbClr val="5EEAD4"/>
                </a:solidFill>
                <a:latin typeface="Calibri" pitchFamily="34" charset="0"/>
                <a:ea typeface="Calibri" pitchFamily="34" charset="-122"/>
                <a:cs typeface="Calibri" pitchFamily="34" charset="-120"/>
              </a:rPr>
              <a:t>⏱ Timer node</a:t>
            </a:r>
            <a:endParaRPr lang="en-US" sz="800" dirty="0"/>
          </a:p>
          <a:p>
            <a:pPr indent="0" marL="0">
              <a:buNone/>
            </a:pPr>
            <a:r>
              <a:rPr lang="en-US" sz="800" dirty="0">
                <a:solidFill>
                  <a:srgbClr val="5EEAD4"/>
                </a:solidFill>
                <a:latin typeface="Calibri" pitchFamily="34" charset="0"/>
                <a:ea typeface="Calibri" pitchFamily="34" charset="-122"/>
                <a:cs typeface="Calibri" pitchFamily="34" charset="-120"/>
              </a:rPr>
              <a:t>  (wait 7 days)</a:t>
            </a:r>
            <a:endParaRPr lang="en-US" sz="800" dirty="0"/>
          </a:p>
        </p:txBody>
      </p:sp>
      <p:sp>
        <p:nvSpPr>
          <p:cNvPr id="69" name="Shape 67"/>
          <p:cNvSpPr/>
          <p:nvPr/>
        </p:nvSpPr>
        <p:spPr>
          <a:xfrm>
            <a:off x="6949440" y="3364992"/>
            <a:ext cx="1737360" cy="420624"/>
          </a:xfrm>
          <a:prstGeom prst="rect">
            <a:avLst/>
          </a:prstGeom>
          <a:solidFill>
            <a:srgbClr val="0F2240"/>
          </a:solidFill>
          <a:ln w="12700">
            <a:solidFill>
              <a:srgbClr val="1E3A5F"/>
            </a:solidFill>
            <a:prstDash val="solid"/>
          </a:ln>
        </p:spPr>
      </p:sp>
      <p:sp>
        <p:nvSpPr>
          <p:cNvPr id="70" name="Text 68"/>
          <p:cNvSpPr/>
          <p:nvPr/>
        </p:nvSpPr>
        <p:spPr>
          <a:xfrm>
            <a:off x="6995160" y="3383280"/>
            <a:ext cx="1645920" cy="384048"/>
          </a:xfrm>
          <a:prstGeom prst="rect">
            <a:avLst/>
          </a:prstGeom>
          <a:noFill/>
          <a:ln/>
        </p:spPr>
        <p:txBody>
          <a:bodyPr wrap="square" lIns="0" tIns="0" rIns="0" bIns="0" rtlCol="0" anchor="ctr"/>
          <a:lstStyle/>
          <a:p>
            <a:pPr indent="0" marL="0">
              <a:buNone/>
            </a:pPr>
            <a:r>
              <a:rPr lang="en-US" sz="800" dirty="0">
                <a:solidFill>
                  <a:srgbClr val="5EEAD4"/>
                </a:solidFill>
                <a:latin typeface="Calibri" pitchFamily="34" charset="0"/>
                <a:ea typeface="Calibri" pitchFamily="34" charset="-122"/>
                <a:cs typeface="Calibri" pitchFamily="34" charset="-120"/>
              </a:rPr>
              <a:t>⚡ Parallel</a:t>
            </a:r>
            <a:endParaRPr lang="en-US" sz="800" dirty="0"/>
          </a:p>
          <a:p>
            <a:pPr indent="0" marL="0">
              <a:buNone/>
            </a:pPr>
            <a:r>
              <a:rPr lang="en-US" sz="800" dirty="0">
                <a:solidFill>
                  <a:srgbClr val="5EEAD4"/>
                </a:solidFill>
                <a:latin typeface="Calibri" pitchFamily="34" charset="0"/>
                <a:ea typeface="Calibri" pitchFamily="34" charset="-122"/>
                <a:cs typeface="Calibri" pitchFamily="34" charset="-120"/>
              </a:rPr>
              <a:t>  shortlist+sched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0"/>
            <a:ext cx="2743200" cy="1005840"/>
          </a:xfrm>
          <a:prstGeom prst="rect">
            <a:avLst/>
          </a:prstGeom>
          <a:solidFill>
            <a:srgbClr val="0D9488"/>
          </a:solidFill>
          <a:ln w="12700">
            <a:solidFill>
              <a:srgbClr val="0D9488"/>
            </a:solidFill>
            <a:prstDash val="solid"/>
          </a:ln>
        </p:spPr>
      </p:sp>
      <p:sp>
        <p:nvSpPr>
          <p:cNvPr id="4" name="Text 2"/>
          <p:cNvSpPr/>
          <p:nvPr/>
        </p:nvSpPr>
        <p:spPr>
          <a:xfrm>
            <a:off x="320040" y="91440"/>
            <a:ext cx="8503920" cy="53035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LangGraph — Complete Concept Map</a:t>
            </a:r>
            <a:endParaRPr lang="en-US" sz="2100" dirty="0"/>
          </a:p>
        </p:txBody>
      </p:sp>
      <p:sp>
        <p:nvSpPr>
          <p:cNvPr id="5" name="Text 3"/>
          <p:cNvSpPr/>
          <p:nvPr/>
        </p:nvSpPr>
        <p:spPr>
          <a:xfrm>
            <a:off x="320040" y="621792"/>
            <a:ext cx="8503920" cy="310896"/>
          </a:xfrm>
          <a:prstGeom prst="rect">
            <a:avLst/>
          </a:prstGeom>
          <a:noFill/>
          <a:ln/>
        </p:spPr>
        <p:txBody>
          <a:bodyPr wrap="square" lIns="0" tIns="0" rIns="0" bIns="0" rtlCol="0" anchor="ctr"/>
          <a:lstStyle/>
          <a:p>
            <a:pPr indent="0" marL="0">
              <a:buNone/>
            </a:pPr>
            <a:r>
              <a:rPr lang="en-US" sz="1050" i="1" dirty="0">
                <a:solidFill>
                  <a:srgbClr val="5EEAD4"/>
                </a:solidFill>
                <a:latin typeface="Calibri" pitchFamily="34" charset="0"/>
                <a:ea typeface="Calibri" pitchFamily="34" charset="-122"/>
                <a:cs typeface="Calibri" pitchFamily="34" charset="-120"/>
              </a:rPr>
              <a:t>All core concepts and how they connect</a:t>
            </a:r>
            <a:endParaRPr lang="en-US" sz="1050" dirty="0"/>
          </a:p>
        </p:txBody>
      </p:sp>
      <p:sp>
        <p:nvSpPr>
          <p:cNvPr id="6" name="Shape 4"/>
          <p:cNvSpPr/>
          <p:nvPr/>
        </p:nvSpPr>
        <p:spPr>
          <a:xfrm>
            <a:off x="320040" y="1115568"/>
            <a:ext cx="2807208" cy="877824"/>
          </a:xfrm>
          <a:prstGeom prst="rect">
            <a:avLst/>
          </a:prstGeom>
          <a:solidFill>
            <a:srgbClr val="E6FFFA"/>
          </a:solidFill>
          <a:ln w="12700">
            <a:solidFill>
              <a:srgbClr val="0D9488"/>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320040" y="1115568"/>
            <a:ext cx="2807208" cy="237744"/>
          </a:xfrm>
          <a:prstGeom prst="rect">
            <a:avLst/>
          </a:prstGeom>
          <a:solidFill>
            <a:srgbClr val="0D9488"/>
          </a:solidFill>
          <a:ln w="12700">
            <a:solidFill>
              <a:srgbClr val="0D9488"/>
            </a:solidFill>
            <a:prstDash val="solid"/>
          </a:ln>
        </p:spPr>
      </p:sp>
      <p:sp>
        <p:nvSpPr>
          <p:cNvPr id="8" name="Text 6"/>
          <p:cNvSpPr/>
          <p:nvPr/>
        </p:nvSpPr>
        <p:spPr>
          <a:xfrm>
            <a:off x="393192" y="111556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What is LangGraph</a:t>
            </a:r>
            <a:endParaRPr lang="en-US" sz="850" dirty="0"/>
          </a:p>
        </p:txBody>
      </p:sp>
      <p:sp>
        <p:nvSpPr>
          <p:cNvPr id="9" name="Text 7"/>
          <p:cNvSpPr/>
          <p:nvPr/>
        </p:nvSpPr>
        <p:spPr>
          <a:xfrm>
            <a:off x="393192" y="138988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Orchestration framework for stateful, multi-step LLM workflows. Inspired by Google Pregel.</a:t>
            </a:r>
            <a:endParaRPr lang="en-US" sz="780" dirty="0"/>
          </a:p>
        </p:txBody>
      </p:sp>
      <p:sp>
        <p:nvSpPr>
          <p:cNvPr id="10" name="Shape 8"/>
          <p:cNvSpPr/>
          <p:nvPr/>
        </p:nvSpPr>
        <p:spPr>
          <a:xfrm>
            <a:off x="3264408" y="1115568"/>
            <a:ext cx="2807208" cy="877824"/>
          </a:xfrm>
          <a:prstGeom prst="rect">
            <a:avLst/>
          </a:prstGeom>
          <a:solidFill>
            <a:srgbClr val="EFF6FF"/>
          </a:solidFill>
          <a:ln w="12700">
            <a:solidFill>
              <a:srgbClr val="2563EB"/>
            </a:solidFill>
            <a:prstDash val="solid"/>
          </a:ln>
          <a:effectLst>
            <a:outerShdw sx="100000" sy="100000" kx="0" ky="0" algn="bl" rotWithShape="0" blurRad="50800" dist="25400" dir="8100000">
              <a:srgbClr val="000000">
                <a:alpha val="8000"/>
              </a:srgbClr>
            </a:outerShdw>
          </a:effectLst>
        </p:spPr>
      </p:sp>
      <p:sp>
        <p:nvSpPr>
          <p:cNvPr id="11" name="Shape 9"/>
          <p:cNvSpPr/>
          <p:nvPr/>
        </p:nvSpPr>
        <p:spPr>
          <a:xfrm>
            <a:off x="3264408" y="1115568"/>
            <a:ext cx="2807208" cy="237744"/>
          </a:xfrm>
          <a:prstGeom prst="rect">
            <a:avLst/>
          </a:prstGeom>
          <a:solidFill>
            <a:srgbClr val="2563EB"/>
          </a:solidFill>
          <a:ln w="12700">
            <a:solidFill>
              <a:srgbClr val="2563EB"/>
            </a:solidFill>
            <a:prstDash val="solid"/>
          </a:ln>
        </p:spPr>
      </p:sp>
      <p:sp>
        <p:nvSpPr>
          <p:cNvPr id="12" name="Text 10"/>
          <p:cNvSpPr/>
          <p:nvPr/>
        </p:nvSpPr>
        <p:spPr>
          <a:xfrm>
            <a:off x="3337560" y="111556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LLM Workflows</a:t>
            </a:r>
            <a:endParaRPr lang="en-US" sz="850" dirty="0"/>
          </a:p>
        </p:txBody>
      </p:sp>
      <p:sp>
        <p:nvSpPr>
          <p:cNvPr id="13" name="Text 11"/>
          <p:cNvSpPr/>
          <p:nvPr/>
        </p:nvSpPr>
        <p:spPr>
          <a:xfrm>
            <a:off x="3337560" y="138988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Prompt Chaining · Routing · Parallelisation · Orchestrator-Workers · Evaluator-Optimizer</a:t>
            </a:r>
            <a:endParaRPr lang="en-US" sz="780" dirty="0"/>
          </a:p>
        </p:txBody>
      </p:sp>
      <p:sp>
        <p:nvSpPr>
          <p:cNvPr id="14" name="Shape 12"/>
          <p:cNvSpPr/>
          <p:nvPr/>
        </p:nvSpPr>
        <p:spPr>
          <a:xfrm>
            <a:off x="6208776" y="1115568"/>
            <a:ext cx="2807208" cy="877824"/>
          </a:xfrm>
          <a:prstGeom prst="rect">
            <a:avLst/>
          </a:prstGeom>
          <a:solidFill>
            <a:srgbClr val="F5F3FF"/>
          </a:solidFill>
          <a:ln w="12700">
            <a:solidFill>
              <a:srgbClr val="7C3AED"/>
            </a:solidFill>
            <a:prstDash val="solid"/>
          </a:ln>
          <a:effectLst>
            <a:outerShdw sx="100000" sy="100000" kx="0" ky="0" algn="bl" rotWithShape="0" blurRad="50800" dist="25400" dir="8100000">
              <a:srgbClr val="000000">
                <a:alpha val="8000"/>
              </a:srgbClr>
            </a:outerShdw>
          </a:effectLst>
        </p:spPr>
      </p:sp>
      <p:sp>
        <p:nvSpPr>
          <p:cNvPr id="15" name="Shape 13"/>
          <p:cNvSpPr/>
          <p:nvPr/>
        </p:nvSpPr>
        <p:spPr>
          <a:xfrm>
            <a:off x="6208776" y="1115568"/>
            <a:ext cx="2807208" cy="237744"/>
          </a:xfrm>
          <a:prstGeom prst="rect">
            <a:avLst/>
          </a:prstGeom>
          <a:solidFill>
            <a:srgbClr val="7C3AED"/>
          </a:solidFill>
          <a:ln w="12700">
            <a:solidFill>
              <a:srgbClr val="7C3AED"/>
            </a:solidFill>
            <a:prstDash val="solid"/>
          </a:ln>
        </p:spPr>
      </p:sp>
      <p:sp>
        <p:nvSpPr>
          <p:cNvPr id="16" name="Text 14"/>
          <p:cNvSpPr/>
          <p:nvPr/>
        </p:nvSpPr>
        <p:spPr>
          <a:xfrm>
            <a:off x="6281928" y="111556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Graphs, Nodes &amp; Edges</a:t>
            </a:r>
            <a:endParaRPr lang="en-US" sz="850" dirty="0"/>
          </a:p>
        </p:txBody>
      </p:sp>
      <p:sp>
        <p:nvSpPr>
          <p:cNvPr id="17" name="Text 15"/>
          <p:cNvSpPr/>
          <p:nvPr/>
        </p:nvSpPr>
        <p:spPr>
          <a:xfrm>
            <a:off x="6281928" y="138988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StateGraph container · Node = Python function · Edge = connection · Conditional edges for routing</a:t>
            </a:r>
            <a:endParaRPr lang="en-US" sz="780" dirty="0"/>
          </a:p>
        </p:txBody>
      </p:sp>
      <p:sp>
        <p:nvSpPr>
          <p:cNvPr id="18" name="Shape 16"/>
          <p:cNvSpPr/>
          <p:nvPr/>
        </p:nvSpPr>
        <p:spPr>
          <a:xfrm>
            <a:off x="320040" y="2075688"/>
            <a:ext cx="2807208" cy="877824"/>
          </a:xfrm>
          <a:prstGeom prst="rect">
            <a:avLst/>
          </a:prstGeom>
          <a:solidFill>
            <a:srgbClr val="F0FDF4"/>
          </a:solidFill>
          <a:ln w="12700">
            <a:solidFill>
              <a:srgbClr val="059669"/>
            </a:solidFill>
            <a:prstDash val="solid"/>
          </a:ln>
          <a:effectLst>
            <a:outerShdw sx="100000" sy="100000" kx="0" ky="0" algn="bl" rotWithShape="0" blurRad="50800" dist="25400" dir="8100000">
              <a:srgbClr val="000000">
                <a:alpha val="8000"/>
              </a:srgbClr>
            </a:outerShdw>
          </a:effectLst>
        </p:spPr>
      </p:sp>
      <p:sp>
        <p:nvSpPr>
          <p:cNvPr id="19" name="Shape 17"/>
          <p:cNvSpPr/>
          <p:nvPr/>
        </p:nvSpPr>
        <p:spPr>
          <a:xfrm>
            <a:off x="320040" y="2075688"/>
            <a:ext cx="2807208" cy="237744"/>
          </a:xfrm>
          <a:prstGeom prst="rect">
            <a:avLst/>
          </a:prstGeom>
          <a:solidFill>
            <a:srgbClr val="059669"/>
          </a:solidFill>
          <a:ln w="12700">
            <a:solidFill>
              <a:srgbClr val="059669"/>
            </a:solidFill>
            <a:prstDash val="solid"/>
          </a:ln>
        </p:spPr>
      </p:sp>
      <p:sp>
        <p:nvSpPr>
          <p:cNvPr id="20" name="Text 18"/>
          <p:cNvSpPr/>
          <p:nvPr/>
        </p:nvSpPr>
        <p:spPr>
          <a:xfrm>
            <a:off x="393192" y="207568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State</a:t>
            </a:r>
            <a:endParaRPr lang="en-US" sz="850" dirty="0"/>
          </a:p>
        </p:txBody>
      </p:sp>
      <p:sp>
        <p:nvSpPr>
          <p:cNvPr id="21" name="Text 19"/>
          <p:cNvSpPr/>
          <p:nvPr/>
        </p:nvSpPr>
        <p:spPr>
          <a:xfrm>
            <a:off x="393192" y="235000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Shared mutable TypedDict that flows through all nodes. Holds all inter-node data.</a:t>
            </a:r>
            <a:endParaRPr lang="en-US" sz="780" dirty="0"/>
          </a:p>
        </p:txBody>
      </p:sp>
      <p:sp>
        <p:nvSpPr>
          <p:cNvPr id="22" name="Shape 20"/>
          <p:cNvSpPr/>
          <p:nvPr/>
        </p:nvSpPr>
        <p:spPr>
          <a:xfrm>
            <a:off x="3264408" y="2075688"/>
            <a:ext cx="2807208" cy="877824"/>
          </a:xfrm>
          <a:prstGeom prst="rect">
            <a:avLst/>
          </a:prstGeom>
          <a:solidFill>
            <a:srgbClr val="FFFBEB"/>
          </a:solidFill>
          <a:ln w="12700">
            <a:solidFill>
              <a:srgbClr val="F59E0B"/>
            </a:solidFill>
            <a:prstDash val="solid"/>
          </a:ln>
          <a:effectLst>
            <a:outerShdw sx="100000" sy="100000" kx="0" ky="0" algn="bl" rotWithShape="0" blurRad="50800" dist="25400" dir="8100000">
              <a:srgbClr val="000000">
                <a:alpha val="8000"/>
              </a:srgbClr>
            </a:outerShdw>
          </a:effectLst>
        </p:spPr>
      </p:sp>
      <p:sp>
        <p:nvSpPr>
          <p:cNvPr id="23" name="Shape 21"/>
          <p:cNvSpPr/>
          <p:nvPr/>
        </p:nvSpPr>
        <p:spPr>
          <a:xfrm>
            <a:off x="3264408" y="2075688"/>
            <a:ext cx="2807208" cy="237744"/>
          </a:xfrm>
          <a:prstGeom prst="rect">
            <a:avLst/>
          </a:prstGeom>
          <a:solidFill>
            <a:srgbClr val="F59E0B"/>
          </a:solidFill>
          <a:ln w="12700">
            <a:solidFill>
              <a:srgbClr val="F59E0B"/>
            </a:solidFill>
            <a:prstDash val="solid"/>
          </a:ln>
        </p:spPr>
      </p:sp>
      <p:sp>
        <p:nvSpPr>
          <p:cNvPr id="24" name="Text 22"/>
          <p:cNvSpPr/>
          <p:nvPr/>
        </p:nvSpPr>
        <p:spPr>
          <a:xfrm>
            <a:off x="3337560" y="207568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Reducers</a:t>
            </a:r>
            <a:endParaRPr lang="en-US" sz="850" dirty="0"/>
          </a:p>
        </p:txBody>
      </p:sp>
      <p:sp>
        <p:nvSpPr>
          <p:cNvPr id="25" name="Text 23"/>
          <p:cNvSpPr/>
          <p:nvPr/>
        </p:nvSpPr>
        <p:spPr>
          <a:xfrm>
            <a:off x="3337560" y="235000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Control how state updates are applied: Replace (default) · Add (operator.add) · Custom</a:t>
            </a:r>
            <a:endParaRPr lang="en-US" sz="780" dirty="0"/>
          </a:p>
        </p:txBody>
      </p:sp>
      <p:sp>
        <p:nvSpPr>
          <p:cNvPr id="26" name="Shape 24"/>
          <p:cNvSpPr/>
          <p:nvPr/>
        </p:nvSpPr>
        <p:spPr>
          <a:xfrm>
            <a:off x="6208776" y="2075688"/>
            <a:ext cx="2807208" cy="877824"/>
          </a:xfrm>
          <a:prstGeom prst="rect">
            <a:avLst/>
          </a:prstGeom>
          <a:solidFill>
            <a:srgbClr val="E6FFFA"/>
          </a:solidFill>
          <a:ln w="12700">
            <a:solidFill>
              <a:srgbClr val="0D9488"/>
            </a:solidFill>
            <a:prstDash val="solid"/>
          </a:ln>
          <a:effectLst>
            <a:outerShdw sx="100000" sy="100000" kx="0" ky="0" algn="bl" rotWithShape="0" blurRad="50800" dist="25400" dir="8100000">
              <a:srgbClr val="000000">
                <a:alpha val="8000"/>
              </a:srgbClr>
            </a:outerShdw>
          </a:effectLst>
        </p:spPr>
      </p:sp>
      <p:sp>
        <p:nvSpPr>
          <p:cNvPr id="27" name="Shape 25"/>
          <p:cNvSpPr/>
          <p:nvPr/>
        </p:nvSpPr>
        <p:spPr>
          <a:xfrm>
            <a:off x="6208776" y="2075688"/>
            <a:ext cx="2807208" cy="237744"/>
          </a:xfrm>
          <a:prstGeom prst="rect">
            <a:avLst/>
          </a:prstGeom>
          <a:solidFill>
            <a:srgbClr val="0D9488"/>
          </a:solidFill>
          <a:ln w="12700">
            <a:solidFill>
              <a:srgbClr val="0D9488"/>
            </a:solidFill>
            <a:prstDash val="solid"/>
          </a:ln>
        </p:spPr>
      </p:sp>
      <p:sp>
        <p:nvSpPr>
          <p:cNvPr id="28" name="Text 26"/>
          <p:cNvSpPr/>
          <p:nvPr/>
        </p:nvSpPr>
        <p:spPr>
          <a:xfrm>
            <a:off x="6281928" y="207568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Execution Model</a:t>
            </a:r>
            <a:endParaRPr lang="en-US" sz="850" dirty="0"/>
          </a:p>
        </p:txBody>
      </p:sp>
      <p:sp>
        <p:nvSpPr>
          <p:cNvPr id="29" name="Text 27"/>
          <p:cNvSpPr/>
          <p:nvPr/>
        </p:nvSpPr>
        <p:spPr>
          <a:xfrm>
            <a:off x="6281928" y="235000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Define → Compile → Invoke → Super-Steps → Message Passing → Halt when no active nodes</a:t>
            </a:r>
            <a:endParaRPr lang="en-US" sz="780" dirty="0"/>
          </a:p>
        </p:txBody>
      </p:sp>
      <p:sp>
        <p:nvSpPr>
          <p:cNvPr id="30" name="Shape 28"/>
          <p:cNvSpPr/>
          <p:nvPr/>
        </p:nvSpPr>
        <p:spPr>
          <a:xfrm>
            <a:off x="320040" y="3035808"/>
            <a:ext cx="2807208" cy="877824"/>
          </a:xfrm>
          <a:prstGeom prst="rect">
            <a:avLst/>
          </a:prstGeom>
          <a:solidFill>
            <a:srgbClr val="FEF2F2"/>
          </a:solidFill>
          <a:ln w="12700">
            <a:solidFill>
              <a:srgbClr val="DC2626"/>
            </a:solidFill>
            <a:prstDash val="solid"/>
          </a:ln>
          <a:effectLst>
            <a:outerShdw sx="100000" sy="100000" kx="0" ky="0" algn="bl" rotWithShape="0" blurRad="50800" dist="25400" dir="8100000">
              <a:srgbClr val="000000">
                <a:alpha val="8000"/>
              </a:srgbClr>
            </a:outerShdw>
          </a:effectLst>
        </p:spPr>
      </p:sp>
      <p:sp>
        <p:nvSpPr>
          <p:cNvPr id="31" name="Shape 29"/>
          <p:cNvSpPr/>
          <p:nvPr/>
        </p:nvSpPr>
        <p:spPr>
          <a:xfrm>
            <a:off x="320040" y="3035808"/>
            <a:ext cx="2807208" cy="237744"/>
          </a:xfrm>
          <a:prstGeom prst="rect">
            <a:avLst/>
          </a:prstGeom>
          <a:solidFill>
            <a:srgbClr val="DC2626"/>
          </a:solidFill>
          <a:ln w="12700">
            <a:solidFill>
              <a:srgbClr val="DC2626"/>
            </a:solidFill>
            <a:prstDash val="solid"/>
          </a:ln>
        </p:spPr>
      </p:sp>
      <p:sp>
        <p:nvSpPr>
          <p:cNvPr id="32" name="Text 30"/>
          <p:cNvSpPr/>
          <p:nvPr/>
        </p:nvSpPr>
        <p:spPr>
          <a:xfrm>
            <a:off x="393192" y="303580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Fault Tolerance</a:t>
            </a:r>
            <a:endParaRPr lang="en-US" sz="850" dirty="0"/>
          </a:p>
        </p:txBody>
      </p:sp>
      <p:sp>
        <p:nvSpPr>
          <p:cNvPr id="33" name="Text 31"/>
          <p:cNvSpPr/>
          <p:nvPr/>
        </p:nvSpPr>
        <p:spPr>
          <a:xfrm>
            <a:off x="393192" y="331012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Checkpointers (MemorySaver, Sqlite, Postgres) · Auto-retry · Pause and resume</a:t>
            </a:r>
            <a:endParaRPr lang="en-US" sz="780" dirty="0"/>
          </a:p>
        </p:txBody>
      </p:sp>
      <p:sp>
        <p:nvSpPr>
          <p:cNvPr id="34" name="Shape 32"/>
          <p:cNvSpPr/>
          <p:nvPr/>
        </p:nvSpPr>
        <p:spPr>
          <a:xfrm>
            <a:off x="3264408" y="3035808"/>
            <a:ext cx="2807208" cy="877824"/>
          </a:xfrm>
          <a:prstGeom prst="rect">
            <a:avLst/>
          </a:prstGeom>
          <a:solidFill>
            <a:srgbClr val="F0FDF4"/>
          </a:solidFill>
          <a:ln w="12700">
            <a:solidFill>
              <a:srgbClr val="059669"/>
            </a:solidFill>
            <a:prstDash val="solid"/>
          </a:ln>
          <a:effectLst>
            <a:outerShdw sx="100000" sy="100000" kx="0" ky="0" algn="bl" rotWithShape="0" blurRad="50800" dist="25400" dir="8100000">
              <a:srgbClr val="000000">
                <a:alpha val="8000"/>
              </a:srgbClr>
            </a:outerShdw>
          </a:effectLst>
        </p:spPr>
      </p:sp>
      <p:sp>
        <p:nvSpPr>
          <p:cNvPr id="35" name="Shape 33"/>
          <p:cNvSpPr/>
          <p:nvPr/>
        </p:nvSpPr>
        <p:spPr>
          <a:xfrm>
            <a:off x="3264408" y="3035808"/>
            <a:ext cx="2807208" cy="237744"/>
          </a:xfrm>
          <a:prstGeom prst="rect">
            <a:avLst/>
          </a:prstGeom>
          <a:solidFill>
            <a:srgbClr val="059669"/>
          </a:solidFill>
          <a:ln w="12700">
            <a:solidFill>
              <a:srgbClr val="059669"/>
            </a:solidFill>
            <a:prstDash val="solid"/>
          </a:ln>
        </p:spPr>
      </p:sp>
      <p:sp>
        <p:nvSpPr>
          <p:cNvPr id="36" name="Text 34"/>
          <p:cNvSpPr/>
          <p:nvPr/>
        </p:nvSpPr>
        <p:spPr>
          <a:xfrm>
            <a:off x="3337560" y="303580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Human-in-the-Loop</a:t>
            </a:r>
            <a:endParaRPr lang="en-US" sz="850" dirty="0"/>
          </a:p>
        </p:txBody>
      </p:sp>
      <p:sp>
        <p:nvSpPr>
          <p:cNvPr id="37" name="Text 35"/>
          <p:cNvSpPr/>
          <p:nvPr/>
        </p:nvSpPr>
        <p:spPr>
          <a:xfrm>
            <a:off x="3337560" y="331012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interrupt_before/after · Human reviews state · Workflow resumes after approval</a:t>
            </a:r>
            <a:endParaRPr lang="en-US" sz="780" dirty="0"/>
          </a:p>
        </p:txBody>
      </p:sp>
      <p:sp>
        <p:nvSpPr>
          <p:cNvPr id="38" name="Shape 36"/>
          <p:cNvSpPr/>
          <p:nvPr/>
        </p:nvSpPr>
        <p:spPr>
          <a:xfrm>
            <a:off x="6208776" y="3035808"/>
            <a:ext cx="2807208" cy="877824"/>
          </a:xfrm>
          <a:prstGeom prst="rect">
            <a:avLst/>
          </a:prstGeom>
          <a:solidFill>
            <a:srgbClr val="FFFBEB"/>
          </a:solidFill>
          <a:ln w="12700">
            <a:solidFill>
              <a:srgbClr val="F59E0B"/>
            </a:solidFill>
            <a:prstDash val="solid"/>
          </a:ln>
          <a:effectLst>
            <a:outerShdw sx="100000" sy="100000" kx="0" ky="0" algn="bl" rotWithShape="0" blurRad="50800" dist="25400" dir="8100000">
              <a:srgbClr val="000000">
                <a:alpha val="8000"/>
              </a:srgbClr>
            </a:outerShdw>
          </a:effectLst>
        </p:spPr>
      </p:sp>
      <p:sp>
        <p:nvSpPr>
          <p:cNvPr id="39" name="Shape 37"/>
          <p:cNvSpPr/>
          <p:nvPr/>
        </p:nvSpPr>
        <p:spPr>
          <a:xfrm>
            <a:off x="6208776" y="3035808"/>
            <a:ext cx="2807208" cy="237744"/>
          </a:xfrm>
          <a:prstGeom prst="rect">
            <a:avLst/>
          </a:prstGeom>
          <a:solidFill>
            <a:srgbClr val="F59E0B"/>
          </a:solidFill>
          <a:ln w="12700">
            <a:solidFill>
              <a:srgbClr val="F59E0B"/>
            </a:solidFill>
            <a:prstDash val="solid"/>
          </a:ln>
        </p:spPr>
      </p:sp>
      <p:sp>
        <p:nvSpPr>
          <p:cNvPr id="40" name="Text 38"/>
          <p:cNvSpPr/>
          <p:nvPr/>
        </p:nvSpPr>
        <p:spPr>
          <a:xfrm>
            <a:off x="6281928" y="303580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Memory</a:t>
            </a:r>
            <a:endParaRPr lang="en-US" sz="850" dirty="0"/>
          </a:p>
        </p:txBody>
      </p:sp>
      <p:sp>
        <p:nvSpPr>
          <p:cNvPr id="41" name="Text 39"/>
          <p:cNvSpPr/>
          <p:nvPr/>
        </p:nvSpPr>
        <p:spPr>
          <a:xfrm>
            <a:off x="6281928" y="331012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Short-term (state) · Long-term (checkpointer) · Cross-session (thread_id)</a:t>
            </a:r>
            <a:endParaRPr lang="en-US" sz="780" dirty="0"/>
          </a:p>
        </p:txBody>
      </p:sp>
      <p:sp>
        <p:nvSpPr>
          <p:cNvPr id="42" name="Shape 40"/>
          <p:cNvSpPr/>
          <p:nvPr/>
        </p:nvSpPr>
        <p:spPr>
          <a:xfrm>
            <a:off x="320040" y="3995928"/>
            <a:ext cx="2807208" cy="877824"/>
          </a:xfrm>
          <a:prstGeom prst="rect">
            <a:avLst/>
          </a:prstGeom>
          <a:solidFill>
            <a:srgbClr val="F5F3FF"/>
          </a:solidFill>
          <a:ln w="12700">
            <a:solidFill>
              <a:srgbClr val="7C3AED"/>
            </a:solidFill>
            <a:prstDash val="solid"/>
          </a:ln>
          <a:effectLst>
            <a:outerShdw sx="100000" sy="100000" kx="0" ky="0" algn="bl" rotWithShape="0" blurRad="50800" dist="25400" dir="8100000">
              <a:srgbClr val="000000">
                <a:alpha val="8000"/>
              </a:srgbClr>
            </a:outerShdw>
          </a:effectLst>
        </p:spPr>
      </p:sp>
      <p:sp>
        <p:nvSpPr>
          <p:cNvPr id="43" name="Shape 41"/>
          <p:cNvSpPr/>
          <p:nvPr/>
        </p:nvSpPr>
        <p:spPr>
          <a:xfrm>
            <a:off x="320040" y="3995928"/>
            <a:ext cx="2807208" cy="237744"/>
          </a:xfrm>
          <a:prstGeom prst="rect">
            <a:avLst/>
          </a:prstGeom>
          <a:solidFill>
            <a:srgbClr val="7C3AED"/>
          </a:solidFill>
          <a:ln w="12700">
            <a:solidFill>
              <a:srgbClr val="7C3AED"/>
            </a:solidFill>
            <a:prstDash val="solid"/>
          </a:ln>
        </p:spPr>
      </p:sp>
      <p:sp>
        <p:nvSpPr>
          <p:cNvPr id="44" name="Text 42"/>
          <p:cNvSpPr/>
          <p:nvPr/>
        </p:nvSpPr>
        <p:spPr>
          <a:xfrm>
            <a:off x="393192" y="399592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Agent-Driven Execution</a:t>
            </a:r>
            <a:endParaRPr lang="en-US" sz="850" dirty="0"/>
          </a:p>
        </p:txBody>
      </p:sp>
      <p:sp>
        <p:nvSpPr>
          <p:cNvPr id="45" name="Text 43"/>
          <p:cNvSpPr/>
          <p:nvPr/>
        </p:nvSpPr>
        <p:spPr>
          <a:xfrm>
            <a:off x="393192" y="427024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LLM decides next step at runtime · ReAct loop (Thought→Action→Observation) · Autonomous agents</a:t>
            </a:r>
            <a:endParaRPr lang="en-US" sz="780" dirty="0"/>
          </a:p>
        </p:txBody>
      </p:sp>
      <p:sp>
        <p:nvSpPr>
          <p:cNvPr id="46" name="Shape 44"/>
          <p:cNvSpPr/>
          <p:nvPr/>
        </p:nvSpPr>
        <p:spPr>
          <a:xfrm>
            <a:off x="3264408" y="3995928"/>
            <a:ext cx="2807208" cy="877824"/>
          </a:xfrm>
          <a:prstGeom prst="rect">
            <a:avLst/>
          </a:prstGeom>
          <a:solidFill>
            <a:srgbClr val="EFF6FF"/>
          </a:solidFill>
          <a:ln w="12700">
            <a:solidFill>
              <a:srgbClr val="2563EB"/>
            </a:solidFill>
            <a:prstDash val="solid"/>
          </a:ln>
          <a:effectLst>
            <a:outerShdw sx="100000" sy="100000" kx="0" ky="0" algn="bl" rotWithShape="0" blurRad="50800" dist="25400" dir="8100000">
              <a:srgbClr val="000000">
                <a:alpha val="8000"/>
              </a:srgbClr>
            </a:outerShdw>
          </a:effectLst>
        </p:spPr>
      </p:sp>
      <p:sp>
        <p:nvSpPr>
          <p:cNvPr id="47" name="Shape 45"/>
          <p:cNvSpPr/>
          <p:nvPr/>
        </p:nvSpPr>
        <p:spPr>
          <a:xfrm>
            <a:off x="3264408" y="3995928"/>
            <a:ext cx="2807208" cy="237744"/>
          </a:xfrm>
          <a:prstGeom prst="rect">
            <a:avLst/>
          </a:prstGeom>
          <a:solidFill>
            <a:srgbClr val="2563EB"/>
          </a:solidFill>
          <a:ln w="12700">
            <a:solidFill>
              <a:srgbClr val="2563EB"/>
            </a:solidFill>
            <a:prstDash val="solid"/>
          </a:ln>
        </p:spPr>
      </p:sp>
      <p:sp>
        <p:nvSpPr>
          <p:cNvPr id="48" name="Text 46"/>
          <p:cNvSpPr/>
          <p:nvPr/>
        </p:nvSpPr>
        <p:spPr>
          <a:xfrm>
            <a:off x="3337560" y="399592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Parallelism</a:t>
            </a:r>
            <a:endParaRPr lang="en-US" sz="850" dirty="0"/>
          </a:p>
        </p:txBody>
      </p:sp>
      <p:sp>
        <p:nvSpPr>
          <p:cNvPr id="49" name="Text 47"/>
          <p:cNvSpPr/>
          <p:nvPr/>
        </p:nvSpPr>
        <p:spPr>
          <a:xfrm>
            <a:off x="3337560" y="427024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Fan-out from START or any node · All active nodes run in the same super-step simultaneously</a:t>
            </a:r>
            <a:endParaRPr lang="en-US" sz="780" dirty="0"/>
          </a:p>
        </p:txBody>
      </p:sp>
      <p:sp>
        <p:nvSpPr>
          <p:cNvPr id="50" name="Shape 48"/>
          <p:cNvSpPr/>
          <p:nvPr/>
        </p:nvSpPr>
        <p:spPr>
          <a:xfrm>
            <a:off x="6208776" y="3995928"/>
            <a:ext cx="2807208" cy="877824"/>
          </a:xfrm>
          <a:prstGeom prst="rect">
            <a:avLst/>
          </a:prstGeom>
          <a:solidFill>
            <a:srgbClr val="FEF2F2"/>
          </a:solidFill>
          <a:ln w="12700">
            <a:solidFill>
              <a:srgbClr val="DC2626"/>
            </a:solidFill>
            <a:prstDash val="solid"/>
          </a:ln>
          <a:effectLst>
            <a:outerShdw sx="100000" sy="100000" kx="0" ky="0" algn="bl" rotWithShape="0" blurRad="50800" dist="25400" dir="8100000">
              <a:srgbClr val="000000">
                <a:alpha val="8000"/>
              </a:srgbClr>
            </a:outerShdw>
          </a:effectLst>
        </p:spPr>
      </p:sp>
      <p:sp>
        <p:nvSpPr>
          <p:cNvPr id="51" name="Shape 49"/>
          <p:cNvSpPr/>
          <p:nvPr/>
        </p:nvSpPr>
        <p:spPr>
          <a:xfrm>
            <a:off x="6208776" y="3995928"/>
            <a:ext cx="2807208" cy="237744"/>
          </a:xfrm>
          <a:prstGeom prst="rect">
            <a:avLst/>
          </a:prstGeom>
          <a:solidFill>
            <a:srgbClr val="DC2626"/>
          </a:solidFill>
          <a:ln w="12700">
            <a:solidFill>
              <a:srgbClr val="DC2626"/>
            </a:solidFill>
            <a:prstDash val="solid"/>
          </a:ln>
        </p:spPr>
      </p:sp>
      <p:sp>
        <p:nvSpPr>
          <p:cNvPr id="52" name="Text 50"/>
          <p:cNvSpPr/>
          <p:nvPr/>
        </p:nvSpPr>
        <p:spPr>
          <a:xfrm>
            <a:off x="6281928" y="3995928"/>
            <a:ext cx="2660904"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Real-World Applications</a:t>
            </a:r>
            <a:endParaRPr lang="en-US" sz="850" dirty="0"/>
          </a:p>
        </p:txBody>
      </p:sp>
      <p:sp>
        <p:nvSpPr>
          <p:cNvPr id="53" name="Text 51"/>
          <p:cNvSpPr/>
          <p:nvPr/>
        </p:nvSpPr>
        <p:spPr>
          <a:xfrm>
            <a:off x="6281928" y="4270248"/>
            <a:ext cx="2660904" cy="530352"/>
          </a:xfrm>
          <a:prstGeom prst="rect">
            <a:avLst/>
          </a:prstGeom>
          <a:noFill/>
          <a:ln/>
        </p:spPr>
        <p:txBody>
          <a:bodyPr wrap="square" lIns="0" tIns="0" rIns="0" bIns="0" rtlCol="0" anchor="ctr"/>
          <a:lstStyle/>
          <a:p>
            <a:pPr indent="0" marL="0">
              <a:buNone/>
            </a:pPr>
            <a:r>
              <a:rPr lang="en-US" sz="780" dirty="0">
                <a:solidFill>
                  <a:srgbClr val="475569"/>
                </a:solidFill>
                <a:latin typeface="Calibri" pitchFamily="34" charset="0"/>
                <a:ea typeface="Calibri" pitchFamily="34" charset="-122"/>
                <a:cs typeface="Calibri" pitchFamily="34" charset="-120"/>
              </a:rPr>
              <a:t>UPSC essay evaluator · Automated hiring · X post generator · Review reply · Chatbot with memory</a:t>
            </a:r>
            <a:endParaRPr lang="en-US" sz="780" dirty="0"/>
          </a:p>
        </p:txBody>
      </p:sp>
      <p:sp>
        <p:nvSpPr>
          <p:cNvPr id="54" name="Shape 52"/>
          <p:cNvSpPr/>
          <p:nvPr/>
        </p:nvSpPr>
        <p:spPr>
          <a:xfrm>
            <a:off x="320040" y="4956048"/>
            <a:ext cx="8503920" cy="402336"/>
          </a:xfrm>
          <a:prstGeom prst="rect">
            <a:avLst/>
          </a:prstGeom>
          <a:solidFill>
            <a:srgbClr val="FFFBEB"/>
          </a:solidFill>
          <a:ln w="12700">
            <a:solidFill>
              <a:srgbClr val="F59E0B"/>
            </a:solidFill>
            <a:prstDash val="solid"/>
          </a:ln>
        </p:spPr>
      </p:sp>
      <p:sp>
        <p:nvSpPr>
          <p:cNvPr id="55" name="Text 53"/>
          <p:cNvSpPr/>
          <p:nvPr/>
        </p:nvSpPr>
        <p:spPr>
          <a:xfrm>
            <a:off x="411480" y="5001768"/>
            <a:ext cx="8321040" cy="320040"/>
          </a:xfrm>
          <a:prstGeom prst="rect">
            <a:avLst/>
          </a:prstGeom>
          <a:noFill/>
          <a:ln/>
        </p:spPr>
        <p:txBody>
          <a:bodyPr wrap="square" lIns="0" tIns="0" rIns="0" bIns="0" rtlCol="0" anchor="ctr"/>
          <a:lstStyle/>
          <a:p>
            <a:pPr indent="0" marL="0">
              <a:buNone/>
            </a:pPr>
            <a:r>
              <a:rPr lang="en-US" sz="980" dirty="0">
                <a:solidFill>
                  <a:srgbClr val="92400E"/>
                </a:solidFill>
                <a:latin typeface="Calibri" pitchFamily="34" charset="0"/>
                <a:ea typeface="Calibri" pitchFamily="34" charset="-122"/>
                <a:cs typeface="Calibri" pitchFamily="34" charset="-120"/>
              </a:rPr>
              <a:t>💡  LangGraph = nodes + edges + state + reducers + execution model + checkpointing. All 6 work together to produce production-grade agentic AI applications.</a:t>
            </a:r>
            <a:endParaRPr lang="en-US" sz="9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D9488">
              <a:alpha val="18000"/>
            </a:srgbClr>
          </a:solidFill>
          <a:ln w="12700">
            <a:solidFill>
              <a:srgbClr val="0D9488">
                <a:alpha val="18000"/>
              </a:srgbClr>
            </a:solidFill>
            <a:prstDash val="solid"/>
          </a:ln>
        </p:spPr>
      </p:sp>
      <p:sp>
        <p:nvSpPr>
          <p:cNvPr id="3" name="Shape 1"/>
          <p:cNvSpPr/>
          <p:nvPr/>
        </p:nvSpPr>
        <p:spPr>
          <a:xfrm>
            <a:off x="-457200" y="3200400"/>
            <a:ext cx="2286000" cy="2286000"/>
          </a:xfrm>
          <a:prstGeom prst="ellipse">
            <a:avLst/>
          </a:prstGeom>
          <a:solidFill>
            <a:srgbClr val="7C3AED">
              <a:alpha val="15000"/>
            </a:srgbClr>
          </a:solidFill>
          <a:ln w="12700">
            <a:solidFill>
              <a:srgbClr val="7C3AED">
                <a:alpha val="15000"/>
              </a:srgbClr>
            </a:solidFill>
            <a:prstDash val="solid"/>
          </a:ln>
        </p:spPr>
      </p:sp>
      <p:sp>
        <p:nvSpPr>
          <p:cNvPr id="4" name="Shape 2"/>
          <p:cNvSpPr/>
          <p:nvPr/>
        </p:nvSpPr>
        <p:spPr>
          <a:xfrm>
            <a:off x="0" y="0"/>
            <a:ext cx="457200" cy="5143500"/>
          </a:xfrm>
          <a:prstGeom prst="rect">
            <a:avLst/>
          </a:prstGeom>
          <a:solidFill>
            <a:srgbClr val="0D9488"/>
          </a:solidFill>
          <a:ln w="12700">
            <a:solidFill>
              <a:srgbClr val="0D9488"/>
            </a:solidFill>
            <a:prstDash val="solid"/>
          </a:ln>
        </p:spPr>
      </p:sp>
      <p:sp>
        <p:nvSpPr>
          <p:cNvPr id="5" name="Shape 3"/>
          <p:cNvSpPr/>
          <p:nvPr/>
        </p:nvSpPr>
        <p:spPr>
          <a:xfrm>
            <a:off x="0" y="4663440"/>
            <a:ext cx="9144000" cy="480060"/>
          </a:xfrm>
          <a:prstGeom prst="rect">
            <a:avLst/>
          </a:prstGeom>
          <a:solidFill>
            <a:srgbClr val="0D9488"/>
          </a:solidFill>
          <a:ln w="12700">
            <a:solidFill>
              <a:srgbClr val="0D9488"/>
            </a:solidFill>
            <a:prstDash val="solid"/>
          </a:ln>
        </p:spPr>
      </p:sp>
      <p:sp>
        <p:nvSpPr>
          <p:cNvPr id="6" name="Text 4"/>
          <p:cNvSpPr/>
          <p:nvPr/>
        </p:nvSpPr>
        <p:spPr>
          <a:xfrm>
            <a:off x="1371600" y="502920"/>
            <a:ext cx="6400800" cy="777240"/>
          </a:xfrm>
          <a:prstGeom prst="rect">
            <a:avLst/>
          </a:prstGeom>
          <a:noFill/>
          <a:ln/>
        </p:spPr>
        <p:txBody>
          <a:bodyPr wrap="square" rtlCol="0" anchor="ctr"/>
          <a:lstStyle/>
          <a:p>
            <a:pPr algn="ctr" indent="0" marL="0">
              <a:buNone/>
            </a:pPr>
            <a:r>
              <a:rPr lang="en-US" sz="5200" dirty="0">
                <a:solidFill>
                  <a:srgbClr val="000000"/>
                </a:solidFill>
              </a:rPr>
              <a:t>🕸️</a:t>
            </a:r>
            <a:endParaRPr lang="en-US" sz="5200" dirty="0"/>
          </a:p>
        </p:txBody>
      </p:sp>
      <p:sp>
        <p:nvSpPr>
          <p:cNvPr id="7" name="Text 5"/>
          <p:cNvSpPr/>
          <p:nvPr/>
        </p:nvSpPr>
        <p:spPr>
          <a:xfrm>
            <a:off x="1371600" y="1298448"/>
            <a:ext cx="6400800" cy="530352"/>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LangGraph in One Line</a:t>
            </a:r>
            <a:endParaRPr lang="en-US" sz="3000" dirty="0"/>
          </a:p>
        </p:txBody>
      </p:sp>
      <p:sp>
        <p:nvSpPr>
          <p:cNvPr id="8" name="Text 6"/>
          <p:cNvSpPr/>
          <p:nvPr/>
        </p:nvSpPr>
        <p:spPr>
          <a:xfrm>
            <a:off x="1371600" y="1874520"/>
            <a:ext cx="6400800" cy="402336"/>
          </a:xfrm>
          <a:prstGeom prst="rect">
            <a:avLst/>
          </a:prstGeom>
          <a:noFill/>
          <a:ln/>
        </p:spPr>
        <p:txBody>
          <a:bodyPr wrap="square" lIns="0" tIns="0" rIns="0" bIns="0" rtlCol="0" anchor="ctr"/>
          <a:lstStyle/>
          <a:p>
            <a:pPr algn="ctr" indent="0" marL="0">
              <a:buNone/>
            </a:pPr>
            <a:r>
              <a:rPr lang="en-US" sz="1300" i="1" dirty="0">
                <a:solidFill>
                  <a:srgbClr val="5EEAD4"/>
                </a:solidFill>
                <a:latin typeface="Calibri" pitchFamily="34" charset="0"/>
                <a:ea typeface="Calibri" pitchFamily="34" charset="-122"/>
                <a:cs typeface="Calibri" pitchFamily="34" charset="-120"/>
              </a:rPr>
              <a:t>"Graphs + State + Reducers + Checkpointing = Production-Grade Agentic AI"</a:t>
            </a:r>
            <a:endParaRPr lang="en-US" sz="1300" dirty="0"/>
          </a:p>
        </p:txBody>
      </p:sp>
      <p:sp>
        <p:nvSpPr>
          <p:cNvPr id="9" name="Text 7"/>
          <p:cNvSpPr/>
          <p:nvPr/>
        </p:nvSpPr>
        <p:spPr>
          <a:xfrm>
            <a:off x="2286000" y="2487168"/>
            <a:ext cx="4572000" cy="274320"/>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Next Steps:</a:t>
            </a:r>
            <a:endParaRPr lang="en-US" sz="1200" dirty="0"/>
          </a:p>
        </p:txBody>
      </p:sp>
      <p:sp>
        <p:nvSpPr>
          <p:cNvPr id="10" name="Text 8"/>
          <p:cNvSpPr/>
          <p:nvPr/>
        </p:nvSpPr>
        <p:spPr>
          <a:xfrm>
            <a:off x="1645920" y="2798064"/>
            <a:ext cx="5852160" cy="274320"/>
          </a:xfrm>
          <a:prstGeom prst="rect">
            <a:avLst/>
          </a:prstGeom>
          <a:noFill/>
          <a:ln/>
        </p:spPr>
        <p:txBody>
          <a:bodyPr wrap="square" lIns="0" tIns="0" rIns="0" bIns="0" rtlCol="0" anchor="ctr"/>
          <a:lstStyle/>
          <a:p>
            <a:pPr algn="ctr" indent="0" marL="0">
              <a:buNone/>
            </a:pPr>
            <a:r>
              <a:rPr lang="en-US" sz="1050" dirty="0">
                <a:solidFill>
                  <a:srgbClr val="5EEAD4"/>
                </a:solidFill>
                <a:latin typeface="Calibri" pitchFamily="34" charset="0"/>
                <a:ea typeface="Calibri" pitchFamily="34" charset="-122"/>
                <a:cs typeface="Calibri" pitchFamily="34" charset="-120"/>
              </a:rPr>
              <a:t>→  Build your first graph: pip install langgraph</a:t>
            </a:r>
            <a:endParaRPr lang="en-US" sz="1050" dirty="0"/>
          </a:p>
        </p:txBody>
      </p:sp>
      <p:sp>
        <p:nvSpPr>
          <p:cNvPr id="11" name="Text 9"/>
          <p:cNvSpPr/>
          <p:nvPr/>
        </p:nvSpPr>
        <p:spPr>
          <a:xfrm>
            <a:off x="1645920" y="3118104"/>
            <a:ext cx="5852160" cy="274320"/>
          </a:xfrm>
          <a:prstGeom prst="rect">
            <a:avLst/>
          </a:prstGeom>
          <a:noFill/>
          <a:ln/>
        </p:spPr>
        <p:txBody>
          <a:bodyPr wrap="square" lIns="0" tIns="0" rIns="0" bIns="0" rtlCol="0" anchor="ctr"/>
          <a:lstStyle/>
          <a:p>
            <a:pPr algn="ctr" indent="0" marL="0">
              <a:buNone/>
            </a:pPr>
            <a:r>
              <a:rPr lang="en-US" sz="1050" dirty="0">
                <a:solidFill>
                  <a:srgbClr val="5EEAD4"/>
                </a:solidFill>
                <a:latin typeface="Calibri" pitchFamily="34" charset="0"/>
                <a:ea typeface="Calibri" pitchFamily="34" charset="-122"/>
                <a:cs typeface="Calibri" pitchFamily="34" charset="-120"/>
              </a:rPr>
              <a:t>→  Explore LangGraph Studio for visual debugging</a:t>
            </a:r>
            <a:endParaRPr lang="en-US" sz="1050" dirty="0"/>
          </a:p>
        </p:txBody>
      </p:sp>
      <p:sp>
        <p:nvSpPr>
          <p:cNvPr id="12" name="Text 10"/>
          <p:cNvSpPr/>
          <p:nvPr/>
        </p:nvSpPr>
        <p:spPr>
          <a:xfrm>
            <a:off x="1645920" y="3438144"/>
            <a:ext cx="5852160" cy="274320"/>
          </a:xfrm>
          <a:prstGeom prst="rect">
            <a:avLst/>
          </a:prstGeom>
          <a:noFill/>
          <a:ln/>
        </p:spPr>
        <p:txBody>
          <a:bodyPr wrap="square" lIns="0" tIns="0" rIns="0" bIns="0" rtlCol="0" anchor="ctr"/>
          <a:lstStyle/>
          <a:p>
            <a:pPr algn="ctr" indent="0" marL="0">
              <a:buNone/>
            </a:pPr>
            <a:r>
              <a:rPr lang="en-US" sz="1050" dirty="0">
                <a:solidFill>
                  <a:srgbClr val="5EEAD4"/>
                </a:solidFill>
                <a:latin typeface="Calibri" pitchFamily="34" charset="0"/>
                <a:ea typeface="Calibri" pitchFamily="34" charset="-122"/>
                <a:cs typeface="Calibri" pitchFamily="34" charset="-120"/>
              </a:rPr>
              <a:t>→  Add a MemorySaver checkpointer to any existing workflow</a:t>
            </a:r>
            <a:endParaRPr lang="en-US" sz="1050" dirty="0"/>
          </a:p>
        </p:txBody>
      </p:sp>
      <p:sp>
        <p:nvSpPr>
          <p:cNvPr id="13" name="Text 11"/>
          <p:cNvSpPr/>
          <p:nvPr/>
        </p:nvSpPr>
        <p:spPr>
          <a:xfrm>
            <a:off x="1645920" y="3758184"/>
            <a:ext cx="5852160" cy="274320"/>
          </a:xfrm>
          <a:prstGeom prst="rect">
            <a:avLst/>
          </a:prstGeom>
          <a:noFill/>
          <a:ln/>
        </p:spPr>
        <p:txBody>
          <a:bodyPr wrap="square" lIns="0" tIns="0" rIns="0" bIns="0" rtlCol="0" anchor="ctr"/>
          <a:lstStyle/>
          <a:p>
            <a:pPr algn="ctr" indent="0" marL="0">
              <a:buNone/>
            </a:pPr>
            <a:r>
              <a:rPr lang="en-US" sz="1050" dirty="0">
                <a:solidFill>
                  <a:srgbClr val="5EEAD4"/>
                </a:solidFill>
                <a:latin typeface="Calibri" pitchFamily="34" charset="0"/>
                <a:ea typeface="Calibri" pitchFamily="34" charset="-122"/>
                <a:cs typeface="Calibri" pitchFamily="34" charset="-120"/>
              </a:rPr>
              <a:t>→  Implement a ReAct agent with tool-calling and loops</a:t>
            </a:r>
            <a:endParaRPr lang="en-US" sz="1050" dirty="0"/>
          </a:p>
        </p:txBody>
      </p:sp>
      <p:sp>
        <p:nvSpPr>
          <p:cNvPr id="14" name="Text 12"/>
          <p:cNvSpPr/>
          <p:nvPr/>
        </p:nvSpPr>
        <p:spPr>
          <a:xfrm>
            <a:off x="182880" y="4709160"/>
            <a:ext cx="8778240" cy="29260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LangGraph Docs: langchain-ai.github.io/langgraph  ·  LangChain: python.langchain.com  ·  GitHub: github.com/langchain-ai/langgraph</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LangGraph — Core Concepts &amp; Architecture</dc:title>
  <dc:subject>PptxGenJS Presentation</dc:subject>
  <dc:creator>PptxGenJS</dc:creator>
  <cp:lastModifiedBy>PptxGenJS</cp:lastModifiedBy>
  <cp:revision>1</cp:revision>
  <dcterms:created xsi:type="dcterms:W3CDTF">2026-03-17T00:55:51Z</dcterms:created>
  <dcterms:modified xsi:type="dcterms:W3CDTF">2026-03-17T00:55:51Z</dcterms:modified>
</cp:coreProperties>
</file>