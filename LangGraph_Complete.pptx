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14B8A6">
              <a:alpha val="6000"/>
            </a:srgbClr>
          </a:solidFill>
          <a:ln w="12700">
            <a:solidFill>
              <a:srgbClr val="14B8A6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3108960"/>
            <a:ext cx="3200400" cy="3200400"/>
          </a:xfrm>
          <a:prstGeom prst="ellipse">
            <a:avLst/>
          </a:prstGeom>
          <a:solidFill>
            <a:srgbClr val="A78BFA">
              <a:alpha val="7000"/>
            </a:srgbClr>
          </a:solidFill>
          <a:ln w="12700">
            <a:solidFill>
              <a:srgbClr val="A78BFA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777240"/>
            <a:ext cx="3200400" cy="329184"/>
          </a:xfrm>
          <a:prstGeom prst="rect">
            <a:avLst/>
          </a:prstGeom>
          <a:solidFill>
            <a:srgbClr val="14B8A6">
              <a:alpha val="16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5895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·  LANGGRAPH COMPLETE GUIDE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— Concepts, Workflows &amp; Challenges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· LLM Workflows · Graphs · State · Reducers · 7 Challenges · Conclusion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4462272"/>
            <a:ext cx="822960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0857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Brain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28800" y="460857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Orchestrator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66160" y="460857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Tools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0" y="460857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Memory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0" y="460857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Supervisor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15200" y="460857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Workflows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— The 5 Core Components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agent is built from these five building blocks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749040" y="1645920"/>
            <a:ext cx="1645920" cy="640080"/>
          </a:xfrm>
          <a:prstGeom prst="ellipse">
            <a:avLst/>
          </a:prstGeom>
          <a:solidFill>
            <a:srgbClr val="F59E0B">
              <a:alpha val="85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1719072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0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2194560" cy="1115568"/>
          </a:xfrm>
          <a:prstGeom prst="rect">
            <a:avLst/>
          </a:prstGeom>
          <a:solidFill>
            <a:srgbClr val="1A2235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21945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32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Brain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26187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interpretation, planning,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reasoning, tool selection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926080"/>
            <a:ext cx="2194560" cy="1115568"/>
          </a:xfrm>
          <a:prstGeom prst="rect">
            <a:avLst/>
          </a:prstGeom>
          <a:solidFill>
            <a:srgbClr val="1A2235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926080"/>
            <a:ext cx="219456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035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Orchestrator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336499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sequencing, conditional routing,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logic, delegation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0" y="4206240"/>
            <a:ext cx="2194560" cy="1115568"/>
          </a:xfrm>
          <a:prstGeom prst="rect">
            <a:avLst/>
          </a:prstGeom>
          <a:solidFill>
            <a:srgbClr val="1A2235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0" y="4206240"/>
            <a:ext cx="219456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4315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Tools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66160" y="464515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 calls,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access (RAG)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83680" y="2926080"/>
            <a:ext cx="2194560" cy="1115568"/>
          </a:xfrm>
          <a:prstGeom prst="rect">
            <a:avLst/>
          </a:prstGeom>
          <a:solidFill>
            <a:srgbClr val="1A2235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2926080"/>
            <a:ext cx="219456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3035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Memory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75120" y="336499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Short-term, long-term memory,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tracking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83680" y="822960"/>
            <a:ext cx="2194560" cy="1115568"/>
          </a:xfrm>
          <a:prstGeom prst="rect">
            <a:avLst/>
          </a:prstGeom>
          <a:solidFill>
            <a:srgbClr val="1A2235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83680" y="822960"/>
            <a:ext cx="2194560" cy="5486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932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Supervisor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75120" y="126187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requests (HITL),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guardrails, edge case escalation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4700016"/>
            <a:ext cx="8595360" cy="310896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" y="4791456"/>
            <a:ext cx="8339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Together these 5 components make an agent autonomous — able to plan, act, remember, use tools, and stay safe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— What the LLM Actually Does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cognitive functions the LLM performs inside every agent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512064"/>
          </a:xfrm>
          <a:prstGeom prst="rect">
            <a:avLst/>
          </a:prstGeom>
          <a:solidFill>
            <a:srgbClr val="1A2235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5720" cy="5120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106070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Interpretation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1280160"/>
            <a:ext cx="7882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user instructions and translates them into objectives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773936"/>
            <a:ext cx="8595360" cy="512064"/>
          </a:xfrm>
          <a:prstGeom prst="rect">
            <a:avLst/>
          </a:prstGeom>
          <a:solidFill>
            <a:srgbClr val="1A2235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773936"/>
            <a:ext cx="45720" cy="5120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4708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" y="18288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" y="2048256"/>
            <a:ext cx="7882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down high-level goals into subgoals and ordered steps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542032"/>
            <a:ext cx="8595360" cy="512064"/>
          </a:xfrm>
          <a:prstGeom prst="rect">
            <a:avLst/>
          </a:prstGeom>
          <a:solidFill>
            <a:srgbClr val="1A2235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542032"/>
            <a:ext cx="45720" cy="5120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1518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🤔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" y="259689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" y="2816352"/>
            <a:ext cx="7882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decisions, resolves ambiguity, and evaluates trade-offs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310128"/>
            <a:ext cx="8595360" cy="512064"/>
          </a:xfrm>
          <a:prstGeom prst="rect">
            <a:avLst/>
          </a:prstGeom>
          <a:solidFill>
            <a:srgbClr val="1A223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310128"/>
            <a:ext cx="45720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38328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1248" y="336499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" y="3584448"/>
            <a:ext cx="7882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which tool(s) to use at a given step in the workflow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078224"/>
            <a:ext cx="8595360" cy="512064"/>
          </a:xfrm>
          <a:prstGeom prst="rect">
            <a:avLst/>
          </a:prstGeom>
          <a:solidFill>
            <a:srgbClr val="1A2235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078224"/>
            <a:ext cx="45720" cy="5120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15137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41248" y="413308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1248" y="4352544"/>
            <a:ext cx="7882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natural language outputs for humans or other agents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901184"/>
            <a:ext cx="8595360" cy="182880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2336" y="4992624"/>
            <a:ext cx="833932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= the LLM. All 5 functions are delivered through carefully crafted prompts.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· Tools · Memory · Supervisor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supporting components that power agent execution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06240" cy="1920240"/>
          </a:xfrm>
          <a:prstGeom prst="rect">
            <a:avLst/>
          </a:prstGeom>
          <a:solidFill>
            <a:srgbClr val="1A2235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42062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" y="1115568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Orchestrator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6616" y="146304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Task Sequencing — step 1 → step 2 → ...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56616" y="173736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Conditional Routing — if failure: retry or escalate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56616" y="201168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Retry Logic — handles failed calls with backoff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6616" y="228600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Looping &amp; Iteration — repeats until goal met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6616" y="256032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Delegation — hands off to tools, LLM, or human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1005840"/>
            <a:ext cx="4206240" cy="1920240"/>
          </a:xfrm>
          <a:prstGeom prst="rect">
            <a:avLst/>
          </a:prstGeom>
          <a:solidFill>
            <a:srgbClr val="1A2235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005840"/>
            <a:ext cx="42062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37176" y="1115568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Tools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37176" y="146304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External Actions — API calls (post job, send email)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37176" y="173736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Knowledge Base Access — RAG / search tools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37176" y="201168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Calculations, code execution, database queries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37176" y="228600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Any Python function becomes a tool with @tool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37176" y="256032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Agent auto-selects the right tool per step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3072384"/>
            <a:ext cx="4206240" cy="1645920"/>
          </a:xfrm>
          <a:prstGeom prst="rect">
            <a:avLst/>
          </a:prstGeom>
          <a:solidFill>
            <a:srgbClr val="1A2235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3072384"/>
            <a:ext cx="420624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" y="3182112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Memory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6616" y="3529584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Short-Term — recent messages, tool calls, decisions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56616" y="3803904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Long-Term — goals, preferences across sessions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56616" y="4078224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State Tracking — what's done vs pending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3072384"/>
            <a:ext cx="4206240" cy="1645920"/>
          </a:xfrm>
          <a:prstGeom prst="rect">
            <a:avLst/>
          </a:prstGeom>
          <a:solidFill>
            <a:srgbClr val="1A2235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3072384"/>
            <a:ext cx="4206240" cy="5486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37176" y="3182112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Supervisor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37176" y="3529584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Approval Requests (HITL) — checks before risky actions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37176" y="3803904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Guardrails Enforcement — blocks unsafe behaviour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37176" y="4078224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Edge Case Escalation — alerts humans on uncertainty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Workflows — 4 Common Patterns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 for complex multi-step LLM applications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workflows are step-by-step processes using which we can build complex LLM applications. Each step performs a distinct task — prompting, reasoning, tool calling, memory access, or decision-making.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48132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Prompt Chaining — output of one LLM becomes input to the next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810512"/>
            <a:ext cx="731520" cy="402336"/>
          </a:xfrm>
          <a:prstGeom prst="rect">
            <a:avLst/>
          </a:prstGeom>
          <a:solidFill>
            <a:srgbClr val="1A2235"/>
          </a:solidFill>
          <a:ln w="19050">
            <a:solidFill>
              <a:srgbClr val="8B94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86537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88720" y="2002536"/>
            <a:ext cx="329184" cy="3657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19202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517904" y="1810512"/>
            <a:ext cx="1371600" cy="402336"/>
          </a:xfrm>
          <a:prstGeom prst="rect">
            <a:avLst/>
          </a:prstGeom>
          <a:solidFill>
            <a:srgbClr val="1A2235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17904" y="18653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89504" y="2002536"/>
            <a:ext cx="329184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72384" y="19202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18688" y="1810512"/>
            <a:ext cx="914400" cy="402336"/>
          </a:xfrm>
          <a:prstGeom prst="rect">
            <a:avLst/>
          </a:prstGeom>
          <a:solidFill>
            <a:srgbClr val="1A223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18688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33088" y="181051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→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64608" y="1810512"/>
            <a:ext cx="1371600" cy="402336"/>
          </a:xfrm>
          <a:prstGeom prst="rect">
            <a:avLst/>
          </a:prstGeom>
          <a:solidFill>
            <a:srgbClr val="1A2235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64608" y="18653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36208" y="2002536"/>
            <a:ext cx="329184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9088" y="19202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65392" y="1810512"/>
            <a:ext cx="1371600" cy="402336"/>
          </a:xfrm>
          <a:prstGeom prst="rect">
            <a:avLst/>
          </a:prstGeom>
          <a:solidFill>
            <a:srgbClr val="1A2235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65392" y="18653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36992" y="2002536"/>
            <a:ext cx="329184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9872" y="19202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▶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266176" y="1810512"/>
            <a:ext cx="731520" cy="402336"/>
          </a:xfrm>
          <a:prstGeom prst="rect">
            <a:avLst/>
          </a:prstGeom>
          <a:solidFill>
            <a:srgbClr val="1A2235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66176" y="186537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33088" y="20116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→ Exit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239572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Routing — one LLM decides which specialist LLM handles the request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57200" y="2724912"/>
            <a:ext cx="731520" cy="402336"/>
          </a:xfrm>
          <a:prstGeom prst="rect">
            <a:avLst/>
          </a:prstGeom>
          <a:solidFill>
            <a:srgbClr val="1A2235"/>
          </a:solidFill>
          <a:ln w="19050">
            <a:solidFill>
              <a:srgbClr val="8B94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277977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188720" y="2916936"/>
            <a:ext cx="329184" cy="3657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1600" y="2834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▶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517904" y="2724912"/>
            <a:ext cx="1645920" cy="402336"/>
          </a:xfrm>
          <a:prstGeom prst="rect">
            <a:avLst/>
          </a:prstGeom>
          <a:solidFill>
            <a:srgbClr val="1A2235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517904" y="277977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Router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163824" y="252374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438144" y="2377440"/>
            <a:ext cx="1371600" cy="347472"/>
          </a:xfrm>
          <a:prstGeom prst="rect">
            <a:avLst/>
          </a:prstGeom>
          <a:solidFill>
            <a:srgbClr val="1A2235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438144" y="24048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163824" y="27889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- - - →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438144" y="2724912"/>
            <a:ext cx="1371600" cy="347472"/>
          </a:xfrm>
          <a:prstGeom prst="rect">
            <a:avLst/>
          </a:prstGeom>
          <a:solidFill>
            <a:srgbClr val="1A2235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438144" y="27523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163824" y="305409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3438144" y="3072384"/>
            <a:ext cx="1371600" cy="347472"/>
          </a:xfrm>
          <a:prstGeom prst="rect">
            <a:avLst/>
          </a:prstGeom>
          <a:solidFill>
            <a:srgbClr val="1A2235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438144" y="30998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3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09744" y="2916936"/>
            <a:ext cx="329184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92624" y="2834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</a:rPr>
              <a:t>▶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138928" y="2724912"/>
            <a:ext cx="731520" cy="402336"/>
          </a:xfrm>
          <a:prstGeom prst="rect">
            <a:avLst/>
          </a:prstGeom>
          <a:solidFill>
            <a:srgbClr val="1A2235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138928" y="277977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74320" y="34015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Parallelization — one task split into subtasks running simultaneously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457200" y="3730752"/>
            <a:ext cx="731520" cy="402336"/>
          </a:xfrm>
          <a:prstGeom prst="rect">
            <a:avLst/>
          </a:prstGeom>
          <a:solidFill>
            <a:srgbClr val="1A2235"/>
          </a:solidFill>
          <a:ln w="19050">
            <a:solidFill>
              <a:srgbClr val="8B94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57200" y="378561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188720" y="3922776"/>
            <a:ext cx="329184" cy="3657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0" y="38404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▶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517904" y="363931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1792224" y="3566160"/>
            <a:ext cx="1371600" cy="347472"/>
          </a:xfrm>
          <a:prstGeom prst="rect">
            <a:avLst/>
          </a:prstGeom>
          <a:solidFill>
            <a:srgbClr val="1A2235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1792224" y="35935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1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517904" y="37947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1792224" y="3913632"/>
            <a:ext cx="1371600" cy="347472"/>
          </a:xfrm>
          <a:prstGeom prst="rect">
            <a:avLst/>
          </a:prstGeom>
          <a:solidFill>
            <a:srgbClr val="1A2235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1792224" y="394106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2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517904" y="396849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1792224" y="4261104"/>
            <a:ext cx="1371600" cy="347472"/>
          </a:xfrm>
          <a:prstGeom prst="rect">
            <a:avLst/>
          </a:prstGeom>
          <a:solidFill>
            <a:srgbClr val="1A2235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1792224" y="42885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3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163824" y="3922776"/>
            <a:ext cx="329184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346704" y="38404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▶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493008" y="3730752"/>
            <a:ext cx="1280160" cy="402336"/>
          </a:xfrm>
          <a:prstGeom prst="rect">
            <a:avLst/>
          </a:prstGeom>
          <a:solidFill>
            <a:srgbClr val="1A223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93008" y="3794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773168" y="3922776"/>
            <a:ext cx="329184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956048" y="38404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▶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5102352" y="3730752"/>
            <a:ext cx="731520" cy="402336"/>
          </a:xfrm>
          <a:prstGeom prst="rect">
            <a:avLst/>
          </a:prstGeom>
          <a:solidFill>
            <a:srgbClr val="1A2235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5102352" y="378561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5760720" y="34015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Evaluator-Optimizer — generator + evaluator loop until accepted</a:t>
            </a:r>
            <a:endParaRPr lang="en-US" sz="1250" dirty="0"/>
          </a:p>
        </p:txBody>
      </p:sp>
      <p:sp>
        <p:nvSpPr>
          <p:cNvPr id="72" name="Shape 70"/>
          <p:cNvSpPr/>
          <p:nvPr/>
        </p:nvSpPr>
        <p:spPr>
          <a:xfrm>
            <a:off x="5760720" y="3730752"/>
            <a:ext cx="731520" cy="402336"/>
          </a:xfrm>
          <a:prstGeom prst="rect">
            <a:avLst/>
          </a:prstGeom>
          <a:solidFill>
            <a:srgbClr val="1A2235"/>
          </a:solidFill>
          <a:ln w="19050">
            <a:solidFill>
              <a:srgbClr val="8B94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5760720" y="378561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492240" y="3922776"/>
            <a:ext cx="329184" cy="3657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675120" y="38404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▶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821424" y="3730752"/>
            <a:ext cx="1188720" cy="402336"/>
          </a:xfrm>
          <a:prstGeom prst="rect">
            <a:avLst/>
          </a:prstGeom>
          <a:solidFill>
            <a:srgbClr val="1A2235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6821424" y="378561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7040880" y="415137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rejected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8010144" y="3922776"/>
            <a:ext cx="329184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193024" y="38404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</a:rPr>
              <a:t>▶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8339328" y="3730752"/>
            <a:ext cx="640080" cy="402336"/>
          </a:xfrm>
          <a:prstGeom prst="rect">
            <a:avLst/>
          </a:prstGeom>
          <a:solidFill>
            <a:srgbClr val="1A2235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8339328" y="378561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Graphs, Nodes and Edges — LangGraph Fundamentals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building blocks of every LangGraph workflow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88920" cy="3200400"/>
          </a:xfrm>
          <a:prstGeom prst="rect">
            <a:avLst/>
          </a:prstGeom>
          <a:solidFill>
            <a:srgbClr val="1A2235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7889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133856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— Python Functions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336" y="1481328"/>
            <a:ext cx="25328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is a regular Python function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takes state as input and returns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updated state dict.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2336" y="2395728"/>
            <a:ext cx="2532888" cy="1152144"/>
          </a:xfrm>
          <a:prstGeom prst="rect">
            <a:avLst/>
          </a:prstGeom>
          <a:solidFill>
            <a:srgbClr val="060D1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2487168"/>
            <a:ext cx="23134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write_essay(state):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prompt = state['topic']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 = llm.invoke(prompt)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{'essay': response}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02336" y="3621024"/>
            <a:ext cx="2532888" cy="420624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3712464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in your workflow is a node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005840"/>
            <a:ext cx="2788920" cy="3200400"/>
          </a:xfrm>
          <a:prstGeom prst="rect">
            <a:avLst/>
          </a:prstGeom>
          <a:solidFill>
            <a:srgbClr val="1A2235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005840"/>
            <a:ext cx="27889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28416" y="1133856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— Connections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28416" y="1481328"/>
            <a:ext cx="25328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define which node runs after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which. Two types: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Normal edge: always A → 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Conditional edge: route based on state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28416" y="2395728"/>
            <a:ext cx="2532888" cy="1152144"/>
          </a:xfrm>
          <a:prstGeom prst="rect">
            <a:avLst/>
          </a:prstGeom>
          <a:solidFill>
            <a:srgbClr val="060D1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38144" y="2487168"/>
            <a:ext cx="23134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graph.add_edge('A', 'B')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graph.add_conditional_edges(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'check',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router_fn,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{'yes':'B', 'no':'C'}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28416" y="3621024"/>
            <a:ext cx="2532888" cy="420624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56432" y="3712464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are the logic of your workflow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1005840"/>
            <a:ext cx="2788920" cy="3200400"/>
          </a:xfrm>
          <a:prstGeom prst="rect">
            <a:avLst/>
          </a:prstGeom>
          <a:solidFill>
            <a:srgbClr val="1A2235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005840"/>
            <a:ext cx="278892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54496" y="1133856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— Shared Memory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54496" y="1481328"/>
            <a:ext cx="25328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the TypedDict that flows through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node. All nodes read from 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write updates back to it.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54496" y="2395728"/>
            <a:ext cx="2532888" cy="1152144"/>
          </a:xfrm>
          <a:prstGeom prst="rect">
            <a:avLst/>
          </a:prstGeom>
          <a:solidFill>
            <a:srgbClr val="060D1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64224" y="2487168"/>
            <a:ext cx="23134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EssayState(TypedDict):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topic: str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essay: str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score: int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feedback: str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rounds: int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254496" y="3621024"/>
            <a:ext cx="2532888" cy="420624"/>
          </a:xfrm>
          <a:prstGeom prst="rect">
            <a:avLst/>
          </a:prstGeom>
          <a:solidFill>
            <a:srgbClr val="A78BFA">
              <a:alpha val="12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2512" y="3712464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= the shared whiteboard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315968"/>
            <a:ext cx="8595360" cy="347472"/>
          </a:xfrm>
          <a:prstGeom prst="rect">
            <a:avLst/>
          </a:prstGeom>
          <a:solidFill>
            <a:srgbClr val="22C55E">
              <a:alpha val="12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" y="4407408"/>
            <a:ext cx="8339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Execution Model: Define → Compile (.compile()) → Invoke (.invoke(initial_state)) → Super-Steps run in rounds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Reducers — How Data Flows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shared memory; Reducers define how updates are applied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(TypedDict) — from Essay Evaluator: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4297680" cy="2066544"/>
          </a:xfrm>
          <a:prstGeom prst="rect">
            <a:avLst/>
          </a:prstGeom>
          <a:solidFill>
            <a:srgbClr val="060D1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98448"/>
            <a:ext cx="407822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EssayState(TypedDict):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essay_text:       str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topic:            str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depth_score:      int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language_score:   int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clarity_score:    int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total_score:      int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Special: APPENDS instead of replace: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feedback: Annotated[list[str], add]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evaluation_round: int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" y="33649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Reducers — how updates are merged: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3639312"/>
            <a:ext cx="4297680" cy="1152144"/>
          </a:xfrm>
          <a:prstGeom prst="rect">
            <a:avLst/>
          </a:prstGeom>
          <a:solidFill>
            <a:srgbClr val="060D1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3730752"/>
            <a:ext cx="40782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Normal field → REPLACES value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depth_score: int  # replaced each update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Annotated → APPENDS to list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feedback: Annotated[list[str], add]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Multiple nodes append their feedback!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73168" y="9144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State matters: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73168" y="1207008"/>
            <a:ext cx="4114800" cy="585216"/>
          </a:xfrm>
          <a:prstGeom prst="rect">
            <a:avLst/>
          </a:prstGeom>
          <a:solidFill>
            <a:srgbClr val="1A2235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73168" y="1207008"/>
            <a:ext cx="45720" cy="5852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2618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nodes share state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64608" y="15179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reads what it needs and writes only what it updates — clean separation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73168" y="1920240"/>
            <a:ext cx="4114800" cy="585216"/>
          </a:xfrm>
          <a:prstGeom prst="rect">
            <a:avLst/>
          </a:prstGeom>
          <a:solidFill>
            <a:srgbClr val="1A2235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73168" y="1920240"/>
            <a:ext cx="45720" cy="5852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19751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execution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64608" y="22311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is stateful — graph → state object → all nodes can access &amp; edit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73168" y="2633472"/>
            <a:ext cx="4114800" cy="585216"/>
          </a:xfrm>
          <a:prstGeom prst="rect">
            <a:avLst/>
          </a:prstGeom>
          <a:solidFill>
            <a:srgbClr val="1A223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73168" y="2633472"/>
            <a:ext cx="45720" cy="5852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26883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or TypedDict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64608" y="294436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use TypedDict (simple) or Pydantic BaseModel (with validation)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73168" y="3346704"/>
            <a:ext cx="4114800" cy="585216"/>
          </a:xfrm>
          <a:prstGeom prst="rect">
            <a:avLst/>
          </a:prstGeom>
          <a:solidFill>
            <a:srgbClr val="1A2235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73168" y="3346704"/>
            <a:ext cx="45720" cy="58521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340156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reducers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64608" y="365760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Annotated[list, operator.add] lets parallel nodes APPEND without overwriting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73168" y="4059936"/>
            <a:ext cx="4114800" cy="585216"/>
          </a:xfrm>
          <a:prstGeom prst="rect">
            <a:avLst/>
          </a:prstGeom>
          <a:solidFill>
            <a:srgbClr val="1A2235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73168" y="4059936"/>
            <a:ext cx="45720" cy="58521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411480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across graph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64608" y="43708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grows as the graph runs — each node adds its contribution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Execution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LangGraph actually runs your graph — 5 phases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969264"/>
            <a:ext cx="8595360" cy="713232"/>
          </a:xfrm>
          <a:prstGeom prst="rect">
            <a:avLst/>
          </a:prstGeom>
          <a:solidFill>
            <a:srgbClr val="1A2235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9264"/>
            <a:ext cx="54864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2336" y="1115568"/>
            <a:ext cx="420624" cy="42062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" y="1115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0976" y="10607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Graph Definition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50976" y="13533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define: the state schema (TypedDict), Nodes (Python functions), Edges (which connects to which)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792224"/>
            <a:ext cx="8595360" cy="713232"/>
          </a:xfrm>
          <a:prstGeom prst="rect">
            <a:avLst/>
          </a:prstGeom>
          <a:solidFill>
            <a:srgbClr val="1A2235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792224"/>
            <a:ext cx="54864" cy="7132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" y="1938528"/>
            <a:ext cx="420624" cy="42062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402336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50976" y="18836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Compilation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50976" y="21762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.compile() on the StateGraph. LangGraph validates the structure, checks for missing edges, prepares the execution plan.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615184"/>
            <a:ext cx="8595360" cy="713232"/>
          </a:xfrm>
          <a:prstGeom prst="rect">
            <a:avLst/>
          </a:prstGeom>
          <a:solidFill>
            <a:srgbClr val="1A2235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615184"/>
            <a:ext cx="54864" cy="7132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2336" y="2761488"/>
            <a:ext cx="420624" cy="42062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" y="2761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50976" y="27066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Invocation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50976" y="2999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 .invoke(initial_state). LangGraph sends the initial state as a message to the entry node(s).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438144"/>
            <a:ext cx="8595360" cy="713232"/>
          </a:xfrm>
          <a:prstGeom prst="rect">
            <a:avLst/>
          </a:prstGeom>
          <a:solidFill>
            <a:srgbClr val="1A2235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438144"/>
            <a:ext cx="54864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2336" y="3584448"/>
            <a:ext cx="420624" cy="42062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402336" y="3584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50976" y="35295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Super-Steps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50976" y="38221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proceeds in rounds. In each super-step, all nodes that received a message run simultaneously. Their outputs become messages to the next nodes.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261104"/>
            <a:ext cx="8595360" cy="713232"/>
          </a:xfrm>
          <a:prstGeom prst="rect">
            <a:avLst/>
          </a:prstGeom>
          <a:solidFill>
            <a:srgbClr val="1A2235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261104"/>
            <a:ext cx="54864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2336" y="4407408"/>
            <a:ext cx="420624" cy="42062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2" name="Text 30"/>
          <p:cNvSpPr/>
          <p:nvPr/>
        </p:nvSpPr>
        <p:spPr>
          <a:xfrm>
            <a:off x="402336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50976" y="43525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Termination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50976" y="46451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finishes when it reaches an END node. The final state is returned to the caller as the result.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5084064"/>
            <a:ext cx="8595360" cy="219456"/>
          </a:xfrm>
          <a:prstGeom prst="rect">
            <a:avLst/>
          </a:prstGeom>
          <a:solidFill>
            <a:srgbClr val="060D1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5175504"/>
            <a:ext cx="8375904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= StateGraph(State)  →  add_node / add_edge  →  compiled = graph.compile()  →  result = compiled.invoke(initial_state)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#1 — Control Flow Complexity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workflows need: conditional branches, loops, and jumps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Control Flow Problems: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4297680" cy="914400"/>
          </a:xfrm>
          <a:prstGeom prst="rect">
            <a:avLst/>
          </a:prstGeom>
          <a:solidFill>
            <a:srgbClr val="1A2235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2336" y="1481328"/>
            <a:ext cx="475488" cy="47548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" y="1481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3533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Branching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64592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JD approved → post it. If not → regenerate. LangChain has no built-in support.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340864"/>
            <a:ext cx="4297680" cy="914400"/>
          </a:xfrm>
          <a:prstGeom prst="rect">
            <a:avLst/>
          </a:prstGeom>
          <a:solidFill>
            <a:srgbClr val="1A2235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02336" y="2560320"/>
            <a:ext cx="475488" cy="47548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" y="2560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24323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72491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monitoring applications until enough arrive. A while loop inside an agent.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419856"/>
            <a:ext cx="4297680" cy="914400"/>
          </a:xfrm>
          <a:prstGeom prst="rect">
            <a:avLst/>
          </a:prstGeom>
          <a:solidFill>
            <a:srgbClr val="1A2235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2336" y="3639312"/>
            <a:ext cx="475488" cy="475488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" y="3639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35112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80390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straight to a different node based on state, not the sequence order.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73168" y="9144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Solution — JD Approval Loop: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73168" y="1207008"/>
            <a:ext cx="4114800" cy="2596896"/>
          </a:xfrm>
          <a:prstGeom prst="rect">
            <a:avLst/>
          </a:prstGeom>
          <a:solidFill>
            <a:srgbClr val="060D1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2896" y="1298448"/>
            <a:ext cx="3895344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Nodes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graph.add_node('HiringRequest', hiring_request)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graph.add_node('CreateJD',     create_jd)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graph.add_node('CheckApproval',check_approval)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graph.add_node('PostJD',       post_jd)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Edges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graph.add_edge('HiringRequest', 'CreateJD')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graph.add_edge('CreateJD', 'CheckApproval')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Conditional edge — the key!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graph.add_conditional_edges(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'CheckApproval', approval_router,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'approved':     'PostJD',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'not_approved': 'CreateJD'  # Loop!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graph.add_edge('PostJD', END)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73168" y="3913632"/>
            <a:ext cx="4114800" cy="420624"/>
          </a:xfrm>
          <a:prstGeom prst="rect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01184" y="4005072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add_conditional_edges() is LangGraph's answer to all 3 control flow challenges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#2 — Handling State in Complex Workflows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workflows need a structured, stateful shared data object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LangChain uses a flat message list — not enough for complex multi-step workflows with many data fields.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2984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Solution — Complete JD State: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591056"/>
            <a:ext cx="4572000" cy="2724912"/>
          </a:xfrm>
          <a:prstGeom prst="rect">
            <a:avLst/>
          </a:prstGeom>
          <a:solidFill>
            <a:srgbClr val="060D1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82496"/>
            <a:ext cx="435254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=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'goal':             'Hire a backend software engineer',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'jd':               '',       # Job description text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'jd_approved':      False,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'jd_posted':        False,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'min_applicants':   5,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'num_applications': 0,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'shortlisted_candidates': {},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'interview_questions':    [],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'offer_status':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'sent':         False,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'accepted':     False,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'renegotiated': False,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'onboarding_status':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'completed':   False,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'start_date':  None,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'employee_id': None,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74920" y="1298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74920" y="1591056"/>
            <a:ext cx="3840480" cy="438912"/>
          </a:xfrm>
          <a:prstGeom prst="rect">
            <a:avLst/>
          </a:prstGeom>
          <a:solidFill>
            <a:srgbClr val="1A223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74920" y="1591056"/>
            <a:ext cx="45720" cy="4389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57216" y="16367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57216" y="182880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is 'stateful' — all nodes share this one object. No passing parameters between functions.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74920" y="2103120"/>
            <a:ext cx="3840480" cy="438912"/>
          </a:xfrm>
          <a:prstGeom prst="rect">
            <a:avLst/>
          </a:prstGeom>
          <a:solidFill>
            <a:srgbClr val="1A2235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74920" y="2103120"/>
            <a:ext cx="45720" cy="43891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57216" y="21488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57216" y="234086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can read any field at any time, and write to their designated field.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74920" y="2615184"/>
            <a:ext cx="3840480" cy="438912"/>
          </a:xfrm>
          <a:prstGeom prst="rect">
            <a:avLst/>
          </a:prstGeom>
          <a:solidFill>
            <a:srgbClr val="1A22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74920" y="2615184"/>
            <a:ext cx="4572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57216" y="26609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57216" y="28529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return partial updates — only the fields they changed, not the full state.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74920" y="3127248"/>
            <a:ext cx="3840480" cy="438912"/>
          </a:xfrm>
          <a:prstGeom prst="rect">
            <a:avLst/>
          </a:prstGeom>
          <a:solidFill>
            <a:srgbClr val="1A223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74920" y="3127248"/>
            <a:ext cx="45720" cy="4389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57216" y="31729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57216" y="33649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grows and changes as the graph progresses through its nodes.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74920" y="3639312"/>
            <a:ext cx="3840480" cy="438912"/>
          </a:xfrm>
          <a:prstGeom prst="rect">
            <a:avLst/>
          </a:prstGeom>
          <a:solidFill>
            <a:srgbClr val="1A2235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74920" y="3639312"/>
            <a:ext cx="45720" cy="43891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57216" y="3685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TypedDict: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57216" y="387705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with TypedDict for type safety, or Pydantic for full validation.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4443984"/>
            <a:ext cx="8595360" cy="274320"/>
          </a:xfrm>
          <a:prstGeom prst="rect">
            <a:avLst/>
          </a:prstGeom>
          <a:solidFill>
            <a:srgbClr val="A78BFA">
              <a:alpha val="12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2336" y="4535424"/>
            <a:ext cx="8339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state as the shared whiteboard. Every node reads and writes to it. This is how complex multi-step workflows track progress.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#3 — Event-Driven Execution  &amp;  Challenge #4 — Fault Tolerance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sequential chains to event-driven graphs with recovery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4206240" cy="3950208"/>
          </a:xfrm>
          <a:prstGeom prst="rect">
            <a:avLst/>
          </a:prstGeom>
          <a:solidFill>
            <a:srgbClr val="1A2235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87552"/>
            <a:ext cx="4206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097280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Challenge #3 — Event-Driven Execution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2336" y="1426464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LangChain runs as a short sequential chain — no ability to pause, wait for events, or resume.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2336" y="1883664"/>
            <a:ext cx="3950208" cy="548640"/>
          </a:xfrm>
          <a:prstGeom prst="rect">
            <a:avLst/>
          </a:prstGeom>
          <a:solidFill>
            <a:srgbClr val="111827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1938528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(LangChain)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3776" y="2157984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→ LLM → Prompt → LLM (stopping)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02336" y="2542032"/>
            <a:ext cx="3950208" cy="54864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2596896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(LangGraph)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3776" y="2816352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wait for events, resume on trigger, loop, pause for human input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02336" y="3273552"/>
            <a:ext cx="3950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gives every node an 'inbox'. The graph pauses a node until its message arrives, then resumes — enabling true event-driven workflows.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2336" y="3822192"/>
            <a:ext cx="3950208" cy="347472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913632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uses this: graph pauses at node, waits for human input, then resumes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987552"/>
            <a:ext cx="4206240" cy="3950208"/>
          </a:xfrm>
          <a:prstGeom prst="rect">
            <a:avLst/>
          </a:prstGeom>
          <a:solidFill>
            <a:srgbClr val="1A2235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987552"/>
            <a:ext cx="42062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1097280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Challenge #4 — Fault Tolerance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91456" y="1426464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Long-running agents fail mid-way (API down, timeout). LangChain has to restart from scratch.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91456" y="1883664"/>
            <a:ext cx="3950208" cy="548640"/>
          </a:xfrm>
          <a:prstGeom prst="rect">
            <a:avLst/>
          </a:prstGeom>
          <a:solidFill>
            <a:srgbClr val="111827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2896" y="1938528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82896" y="2157984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chain → fails → restart from the beginning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91456" y="2542032"/>
            <a:ext cx="3950208" cy="548640"/>
          </a:xfrm>
          <a:prstGeom prst="rect">
            <a:avLst/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82896" y="2596896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82896" y="2816352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logic → Checkpointer → resume from last saved state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91456" y="3273552"/>
            <a:ext cx="3950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Checkpointer = persistence layer. Saves state after every node. If a node fails, LangGraph retries it. At any time you can save and resume (star) the workflow from a checkpoint.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91456" y="3822192"/>
            <a:ext cx="3950208" cy="347472"/>
          </a:xfrm>
          <a:prstGeom prst="rect">
            <a:avLst/>
          </a:prstGeom>
          <a:solidFill>
            <a:srgbClr val="22C55E">
              <a:alpha val="12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3913632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execution + external checkpointer = enterprise-grade fault tolerance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#5 — Human in the Loop  &amp;  Challenge #6 — Nested Workflows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Pausing for humans and composing graphs inside graphs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4206240" cy="3950208"/>
          </a:xfrm>
          <a:prstGeom prst="rect">
            <a:avLst/>
          </a:prstGeom>
          <a:solidFill>
            <a:srgbClr val="1A2235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87552"/>
            <a:ext cx="42062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097280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Challenge #5 — Human in the Loop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2336" y="1426464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How do you pause an AI agent mid-execution and wait for human approval before continuing?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2336" y="1883664"/>
            <a:ext cx="603504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96596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05840" y="1975104"/>
            <a:ext cx="54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→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60704" y="1883664"/>
            <a:ext cx="603504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196596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B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664208" y="1975104"/>
            <a:ext cx="54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→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719072" y="1883664"/>
            <a:ext cx="603504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19072" y="196596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⏸ PAUSE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322576" y="1975104"/>
            <a:ext cx="54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→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377440" y="1883664"/>
            <a:ext cx="603504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196596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Input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980944" y="1975104"/>
            <a:ext cx="54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→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035808" y="1883664"/>
            <a:ext cx="603504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35808" y="196596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Resume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39312" y="1975104"/>
            <a:ext cx="54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→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94176" y="1883664"/>
            <a:ext cx="603504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94176" y="196596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02336" y="2450592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solution: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02336" y="2724912"/>
            <a:ext cx="3950208" cy="969264"/>
          </a:xfrm>
          <a:prstGeom prst="rect">
            <a:avLst/>
          </a:prstGeom>
          <a:solidFill>
            <a:srgbClr val="060D1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" y="2816352"/>
            <a:ext cx="37307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Interrupt the graph at a node: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graph.compile(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interrupt_before=['send_offer']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Resume after human approves: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 = {'configurable': {'thread_id':1}}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graph.invoke(Command(resume='yes'), thread)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02336" y="3767328"/>
            <a:ext cx="3950208" cy="402336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3858768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→ pause = LangGraph's stateful execution.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saves state, waits, and resumes exactly where it stopped.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987552"/>
            <a:ext cx="4206240" cy="3950208"/>
          </a:xfrm>
          <a:prstGeom prst="rect">
            <a:avLst/>
          </a:prstGeom>
          <a:solidFill>
            <a:srgbClr val="1A2235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987552"/>
            <a:ext cx="42062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91456" y="1097280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Challenge #6 — Nested Workflows (Subgraphs)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91456" y="1426464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Complex systems need modular components. How do you use one graph inside another?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91456" y="1883664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Subgraph = a graph used as a node inside a parent graph: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82896" y="2194560"/>
            <a:ext cx="3767328" cy="1389888"/>
          </a:xfrm>
          <a:prstGeom prst="rect">
            <a:avLst/>
          </a:prstGeom>
          <a:solidFill>
            <a:srgbClr val="111827"/>
          </a:solidFill>
          <a:ln w="12700">
            <a:solidFill>
              <a:srgbClr val="14B8A6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4919472" y="22311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Graph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065776" y="2450592"/>
            <a:ext cx="731520" cy="402336"/>
          </a:xfrm>
          <a:prstGeom prst="rect">
            <a:avLst/>
          </a:prstGeom>
          <a:solidFill>
            <a:srgbClr val="1A2235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065776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NodeA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797296" y="2642616"/>
            <a:ext cx="329184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80176" y="2560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</a:rPr>
              <a:t>▶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26480" y="2304288"/>
            <a:ext cx="1316736" cy="713232"/>
          </a:xfrm>
          <a:prstGeom prst="rect">
            <a:avLst/>
          </a:prstGeom>
          <a:solidFill>
            <a:srgbClr val="1A2235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2340864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Subgraph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126480" y="2596896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(inner graph)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443216" y="2642616"/>
            <a:ext cx="329184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26096" y="2560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</a:rPr>
              <a:t>▶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772400" y="2450592"/>
            <a:ext cx="731520" cy="402336"/>
          </a:xfrm>
          <a:prstGeom prst="rect">
            <a:avLst/>
          </a:prstGeom>
          <a:solidFill>
            <a:srgbClr val="1A2235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772400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NodeC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91456" y="3675888"/>
            <a:ext cx="3950208" cy="237744"/>
          </a:xfrm>
          <a:prstGeom prst="rect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19472" y="3767328"/>
            <a:ext cx="369417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Multi-agent: each agent = one subgraph. Reusability! 🔁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791456" y="3950208"/>
            <a:ext cx="3950208" cy="640080"/>
          </a:xfrm>
          <a:prstGeom prst="rect">
            <a:avLst/>
          </a:prstGeom>
          <a:solidFill>
            <a:srgbClr val="060D1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01184" y="4041648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a compiled subgraph as a node: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parent.add_node('hiring_agent',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hiring_graph.compile())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parent.add_node('onboarding',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onboarding_graph.compile())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#7 — Observability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easily can you monitor, debug, and understand your workflow at runtime?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420624"/>
          </a:xfrm>
          <a:prstGeom prst="rect">
            <a:avLst/>
          </a:prstGeom>
          <a:solidFill>
            <a:srgbClr val="22C55E">
              <a:alpha val="12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1005840"/>
            <a:ext cx="8339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refers to how easily you can monitor, debug, and understand what your workflow is doing at runtime.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481328"/>
            <a:ext cx="2798064" cy="1938528"/>
          </a:xfrm>
          <a:prstGeom prst="rect">
            <a:avLst/>
          </a:prstGeom>
          <a:solidFill>
            <a:srgbClr val="1A2235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81328"/>
            <a:ext cx="2798064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54480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👁️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02336" y="208483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2336" y="2432304"/>
            <a:ext cx="25420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which nodes are running, how long they take, what inputs they receive and what outputs they produce in real-time.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1481328"/>
            <a:ext cx="2798064" cy="1938528"/>
          </a:xfrm>
          <a:prstGeom prst="rect">
            <a:avLst/>
          </a:prstGeom>
          <a:solidFill>
            <a:srgbClr val="1A2235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481328"/>
            <a:ext cx="2798064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554480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🐛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374136" y="208483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74136" y="2432304"/>
            <a:ext cx="25420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state at any point in execution. Identify exactly which node caused an error and replay from that checkpoint.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1481328"/>
            <a:ext cx="2798064" cy="1938528"/>
          </a:xfrm>
          <a:prstGeom prst="rect">
            <a:avLst/>
          </a:prstGeom>
          <a:solidFill>
            <a:srgbClr val="1A2235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481328"/>
            <a:ext cx="2798064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554480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345936" y="208483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45936" y="2432304"/>
            <a:ext cx="25420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full execution graph visually. Understand why a decision was made and which branch was taken at each conditional.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" y="35478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— The Observability Solution: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3895344"/>
            <a:ext cx="4206240" cy="640080"/>
          </a:xfrm>
          <a:prstGeom prst="rect">
            <a:avLst/>
          </a:prstGeom>
          <a:solidFill>
            <a:srgbClr val="1A2235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02336" y="3950208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→ LangSmith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02336" y="420624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uses 'glue code' (while loops) for loops — hard to trace through LangSmith timeline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3895344"/>
            <a:ext cx="4206240" cy="640080"/>
          </a:xfrm>
          <a:prstGeom prst="rect">
            <a:avLst/>
          </a:prstGeom>
          <a:solidFill>
            <a:srgbClr val="1A2235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74336" y="3950208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→ LangSmith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974336" y="420624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natively integrates with LangSmith — each node appears as a named step in the trace timeline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626864"/>
            <a:ext cx="8595360" cy="310896"/>
          </a:xfrm>
          <a:prstGeom prst="rect">
            <a:avLst/>
          </a:prstGeom>
          <a:solidFill>
            <a:srgbClr val="22C55E">
              <a:alpha val="12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" y="4718304"/>
            <a:ext cx="8339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LangSmith traces: LangChain path → LangSmith  |  LangGraph path → LangSmith. Both send to LangSmith, but LangGraph's structure makes traces far more readable.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vs LangGraph — When to Use Which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not competitors — LangGraph is built on top of LangChain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402336"/>
          </a:xfrm>
          <a:prstGeom prst="rect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1005840"/>
            <a:ext cx="8339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= an orchestration framework for stateful, multi-step, event-driven workflows using LLMs. Think of it as a flowchart engine for LLMs.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408176"/>
            <a:ext cx="2286000" cy="365760"/>
          </a:xfrm>
          <a:prstGeom prst="rect">
            <a:avLst/>
          </a:prstGeom>
          <a:solidFill>
            <a:srgbClr val="0A0F1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1408176"/>
            <a:ext cx="3108960" cy="365760"/>
          </a:xfrm>
          <a:prstGeom prst="rect">
            <a:avLst/>
          </a:prstGeom>
          <a:solidFill>
            <a:srgbClr val="0A0F1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0" y="1408176"/>
            <a:ext cx="3200400" cy="365760"/>
          </a:xfrm>
          <a:prstGeom prst="rect">
            <a:avLst/>
          </a:prstGeom>
          <a:solidFill>
            <a:srgbClr val="0A0F1A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48132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33472" y="14813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42432" y="14813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810512"/>
            <a:ext cx="2286000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1810512"/>
            <a:ext cx="3108960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0" y="1810512"/>
            <a:ext cx="3200400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88366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33472" y="188366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linear workflows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42432" y="188366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Complex, non-linear workflows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212848"/>
            <a:ext cx="2286000" cy="365760"/>
          </a:xfrm>
          <a:prstGeom prst="rect">
            <a:avLst/>
          </a:prstGeom>
          <a:solidFill>
            <a:srgbClr val="1A22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0" y="2212848"/>
            <a:ext cx="3108960" cy="365760"/>
          </a:xfrm>
          <a:prstGeom prst="rect">
            <a:avLst/>
          </a:prstGeom>
          <a:solidFill>
            <a:srgbClr val="1A22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0" y="2212848"/>
            <a:ext cx="3200400" cy="365760"/>
          </a:xfrm>
          <a:prstGeom prst="rect">
            <a:avLst/>
          </a:prstGeom>
          <a:solidFill>
            <a:srgbClr val="0F1C2C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2860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33472" y="22860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chains only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42432" y="22860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branches, loops, jumps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615184"/>
            <a:ext cx="2286000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0" y="2615184"/>
            <a:ext cx="3108960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0" y="2615184"/>
            <a:ext cx="3200400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268833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33472" y="268833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message list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42432" y="268833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TypedDict / Pydantic model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3017520"/>
            <a:ext cx="2286000" cy="365760"/>
          </a:xfrm>
          <a:prstGeom prst="rect">
            <a:avLst/>
          </a:prstGeom>
          <a:solidFill>
            <a:srgbClr val="1A22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0" y="3017520"/>
            <a:ext cx="3108960" cy="365760"/>
          </a:xfrm>
          <a:prstGeom prst="rect">
            <a:avLst/>
          </a:prstGeom>
          <a:solidFill>
            <a:srgbClr val="1A22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69280" y="3017520"/>
            <a:ext cx="3200400" cy="365760"/>
          </a:xfrm>
          <a:prstGeom prst="rect">
            <a:avLst/>
          </a:prstGeom>
          <a:solidFill>
            <a:srgbClr val="0F1C2C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309067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633472" y="30906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support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742432" y="30906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conditional edges that loop back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419856"/>
            <a:ext cx="2286000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60320" y="3419856"/>
            <a:ext cx="3108960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69280" y="3419856"/>
            <a:ext cx="3200400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349300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Human-in-Loop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633472" y="34930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supported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742432" y="349300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+ resume at any node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" y="3822192"/>
            <a:ext cx="2286000" cy="365760"/>
          </a:xfrm>
          <a:prstGeom prst="rect">
            <a:avLst/>
          </a:prstGeom>
          <a:solidFill>
            <a:srgbClr val="1A22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0320" y="3822192"/>
            <a:ext cx="3108960" cy="365760"/>
          </a:xfrm>
          <a:prstGeom prst="rect">
            <a:avLst/>
          </a:prstGeom>
          <a:solidFill>
            <a:srgbClr val="1A22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669280" y="3822192"/>
            <a:ext cx="3200400" cy="365760"/>
          </a:xfrm>
          <a:prstGeom prst="rect">
            <a:avLst/>
          </a:prstGeom>
          <a:solidFill>
            <a:srgbClr val="0F1C2C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" y="38953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Recovery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633472" y="389534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from scratch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742432" y="389534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Checkpointer saves &amp; resumes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74320" y="4224528"/>
            <a:ext cx="2286000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560320" y="4224528"/>
            <a:ext cx="3108960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69280" y="4224528"/>
            <a:ext cx="3200400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7472" y="42976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633472" y="429768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trace glue code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742432" y="429768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nodes appear in LangSmith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74320" y="4626864"/>
            <a:ext cx="2286000" cy="365760"/>
          </a:xfrm>
          <a:prstGeom prst="rect">
            <a:avLst/>
          </a:prstGeom>
          <a:solidFill>
            <a:srgbClr val="1A22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560320" y="4626864"/>
            <a:ext cx="3108960" cy="365760"/>
          </a:xfrm>
          <a:prstGeom prst="rect">
            <a:avLst/>
          </a:prstGeom>
          <a:solidFill>
            <a:srgbClr val="1A22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669280" y="4626864"/>
            <a:ext cx="3200400" cy="365760"/>
          </a:xfrm>
          <a:prstGeom prst="rect">
            <a:avLst/>
          </a:prstGeom>
          <a:solidFill>
            <a:srgbClr val="0F1C2C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7472" y="470001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2633472" y="47000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coordination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742432" y="470001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Subgraphs + orchestrator-workers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74320" y="5029200"/>
            <a:ext cx="8595360" cy="256032"/>
          </a:xfrm>
          <a:prstGeom prst="rect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02336" y="5120640"/>
            <a:ext cx="83393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LangGraph is built on top of LangChain — you still use ChatOpenAI, PromptTemplate, Retrievers, Tools, etc. LangGraph adds workflow orchestration.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Example — Essay Evaluator with LangGraph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multi-node graph with parallelization, routing and retry loop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463040" cy="640080"/>
          </a:xfrm>
          <a:prstGeom prst="rect">
            <a:avLst/>
          </a:prstGeom>
          <a:solidFill>
            <a:srgbClr val="1A2235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3385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2084832"/>
            <a:ext cx="1463040" cy="640080"/>
          </a:xfrm>
          <a:prstGeom prst="rect">
            <a:avLst/>
          </a:prstGeom>
          <a:solidFill>
            <a:srgbClr val="1A2235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12140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40864" y="1481328"/>
            <a:ext cx="1554480" cy="548640"/>
          </a:xfrm>
          <a:prstGeom prst="rect">
            <a:avLst/>
          </a:prstGeom>
          <a:solidFill>
            <a:srgbClr val="1A2235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40864" y="151790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of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40864" y="2139696"/>
            <a:ext cx="1554480" cy="548640"/>
          </a:xfrm>
          <a:prstGeom prst="rect">
            <a:avLst/>
          </a:prstGeom>
          <a:solidFill>
            <a:srgbClr val="1A2235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40864" y="217627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of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40864" y="2798064"/>
            <a:ext cx="1554480" cy="548640"/>
          </a:xfrm>
          <a:prstGeom prst="rect">
            <a:avLst/>
          </a:prstGeom>
          <a:solidFill>
            <a:srgbClr val="1A2235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340864" y="283464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15968" y="2139696"/>
            <a:ext cx="1554480" cy="548640"/>
          </a:xfrm>
          <a:prstGeom prst="rect">
            <a:avLst/>
          </a:prstGeom>
          <a:solidFill>
            <a:srgbClr val="1A2235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15968" y="217627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72784" y="1645920"/>
            <a:ext cx="1463040" cy="548640"/>
          </a:xfrm>
          <a:prstGeom prst="rect">
            <a:avLst/>
          </a:prstGeom>
          <a:solidFill>
            <a:srgbClr val="1A2235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72784" y="168249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Success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72784" y="2578608"/>
            <a:ext cx="1463040" cy="548640"/>
          </a:xfrm>
          <a:prstGeom prst="rect">
            <a:avLst/>
          </a:prstGeom>
          <a:solidFill>
            <a:srgbClr val="1A2235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72784" y="261518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Fail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72784" y="3383280"/>
            <a:ext cx="1463040" cy="548640"/>
          </a:xfrm>
          <a:prstGeom prst="rect">
            <a:avLst/>
          </a:prstGeom>
          <a:solidFill>
            <a:srgbClr val="1A2235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72784" y="341985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Retake?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78992" y="1737360"/>
            <a:ext cx="36576" cy="2377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" y="193852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</a:rPr>
              <a:t>▼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17904" y="22128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↘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828800" y="1700784"/>
            <a:ext cx="512064" cy="36576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31136" y="1627632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→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828800" y="2359152"/>
            <a:ext cx="512064" cy="36576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31136" y="2286000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→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828800" y="3017520"/>
            <a:ext cx="512064" cy="36576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31136" y="294436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→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895344" y="1700784"/>
            <a:ext cx="420624" cy="36576"/>
          </a:xfrm>
          <a:prstGeom prst="rect">
            <a:avLst/>
          </a:prstGeom>
          <a:solidFill>
            <a:srgbClr val="14B8A6">
              <a:alpha val="5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95344" y="2359152"/>
            <a:ext cx="420624" cy="36576"/>
          </a:xfrm>
          <a:prstGeom prst="rect">
            <a:avLst/>
          </a:prstGeom>
          <a:solidFill>
            <a:srgbClr val="14B8A6">
              <a:alpha val="5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95344" y="3017520"/>
            <a:ext cx="420624" cy="36576"/>
          </a:xfrm>
          <a:prstGeom prst="rect">
            <a:avLst/>
          </a:prstGeom>
          <a:solidFill>
            <a:srgbClr val="14B8A6">
              <a:alpha val="5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0" y="23591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→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870448" y="2002536"/>
            <a:ext cx="329184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53328" y="19202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▶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870448" y="2926080"/>
            <a:ext cx="329184" cy="3657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53328" y="2843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7171"/>
                </a:solidFill>
              </a:rPr>
              <a:t>▶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986016" y="3127248"/>
            <a:ext cx="36576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76288" y="332841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▼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735824" y="35204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766560" y="396849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↓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413308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loop back to Write Essay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663440" y="98755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Nodes: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663440" y="12618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GenerateTopic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663440" y="16459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WriteEssay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663440" y="202996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EvaluateDepth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663440" y="241401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EvaluateLanguage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663440" y="279806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EvaluateClarity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663440" y="318211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FinalEvaluation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663440" y="356616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GiveFeedback / 8. ShowSuccess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663440" y="395020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LOOP: CollectRevision → EvaluateEssay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14B8A6">
              <a:alpha val="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4572000" cy="4572000"/>
          </a:xfrm>
          <a:prstGeom prst="ellipse">
            <a:avLst/>
          </a:prstGeom>
          <a:solidFill>
            <a:srgbClr val="A78BFA">
              <a:alpha val="6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7680960" cy="658368"/>
          </a:xfrm>
          <a:prstGeom prst="rect">
            <a:avLst/>
          </a:prstGeom>
          <a:solidFill>
            <a:srgbClr val="1A2235">
              <a:alpha val="85000"/>
            </a:srgbClr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097280"/>
            <a:ext cx="54864" cy="6583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170432"/>
            <a:ext cx="493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26464" y="1243584"/>
            <a:ext cx="6876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has 5 components: Brain (LLM) + Orchestrator + Tools + Memory + Supervisor — together they enable autonomous AI.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1865376"/>
            <a:ext cx="7680960" cy="658368"/>
          </a:xfrm>
          <a:prstGeom prst="rect">
            <a:avLst/>
          </a:prstGeom>
          <a:solidFill>
            <a:srgbClr val="1A2235">
              <a:alpha val="85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865376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938528"/>
            <a:ext cx="493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26464" y="2011680"/>
            <a:ext cx="6876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Workflows: 4 patterns — Prompt Chaining, Routing, Parallelization, Evaluator-Optimizer. LangGraph implements all of them.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2633472"/>
            <a:ext cx="7680960" cy="658368"/>
          </a:xfrm>
          <a:prstGeom prst="rect">
            <a:avLst/>
          </a:prstGeom>
          <a:solidFill>
            <a:srgbClr val="1A2235">
              <a:alpha val="85000"/>
            </a:srgbClr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2633472"/>
            <a:ext cx="54864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2706624"/>
            <a:ext cx="493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⬤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26464" y="2779776"/>
            <a:ext cx="6876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core: Nodes (functions) + Edges (connections) + State (shared TypedDict) + Reducers (merge strategy).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" y="3401568"/>
            <a:ext cx="7680960" cy="658368"/>
          </a:xfrm>
          <a:prstGeom prst="rect">
            <a:avLst/>
          </a:prstGeom>
          <a:solidFill>
            <a:srgbClr val="1A2235">
              <a:alpha val="85000"/>
            </a:srgbClr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401568"/>
            <a:ext cx="54864" cy="6583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3474720"/>
            <a:ext cx="493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426464" y="3547872"/>
            <a:ext cx="6876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Challenges: Control Flow, State, Event-Driven, Fault Tolerance, Human-in-Loop, Nested Workflows, Observability — LangGraph solves all.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1520" y="4169664"/>
            <a:ext cx="7680960" cy="658368"/>
          </a:xfrm>
          <a:prstGeom prst="rect">
            <a:avLst/>
          </a:prstGeom>
          <a:solidFill>
            <a:srgbClr val="1A2235">
              <a:alpha val="85000"/>
            </a:srgbClr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4169664"/>
            <a:ext cx="54864" cy="658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4242816"/>
            <a:ext cx="493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426464" y="4315968"/>
            <a:ext cx="6876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is built ON TOP of LangChain — not a replacement. It adds orchestration while reusing LLMs, tools, and prompts from LangChain.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235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91032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 ·  Agentic AI Course Notes  ·  CampusX  ·  03–08 July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 — Agentic AI Complete Guide</dc:title>
  <dc:subject>PptxGenJS Presentation</dc:subject>
  <dc:creator>PptxGenJS</dc:creator>
  <cp:lastModifiedBy>PptxGenJS</cp:lastModifiedBy>
  <cp:revision>1</cp:revision>
  <dcterms:created xsi:type="dcterms:W3CDTF">2026-03-15T23:53:31Z</dcterms:created>
  <dcterms:modified xsi:type="dcterms:W3CDTF">2026-03-15T23:53:31Z</dcterms:modified>
</cp:coreProperties>
</file>